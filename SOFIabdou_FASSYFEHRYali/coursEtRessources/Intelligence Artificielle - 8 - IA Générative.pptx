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2"/>
  </p:notesMasterIdLst>
  <p:handoutMasterIdLst>
    <p:handoutMasterId r:id="rId23"/>
  </p:handoutMasterIdLst>
  <p:sldIdLst>
    <p:sldId id="271" r:id="rId2"/>
    <p:sldId id="557" r:id="rId3"/>
    <p:sldId id="574" r:id="rId4"/>
    <p:sldId id="575" r:id="rId5"/>
    <p:sldId id="576" r:id="rId6"/>
    <p:sldId id="577" r:id="rId7"/>
    <p:sldId id="578" r:id="rId8"/>
    <p:sldId id="579" r:id="rId9"/>
    <p:sldId id="580" r:id="rId10"/>
    <p:sldId id="581" r:id="rId11"/>
    <p:sldId id="585" r:id="rId12"/>
    <p:sldId id="582" r:id="rId13"/>
    <p:sldId id="584" r:id="rId14"/>
    <p:sldId id="583" r:id="rId15"/>
    <p:sldId id="586" r:id="rId16"/>
    <p:sldId id="587" r:id="rId17"/>
    <p:sldId id="588" r:id="rId18"/>
    <p:sldId id="589" r:id="rId19"/>
    <p:sldId id="573" r:id="rId20"/>
    <p:sldId id="294" r:id="rId21"/>
  </p:sldIdLst>
  <p:sldSz cx="9144000" cy="6858000" type="screen4x3"/>
  <p:notesSz cx="6858000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3A86"/>
    <a:srgbClr val="FF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8" autoAdjust="0"/>
    <p:restoredTop sz="86435" autoAdjust="0"/>
  </p:normalViewPr>
  <p:slideViewPr>
    <p:cSldViewPr>
      <p:cViewPr varScale="1">
        <p:scale>
          <a:sx n="59" d="100"/>
          <a:sy n="59" d="100"/>
        </p:scale>
        <p:origin x="148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59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71DB1-D8D3-445E-9A62-BE0A5865C6FB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71800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9378824"/>
            <a:ext cx="2971800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3C267-0122-43D1-B407-EAA818737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71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B23438C5-24B8-4989-83F7-2EB645DA4A4C}" type="datetimeFigureOut">
              <a:rPr lang="en-US"/>
              <a:pPr>
                <a:defRPr/>
              </a:pPr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2025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690269"/>
            <a:ext cx="548640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378824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2975085-D210-42E3-9DA5-1BD091B514E5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56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D1EF0F7-EC37-4755-9A60-1FE41815C606}" type="slidenum">
              <a:rPr lang="en-US"/>
              <a:pPr eaLnBrk="1" hangingPunct="1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23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01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0AEFBDC-A3CB-40D5-AD96-4A1D9C4B329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4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26BDF-2056-494C-B9F5-D80B600916BD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3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4CDA650-C733-4B3F-84C7-0A41941D1F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88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DF9D0-F2CF-434D-931A-F58F3DF9AE56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8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0C87601F-A0CC-4FF1-A9FB-2E121684AD2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08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D5AAD-D846-4522-8294-21FF8733AF3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1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ABBAE50-AFCE-44E0-A18B-9FA68072FF45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99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80ECC4E-4E64-464C-B031-3B7895E46F3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384500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1A3C6-8353-4FA5-B86E-DF44646D08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244818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104DD-729A-48C7-88DB-9F2EAD288CD0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09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FA56E-A205-4820-980D-6A952AF7E0E1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2763509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9F51C7E-CBF5-4B89-ABC5-E9F3581DB76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f-ai/ComfyUI-IF_Trellis" TargetMode="External"/><Relationship Id="rId2" Type="http://schemas.openxmlformats.org/officeDocument/2006/relationships/hyperlink" Target="https://github.com/BradyFU/Awesome-Multimodal-Large-Language-Models/tree/Benchmarks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hyperlink" Target="https://huggingface.co/collections/open-llm-leaderboard/the-big-benchmarks-collection-64faca6335a7fc7d4ffe974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jp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jpe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jsboige@myia.or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629400" cy="685800"/>
          </a:xfrm>
        </p:spPr>
        <p:txBody>
          <a:bodyPr>
            <a:normAutofit fontScale="77500" lnSpcReduction="2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dirty="0"/>
              <a:t>Intelligence Artificielle – VIII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fr-FR" dirty="0"/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fr-FR" dirty="0"/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5CFD81-0950-49DD-AA2C-96CCB76D865D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13317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274763"/>
          </a:xfrm>
        </p:spPr>
        <p:txBody>
          <a:bodyPr/>
          <a:lstStyle/>
          <a:p>
            <a:r>
              <a:rPr lang="fr-FR" b="1" dirty="0"/>
              <a:t>Intelligence Artificielle Générative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B52D60-A6CB-DAFA-5F86-28B710D3D951}"/>
              </a:ext>
            </a:extLst>
          </p:cNvPr>
          <p:cNvSpPr txBox="1"/>
          <p:nvPr/>
        </p:nvSpPr>
        <p:spPr>
          <a:xfrm>
            <a:off x="1143000" y="3429000"/>
            <a:ext cx="6781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sz="2200" dirty="0">
                <a:solidFill>
                  <a:schemeClr val="tx2"/>
                </a:solidFill>
                <a:latin typeface="+mn-lt"/>
              </a:rPr>
              <a:t>Panorama, enjeux et pratiques de l’IA générative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fr-FR" sz="2200" dirty="0">
              <a:solidFill>
                <a:schemeClr val="tx2"/>
              </a:solidFill>
              <a:latin typeface="+mn-lt"/>
            </a:endParaRP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sz="2200" dirty="0">
                <a:solidFill>
                  <a:schemeClr val="tx2"/>
                </a:solidFill>
                <a:latin typeface="+mn-lt"/>
              </a:rPr>
              <a:t>Découvrir les bases et les grands principes de l’IA générative</a:t>
            </a: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sz="2200" dirty="0">
                <a:solidFill>
                  <a:schemeClr val="tx2"/>
                </a:solidFill>
                <a:latin typeface="+mn-lt"/>
              </a:rPr>
              <a:t>Comprendre les différents usages applicatifs (texte, image, audio…)</a:t>
            </a: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sz="2200" dirty="0">
                <a:solidFill>
                  <a:schemeClr val="tx2"/>
                </a:solidFill>
                <a:latin typeface="+mn-lt"/>
              </a:rPr>
              <a:t>Identifier les limites et les enjeux éthiques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Plan du cours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0B7BF-8379-44F7-AF5B-6228F8D518DA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Résolution de problèmes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Bases de connaissances et logique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Incertitude et modèles probabilistes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Apprentissage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Traitement du langage naturel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Elargissements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 IA Générative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24380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F409FA-60CA-7971-6EAA-253BF191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à l’IA Générative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E92131-C89B-38E0-193F-367043286C2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Qu’est-ce que l’IA générative :</a:t>
            </a:r>
          </a:p>
          <a:p>
            <a:pPr lvl="1"/>
            <a:r>
              <a:rPr lang="fr-FR" dirty="0"/>
              <a:t>Création de textes, images, audio, vidéo à partir de modèles probabilistes en réponse à des prompts (+ d’autres modalités)</a:t>
            </a:r>
          </a:p>
          <a:p>
            <a:pPr lvl="1"/>
            <a:r>
              <a:rPr lang="fr-FR" dirty="0"/>
              <a:t>Exploitation d’algorithmes avancés d’apprentissage profond entrainés par des  jeux de données massifs.</a:t>
            </a:r>
          </a:p>
          <a:p>
            <a:r>
              <a:rPr lang="fr-FR" dirty="0"/>
              <a:t>Exemples:</a:t>
            </a:r>
          </a:p>
          <a:p>
            <a:pPr lvl="1"/>
            <a:r>
              <a:rPr lang="fr-FR" dirty="0" err="1"/>
              <a:t>ChatGPT</a:t>
            </a:r>
            <a:r>
              <a:rPr lang="fr-FR" dirty="0"/>
              <a:t> (texte)</a:t>
            </a:r>
          </a:p>
          <a:p>
            <a:pPr lvl="1"/>
            <a:r>
              <a:rPr lang="fr-FR" dirty="0"/>
              <a:t>Stable Diffusion / Flux (images)</a:t>
            </a:r>
          </a:p>
          <a:p>
            <a:pPr lvl="1"/>
            <a:r>
              <a:rPr lang="fr-FR" dirty="0" err="1"/>
              <a:t>Hunyuan</a:t>
            </a:r>
            <a:r>
              <a:rPr lang="fr-FR" dirty="0"/>
              <a:t> (vidéo)</a:t>
            </a:r>
          </a:p>
          <a:p>
            <a:pPr lvl="1"/>
            <a:r>
              <a:rPr lang="fr-FR" dirty="0" err="1"/>
              <a:t>Whisper</a:t>
            </a:r>
            <a:r>
              <a:rPr lang="fr-FR" dirty="0"/>
              <a:t> (audio/speech-to-</a:t>
            </a:r>
            <a:r>
              <a:rPr lang="fr-FR" dirty="0" err="1"/>
              <a:t>text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Audiocraft</a:t>
            </a:r>
            <a:r>
              <a:rPr lang="fr-FR" dirty="0"/>
              <a:t> (musique)</a:t>
            </a:r>
          </a:p>
          <a:p>
            <a:pPr lvl="1"/>
            <a:r>
              <a:rPr lang="fr-FR" dirty="0" err="1"/>
              <a:t>Github</a:t>
            </a:r>
            <a:r>
              <a:rPr lang="fr-FR" dirty="0"/>
              <a:t> </a:t>
            </a:r>
            <a:r>
              <a:rPr lang="fr-FR" dirty="0" err="1"/>
              <a:t>Copilot</a:t>
            </a:r>
            <a:r>
              <a:rPr lang="fr-FR" dirty="0"/>
              <a:t> (code)</a:t>
            </a:r>
          </a:p>
          <a:p>
            <a:pPr lvl="1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AB79F8-3717-B977-7796-4766D449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6CDD7B-E90D-B0BC-BA8C-157CF1DB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8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C7D0A-5229-5E9E-5DEB-4D03B989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générative: Une révolution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3432F5-A4F7-577B-4282-37CFC36F7E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7775448" cy="4572000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Adoption rapide, impact massif</a:t>
            </a:r>
          </a:p>
          <a:p>
            <a:pPr lvl="1"/>
            <a:r>
              <a:rPr lang="fr-FR" dirty="0"/>
              <a:t>2017 : « Attention </a:t>
            </a:r>
            <a:r>
              <a:rPr lang="fr-FR" dirty="0" err="1"/>
              <a:t>is</a:t>
            </a:r>
            <a:r>
              <a:rPr lang="fr-FR" dirty="0"/>
              <a:t> All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 »</a:t>
            </a:r>
          </a:p>
          <a:p>
            <a:pPr lvl="2"/>
            <a:r>
              <a:rPr lang="fr-FR" dirty="0" err="1"/>
              <a:t>Scaling</a:t>
            </a:r>
            <a:r>
              <a:rPr lang="fr-FR" dirty="0"/>
              <a:t> Laws: GPT 1 (117m), GPT 2 (1,5B), GPT 3 (175B), GPT 4 (1000G)</a:t>
            </a:r>
          </a:p>
          <a:p>
            <a:pPr lvl="1"/>
            <a:r>
              <a:rPr lang="fr-FR" dirty="0" err="1"/>
              <a:t>ChatGPT</a:t>
            </a:r>
            <a:r>
              <a:rPr lang="fr-FR" dirty="0"/>
              <a:t> : 1 million d’utilisateurs en 5 jours, 100M en 2 mois.</a:t>
            </a:r>
          </a:p>
          <a:p>
            <a:pPr lvl="2"/>
            <a:r>
              <a:rPr lang="fr-FR" dirty="0"/>
              <a:t>Impact sur le marketing, la rédaction et l’assistance client.</a:t>
            </a:r>
          </a:p>
          <a:p>
            <a:pPr lvl="1"/>
            <a:r>
              <a:rPr lang="fr-FR" dirty="0"/>
              <a:t>Défis : </a:t>
            </a:r>
          </a:p>
          <a:p>
            <a:pPr lvl="2"/>
            <a:r>
              <a:rPr lang="fr-FR" dirty="0"/>
              <a:t>Coût d’entraînement, biais des modèles, complexité des prompts, intervention/interprétation humaine nécessaire.</a:t>
            </a:r>
          </a:p>
          <a:p>
            <a:r>
              <a:rPr lang="fr-FR" dirty="0"/>
              <a:t>Approche multidisciplinaire</a:t>
            </a:r>
          </a:p>
          <a:p>
            <a:pPr lvl="1"/>
            <a:r>
              <a:rPr lang="fr-FR" dirty="0"/>
              <a:t>Apprentissage automatique, traitement du langage naturel, vision par ordinateur.</a:t>
            </a:r>
          </a:p>
          <a:p>
            <a:pPr lvl="1"/>
            <a:r>
              <a:rPr lang="fr-FR" dirty="0"/>
              <a:t>Utilisation conjointe des </a:t>
            </a:r>
            <a:r>
              <a:rPr lang="fr-FR" dirty="0" err="1"/>
              <a:t>embeddings</a:t>
            </a:r>
            <a:r>
              <a:rPr lang="fr-FR" dirty="0"/>
              <a:t> et des mécanismes d’attention.</a:t>
            </a:r>
          </a:p>
          <a:p>
            <a:r>
              <a:rPr lang="fr-FR" dirty="0"/>
              <a:t>Systèmes ISPO</a:t>
            </a:r>
          </a:p>
          <a:p>
            <a:pPr lvl="1"/>
            <a:r>
              <a:rPr lang="fr-FR" dirty="0"/>
              <a:t>Input, Storage, Process, Output</a:t>
            </a:r>
          </a:p>
          <a:p>
            <a:pPr lvl="1"/>
            <a:r>
              <a:rPr lang="fr-FR" dirty="0"/>
              <a:t>Caractéristiques:</a:t>
            </a:r>
          </a:p>
          <a:p>
            <a:pPr lvl="2"/>
            <a:r>
              <a:rPr lang="fr-FR" dirty="0"/>
              <a:t>Vitesse, précision, régularité, </a:t>
            </a:r>
          </a:p>
          <a:p>
            <a:pPr lvl="2"/>
            <a:r>
              <a:rPr lang="fr-FR" dirty="0"/>
              <a:t>polyvalence, fiabilité, mémoire, programmable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0C6CBA-1BE1-C100-E767-499F65AA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DE0075-3F4F-6A12-F5F0-7ACF4BDC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Image 6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175BE903-8B3B-8547-38BC-78206BD25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658507"/>
            <a:ext cx="2624430" cy="159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9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92CDA6-F295-CF3A-36EA-A4469B35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données : Fondement des modèles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D8BAAC-C53A-BB2A-9447-698C6F2258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468438"/>
            <a:ext cx="8503920" cy="5008563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Importance des données en IA générative</a:t>
            </a:r>
          </a:p>
          <a:p>
            <a:pPr lvl="1"/>
            <a:r>
              <a:rPr lang="fr-FR" dirty="0"/>
              <a:t>Qualité et représentativité des données.</a:t>
            </a:r>
          </a:p>
          <a:p>
            <a:pPr lvl="2"/>
            <a:r>
              <a:rPr lang="fr-FR" dirty="0"/>
              <a:t>"Garbage in, Garbage out"</a:t>
            </a:r>
          </a:p>
          <a:p>
            <a:pPr lvl="1"/>
            <a:r>
              <a:rPr lang="fr-FR" dirty="0"/>
              <a:t>Biais possibles : genre, culture, contexte géographique.</a:t>
            </a:r>
          </a:p>
          <a:p>
            <a:pPr lvl="2"/>
            <a:r>
              <a:rPr lang="fr-FR" dirty="0"/>
              <a:t>Risque d’hallucination, nécessite pré-traitement, audit</a:t>
            </a:r>
          </a:p>
          <a:p>
            <a:pPr lvl="1"/>
            <a:r>
              <a:rPr lang="fr-FR" dirty="0"/>
              <a:t>Pipeline</a:t>
            </a:r>
          </a:p>
          <a:p>
            <a:pPr lvl="2"/>
            <a:r>
              <a:rPr lang="fr-FR" dirty="0"/>
              <a:t>Acquisition → Nettoyage → Préparation → Annotation</a:t>
            </a:r>
          </a:p>
          <a:p>
            <a:pPr lvl="1"/>
            <a:r>
              <a:rPr lang="fr-FR" dirty="0"/>
              <a:t>Données synthétiques : Alternative pour </a:t>
            </a:r>
          </a:p>
          <a:p>
            <a:pPr lvl="2"/>
            <a:r>
              <a:rPr lang="fr-FR" dirty="0"/>
              <a:t>Créer des données nouvelles en masse (saturation des données humaines de qualité)</a:t>
            </a:r>
          </a:p>
          <a:p>
            <a:pPr lvl="2"/>
            <a:r>
              <a:rPr lang="fr-FR" dirty="0"/>
              <a:t>protéger la confidentialité.</a:t>
            </a:r>
          </a:p>
          <a:p>
            <a:pPr lvl="2"/>
            <a:r>
              <a:rPr lang="fr-FR" dirty="0"/>
              <a:t>2025: Model Collapse</a:t>
            </a:r>
          </a:p>
          <a:p>
            <a:r>
              <a:rPr lang="fr-FR" dirty="0"/>
              <a:t>Scalabilité et coût énergétique</a:t>
            </a:r>
          </a:p>
          <a:p>
            <a:pPr lvl="1"/>
            <a:r>
              <a:rPr lang="fr-FR" dirty="0"/>
              <a:t>Nécessité d’infrastructures puissantes (datacenters).</a:t>
            </a:r>
          </a:p>
          <a:p>
            <a:pPr lvl="2"/>
            <a:r>
              <a:rPr lang="fr-FR" dirty="0"/>
              <a:t>Optimisations possibles : modèles distillés, datacenters verts.</a:t>
            </a:r>
          </a:p>
          <a:p>
            <a:r>
              <a:rPr lang="fr-FR" dirty="0"/>
              <a:t>Méthodes d’entraînement</a:t>
            </a:r>
          </a:p>
          <a:p>
            <a:pPr lvl="1"/>
            <a:r>
              <a:rPr lang="fr-FR" dirty="0"/>
              <a:t>Apprentissage de base</a:t>
            </a:r>
          </a:p>
          <a:p>
            <a:pPr lvl="2"/>
            <a:r>
              <a:rPr lang="fr-FR" dirty="0"/>
              <a:t>Très coûteux, modèles </a:t>
            </a:r>
            <a:r>
              <a:rPr lang="fr-FR" dirty="0" err="1"/>
              <a:t>fondationnels</a:t>
            </a:r>
            <a:endParaRPr lang="fr-FR" dirty="0"/>
          </a:p>
          <a:p>
            <a:pPr lvl="1"/>
            <a:r>
              <a:rPr lang="fr-FR" dirty="0"/>
              <a:t>Fine-Tuning</a:t>
            </a:r>
          </a:p>
          <a:p>
            <a:pPr lvl="2"/>
            <a:r>
              <a:rPr lang="fr-FR" dirty="0"/>
              <a:t>Ajustement spécifique, </a:t>
            </a:r>
            <a:r>
              <a:rPr lang="fr-FR" dirty="0" err="1"/>
              <a:t>Loras</a:t>
            </a:r>
            <a:r>
              <a:rPr lang="fr-FR" dirty="0"/>
              <a:t>, RL</a:t>
            </a:r>
          </a:p>
          <a:p>
            <a:pPr lvl="1"/>
            <a:r>
              <a:rPr lang="fr-FR" dirty="0"/>
              <a:t>Apprentissage en contexte</a:t>
            </a:r>
          </a:p>
          <a:p>
            <a:pPr lvl="2"/>
            <a:r>
              <a:rPr lang="fr-FR" dirty="0"/>
              <a:t>Peu couteux, prompt engineering</a:t>
            </a:r>
          </a:p>
          <a:p>
            <a:r>
              <a:rPr lang="fr-FR" i="1" dirty="0">
                <a:solidFill>
                  <a:srgbClr val="FF0000"/>
                </a:solidFill>
              </a:rPr>
              <a:t>Activité: Sources de données 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Classe, Maison, Transport, Loisirs =&gt; Mots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8374E6-12B0-FB39-6D7F-4C5E167A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E1F165-5F24-9417-6E94-46D745FA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Image 6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6935C680-F16D-8CBC-2FDA-D830DDF6F5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4495800"/>
            <a:ext cx="2914650" cy="148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36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E523B-B1BB-065E-D648-27616085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Fonctionnement des </a:t>
            </a:r>
            <a:r>
              <a:rPr lang="fr-FR" b="1" dirty="0" err="1"/>
              <a:t>LLMs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8BE331-55F6-08CD-8E7A-4FF57980C35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5026153"/>
          </a:xfrm>
        </p:spPr>
        <p:txBody>
          <a:bodyPr>
            <a:normAutofit fontScale="47500" lnSpcReduction="20000"/>
          </a:bodyPr>
          <a:lstStyle/>
          <a:p>
            <a:r>
              <a:rPr lang="fr-FR" dirty="0" err="1"/>
              <a:t>Tokens</a:t>
            </a:r>
            <a:endParaRPr lang="fr-FR" dirty="0"/>
          </a:p>
          <a:p>
            <a:pPr lvl="1"/>
            <a:r>
              <a:rPr lang="fr-FR" dirty="0"/>
              <a:t>Représentation numérique des mots</a:t>
            </a:r>
          </a:p>
          <a:p>
            <a:pPr lvl="1"/>
            <a:r>
              <a:rPr lang="fr-FR" dirty="0"/>
              <a:t>Vocabulaire de 50k/128k</a:t>
            </a:r>
          </a:p>
          <a:p>
            <a:r>
              <a:rPr lang="fr-FR" dirty="0" err="1"/>
              <a:t>Embeddings</a:t>
            </a:r>
            <a:endParaRPr lang="fr-FR" dirty="0"/>
          </a:p>
          <a:p>
            <a:pPr lvl="1"/>
            <a:r>
              <a:rPr lang="fr-FR" dirty="0"/>
              <a:t>Représentation vectorielle des mots/phrases </a:t>
            </a:r>
          </a:p>
          <a:p>
            <a:pPr lvl="2"/>
            <a:r>
              <a:rPr lang="fr-FR" dirty="0"/>
              <a:t>Permet de calculer leur proximité sémantique.</a:t>
            </a:r>
          </a:p>
          <a:p>
            <a:pPr lvl="2"/>
            <a:r>
              <a:rPr lang="fr-FR" dirty="0"/>
              <a:t>King - Man + </a:t>
            </a:r>
            <a:r>
              <a:rPr lang="fr-FR" dirty="0" err="1"/>
              <a:t>Woman</a:t>
            </a:r>
            <a:r>
              <a:rPr lang="fr-FR" dirty="0"/>
              <a:t> = Queen.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Activité: </a:t>
            </a:r>
            <a:r>
              <a:rPr lang="fr-FR" i="1" dirty="0" err="1">
                <a:solidFill>
                  <a:srgbClr val="FF0000"/>
                </a:solidFill>
              </a:rPr>
              <a:t>Mind-Meld</a:t>
            </a:r>
            <a:endParaRPr lang="fr-FR" i="1" dirty="0">
              <a:solidFill>
                <a:srgbClr val="FF0000"/>
              </a:solidFill>
            </a:endParaRPr>
          </a:p>
          <a:p>
            <a:pPr lvl="2"/>
            <a:r>
              <a:rPr lang="fr-FR" i="1" dirty="0">
                <a:solidFill>
                  <a:srgbClr val="FF0000"/>
                </a:solidFill>
              </a:rPr>
              <a:t>Par deux, mots aléatoires simultanés</a:t>
            </a:r>
          </a:p>
          <a:p>
            <a:pPr lvl="2"/>
            <a:r>
              <a:rPr lang="fr-FR" i="1" dirty="0">
                <a:solidFill>
                  <a:srgbClr val="FF0000"/>
                </a:solidFill>
              </a:rPr>
              <a:t>Puis Mots à « mi-distance »</a:t>
            </a:r>
          </a:p>
          <a:p>
            <a:r>
              <a:rPr lang="fr-FR" dirty="0"/>
              <a:t>Réseaux de neurones</a:t>
            </a:r>
          </a:p>
          <a:p>
            <a:pPr lvl="1"/>
            <a:r>
              <a:rPr lang="fr-FR" dirty="0"/>
              <a:t>Constitués de couches interconnectées</a:t>
            </a:r>
          </a:p>
          <a:p>
            <a:pPr lvl="1"/>
            <a:r>
              <a:rPr lang="fr-FR" dirty="0"/>
              <a:t>Les poids de ces connexions sont ajustés</a:t>
            </a:r>
          </a:p>
          <a:p>
            <a:pPr lvl="2"/>
            <a:r>
              <a:rPr lang="fr-FR" dirty="0"/>
              <a:t>Rétropropagation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 err="1">
                <a:sym typeface="Wingdings" panose="05000000000000000000" pitchFamily="2" charset="2"/>
              </a:rPr>
              <a:t>Autodifférentiation</a:t>
            </a:r>
            <a:endParaRPr lang="fr-FR" dirty="0"/>
          </a:p>
          <a:p>
            <a:r>
              <a:rPr lang="fr-FR" dirty="0"/>
              <a:t> Concept d’attention</a:t>
            </a:r>
          </a:p>
          <a:p>
            <a:pPr lvl="1"/>
            <a:r>
              <a:rPr lang="fr-FR" dirty="0"/>
              <a:t>Importance relative des mots </a:t>
            </a:r>
          </a:p>
          <a:p>
            <a:pPr lvl="2"/>
            <a:r>
              <a:rPr lang="fr-FR" dirty="0"/>
              <a:t>Dans un contexte donné</a:t>
            </a:r>
          </a:p>
          <a:p>
            <a:pPr lvl="1"/>
            <a:r>
              <a:rPr lang="fr-FR" i="1" dirty="0"/>
              <a:t>« I </a:t>
            </a:r>
            <a:r>
              <a:rPr lang="fr-FR" i="1" dirty="0" err="1"/>
              <a:t>saw</a:t>
            </a:r>
            <a:r>
              <a:rPr lang="fr-FR" i="1" dirty="0"/>
              <a:t> the man </a:t>
            </a:r>
            <a:r>
              <a:rPr lang="fr-FR" i="1" dirty="0" err="1"/>
              <a:t>with</a:t>
            </a:r>
            <a:r>
              <a:rPr lang="fr-FR" i="1" dirty="0"/>
              <a:t> the </a:t>
            </a:r>
            <a:r>
              <a:rPr lang="fr-FR" i="1" dirty="0" err="1"/>
              <a:t>telescope</a:t>
            </a:r>
            <a:r>
              <a:rPr lang="fr-FR" i="1" dirty="0"/>
              <a:t> »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Activité: Mots polysémiques</a:t>
            </a:r>
          </a:p>
          <a:p>
            <a:pPr lvl="2"/>
            <a:r>
              <a:rPr lang="fr-FR" i="1" dirty="0">
                <a:solidFill>
                  <a:srgbClr val="FF0000"/>
                </a:solidFill>
              </a:rPr>
              <a:t>Définition</a:t>
            </a:r>
          </a:p>
          <a:p>
            <a:pPr lvl="2"/>
            <a:r>
              <a:rPr lang="fr-FR" i="1" dirty="0">
                <a:solidFill>
                  <a:srgbClr val="FF0000"/>
                </a:solidFill>
              </a:rPr>
              <a:t>Flèches d’attention</a:t>
            </a:r>
            <a:endParaRPr lang="fr-FR" i="1" dirty="0"/>
          </a:p>
          <a:p>
            <a:r>
              <a:rPr lang="fr-FR" dirty="0"/>
              <a:t>Transformers</a:t>
            </a:r>
          </a:p>
          <a:p>
            <a:pPr lvl="1"/>
            <a:r>
              <a:rPr lang="fr-FR" dirty="0"/>
              <a:t>Architecture clé des </a:t>
            </a:r>
            <a:r>
              <a:rPr lang="fr-FR" dirty="0" err="1"/>
              <a:t>LLMs</a:t>
            </a:r>
            <a:r>
              <a:rPr lang="fr-FR" dirty="0"/>
              <a:t> modernes</a:t>
            </a:r>
          </a:p>
          <a:p>
            <a:pPr lvl="1"/>
            <a:r>
              <a:rPr lang="fr-FR" dirty="0"/>
              <a:t>Avancées architecturales: </a:t>
            </a:r>
          </a:p>
          <a:p>
            <a:pPr lvl="2"/>
            <a:r>
              <a:rPr lang="fr-FR" dirty="0"/>
              <a:t>MOE, </a:t>
            </a:r>
            <a:r>
              <a:rPr lang="fr-FR" dirty="0" err="1"/>
              <a:t>Sparse</a:t>
            </a:r>
            <a:r>
              <a:rPr lang="fr-FR" dirty="0"/>
              <a:t> Attention, </a:t>
            </a:r>
            <a:r>
              <a:rPr lang="fr-FR" dirty="0" err="1"/>
              <a:t>Rope</a:t>
            </a:r>
            <a:r>
              <a:rPr lang="fr-FR" dirty="0"/>
              <a:t> </a:t>
            </a:r>
            <a:r>
              <a:rPr lang="fr-FR" dirty="0" err="1"/>
              <a:t>Scaling</a:t>
            </a:r>
            <a:r>
              <a:rPr lang="fr-FR" dirty="0"/>
              <a:t> etc.</a:t>
            </a:r>
          </a:p>
          <a:p>
            <a:pPr lvl="2"/>
            <a:r>
              <a:rPr lang="fr-FR" dirty="0"/>
              <a:t>Multimodalité</a:t>
            </a:r>
          </a:p>
          <a:p>
            <a:pPr lvl="1"/>
            <a:r>
              <a:rPr lang="fr-FR" dirty="0"/>
              <a:t>Alternatives récentes</a:t>
            </a:r>
          </a:p>
          <a:p>
            <a:pPr lvl="2"/>
            <a:r>
              <a:rPr lang="fr-FR" dirty="0"/>
              <a:t>Mamba (State </a:t>
            </a:r>
            <a:r>
              <a:rPr lang="fr-FR" dirty="0" err="1"/>
              <a:t>Space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), </a:t>
            </a:r>
            <a:r>
              <a:rPr lang="fr-FR" dirty="0" err="1"/>
              <a:t>Jamba</a:t>
            </a:r>
            <a:r>
              <a:rPr lang="fr-FR" dirty="0"/>
              <a:t> (scalabilité linéaire)</a:t>
            </a:r>
          </a:p>
          <a:p>
            <a:pPr lvl="2"/>
            <a:r>
              <a:rPr lang="fr-FR" dirty="0"/>
              <a:t>Diffusion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8C893D-DA25-DE41-EEAA-DDC24760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CB6A39-BDFA-9E64-05FB-C4741863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66611D2-7688-A658-9D5E-4AF0EABE0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50" y="1511294"/>
            <a:ext cx="2114550" cy="99383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447DDF2-0C1F-8F3F-0655-E737B7340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2719523"/>
            <a:ext cx="857250" cy="160734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D6AB3E2-A471-1F40-2A43-3C2C447B2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450" y="4534801"/>
            <a:ext cx="2600325" cy="7310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386F779-61BA-2B79-C9F9-D9AF375C8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905" y="4226654"/>
            <a:ext cx="1524559" cy="207848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D909F17-E8A1-23CB-DA72-530B4CE7D0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393" y="2238679"/>
            <a:ext cx="1941863" cy="10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2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D5DCF-DD9A-E707-5774-9B260C52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 probabilistes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28453A-823B-4963-D5A4-0A7B778F648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47500" lnSpcReduction="20000"/>
          </a:bodyPr>
          <a:lstStyle/>
          <a:p>
            <a:r>
              <a:rPr lang="fr-FR" dirty="0"/>
              <a:t>Génération de texte / Transformers</a:t>
            </a:r>
          </a:p>
          <a:p>
            <a:pPr lvl="1"/>
            <a:r>
              <a:rPr lang="fr-FR" dirty="0"/>
              <a:t>Les Mots sont choisis en séquence </a:t>
            </a:r>
          </a:p>
          <a:p>
            <a:pPr lvl="2"/>
            <a:r>
              <a:rPr lang="fr-FR" dirty="0"/>
              <a:t>en fonction de leur probabilité d’occurrence </a:t>
            </a:r>
          </a:p>
          <a:p>
            <a:pPr lvl="2"/>
            <a:r>
              <a:rPr lang="fr-FR" dirty="0"/>
              <a:t>dans un contexte donné (= mots qui précèdent).</a:t>
            </a:r>
          </a:p>
          <a:p>
            <a:pPr lvl="1"/>
            <a:r>
              <a:rPr lang="fr-FR" dirty="0"/>
              <a:t>Paramètres de génération :</a:t>
            </a:r>
          </a:p>
          <a:p>
            <a:pPr lvl="2"/>
            <a:r>
              <a:rPr lang="fr-FR" dirty="0"/>
              <a:t>Température : </a:t>
            </a:r>
          </a:p>
          <a:p>
            <a:pPr lvl="3"/>
            <a:r>
              <a:rPr lang="fr-FR" dirty="0"/>
              <a:t>Contrôle la variabilité des résultats.</a:t>
            </a:r>
          </a:p>
          <a:p>
            <a:pPr lvl="3"/>
            <a:r>
              <a:rPr lang="fr-FR" dirty="0"/>
              <a:t>Distribution sur le vocabulaire</a:t>
            </a:r>
          </a:p>
          <a:p>
            <a:pPr lvl="2"/>
            <a:r>
              <a:rPr lang="fr-FR" dirty="0"/>
              <a:t>Top-n sampling : </a:t>
            </a:r>
          </a:p>
          <a:p>
            <a:pPr lvl="3"/>
            <a:r>
              <a:rPr lang="fr-FR" dirty="0"/>
              <a:t>Limite le choix aux mots les plus probables </a:t>
            </a:r>
          </a:p>
          <a:p>
            <a:pPr lvl="3"/>
            <a:r>
              <a:rPr lang="fr-FR" dirty="0"/>
              <a:t>Top-p: Jusqu’à un seuil de distribution cumulatif</a:t>
            </a:r>
          </a:p>
          <a:p>
            <a:pPr lvl="3"/>
            <a:r>
              <a:rPr lang="fr-FR" dirty="0"/>
              <a:t>Top-k:  k mots les plus probables.</a:t>
            </a:r>
          </a:p>
          <a:p>
            <a:r>
              <a:rPr lang="fr-FR" dirty="0"/>
              <a:t>Génération d’image / Modèle de diffusion</a:t>
            </a:r>
          </a:p>
          <a:p>
            <a:pPr lvl="1"/>
            <a:r>
              <a:rPr lang="fr-FR" dirty="0"/>
              <a:t>Ajout d’un bruit gaussien probabiliste</a:t>
            </a:r>
          </a:p>
          <a:p>
            <a:pPr lvl="2"/>
            <a:r>
              <a:rPr lang="fr-FR" dirty="0"/>
              <a:t>Apprentissage du débruitage</a:t>
            </a:r>
          </a:p>
          <a:p>
            <a:pPr lvl="1"/>
            <a:r>
              <a:rPr lang="fr-FR" dirty="0"/>
              <a:t>Génération depuis un espace latent</a:t>
            </a:r>
          </a:p>
          <a:p>
            <a:pPr lvl="2"/>
            <a:r>
              <a:rPr lang="fr-FR" dirty="0"/>
              <a:t>Conditionnement par attention (texte, image etc.)</a:t>
            </a:r>
          </a:p>
          <a:p>
            <a:pPr lvl="1"/>
            <a:r>
              <a:rPr lang="fr-FR" dirty="0"/>
              <a:t>Paramètres</a:t>
            </a:r>
          </a:p>
          <a:p>
            <a:pPr lvl="2"/>
            <a:r>
              <a:rPr lang="fr-FR" dirty="0"/>
              <a:t>N-</a:t>
            </a:r>
            <a:r>
              <a:rPr lang="fr-FR" dirty="0" err="1"/>
              <a:t>steps</a:t>
            </a:r>
            <a:r>
              <a:rPr lang="fr-FR" dirty="0"/>
              <a:t>: Nombre d’étapes de débruitage</a:t>
            </a:r>
          </a:p>
          <a:p>
            <a:pPr lvl="2"/>
            <a:r>
              <a:rPr lang="fr-FR" dirty="0" err="1"/>
              <a:t>Cfg-scale</a:t>
            </a:r>
            <a:r>
              <a:rPr lang="fr-FR" dirty="0"/>
              <a:t> (Classifier-Free Guidance) </a:t>
            </a:r>
          </a:p>
          <a:p>
            <a:pPr lvl="3"/>
            <a:r>
              <a:rPr lang="fr-FR" dirty="0"/>
              <a:t>Conformité au conditionnement</a:t>
            </a:r>
          </a:p>
          <a:p>
            <a:pPr lvl="2"/>
            <a:r>
              <a:rPr lang="fr-FR" dirty="0"/>
              <a:t>Accents, Prompts négatifs</a:t>
            </a:r>
          </a:p>
          <a:p>
            <a:pPr lvl="3"/>
            <a:r>
              <a:rPr lang="fr-FR" dirty="0"/>
              <a:t>Diriger par le texte</a:t>
            </a:r>
          </a:p>
          <a:p>
            <a:pPr lvl="2"/>
            <a:r>
              <a:rPr lang="fr-FR" dirty="0" err="1"/>
              <a:t>Denoising</a:t>
            </a:r>
            <a:r>
              <a:rPr lang="fr-FR" dirty="0"/>
              <a:t> </a:t>
            </a:r>
            <a:r>
              <a:rPr lang="fr-FR" dirty="0" err="1"/>
              <a:t>strenght</a:t>
            </a:r>
            <a:r>
              <a:rPr lang="fr-FR" dirty="0"/>
              <a:t> (img2img)</a:t>
            </a:r>
          </a:p>
          <a:p>
            <a:pPr lvl="3"/>
            <a:r>
              <a:rPr lang="fr-FR" dirty="0"/>
              <a:t>Quantité de changement</a:t>
            </a:r>
          </a:p>
          <a:p>
            <a:r>
              <a:rPr lang="fr-FR" dirty="0"/>
              <a:t>Paramètres communs</a:t>
            </a:r>
          </a:p>
          <a:p>
            <a:pPr lvl="1"/>
            <a:r>
              <a:rPr lang="fr-FR" dirty="0" err="1"/>
              <a:t>Seed</a:t>
            </a:r>
            <a:r>
              <a:rPr lang="fr-FR" dirty="0"/>
              <a:t>: </a:t>
            </a:r>
          </a:p>
          <a:p>
            <a:pPr lvl="2"/>
            <a:r>
              <a:rPr lang="fr-FR" dirty="0"/>
              <a:t>Reproductibilité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Activité</a:t>
            </a:r>
          </a:p>
          <a:p>
            <a:pPr lvl="2"/>
            <a:r>
              <a:rPr lang="fr-FR" i="1" dirty="0">
                <a:solidFill>
                  <a:srgbClr val="FF0000"/>
                </a:solidFill>
              </a:rPr>
              <a:t>Expérimentation de paramètres (</a:t>
            </a:r>
            <a:r>
              <a:rPr lang="fr-FR" i="1" dirty="0" err="1">
                <a:solidFill>
                  <a:srgbClr val="FF0000"/>
                </a:solidFill>
              </a:rPr>
              <a:t>seed</a:t>
            </a:r>
            <a:r>
              <a:rPr lang="fr-FR" i="1" dirty="0">
                <a:solidFill>
                  <a:srgbClr val="FF0000"/>
                </a:solidFill>
              </a:rPr>
              <a:t> fixe)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887DC4-0026-6C99-BBCD-C3BD5127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B8B377-E1E9-7621-B28D-9CF7EDC2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B6C1E73-EEA4-1A8C-4EA2-D352D5767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768" y="2627350"/>
            <a:ext cx="1790700" cy="9739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A958EA3-C952-F7F7-4B81-CA12D84C6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507" y="3005785"/>
            <a:ext cx="1819275" cy="898612"/>
          </a:xfrm>
          <a:prstGeom prst="rect">
            <a:avLst/>
          </a:prstGeom>
        </p:spPr>
      </p:pic>
      <p:pic>
        <p:nvPicPr>
          <p:cNvPr id="13" name="Image 12" descr="Une image contenant capture d’écran, texte, diagramme, Tracé&#10;&#10;Description générée automatiquement">
            <a:extLst>
              <a:ext uri="{FF2B5EF4-FFF2-40B4-BE49-F238E27FC236}">
                <a16:creationId xmlns:a16="http://schemas.microsoft.com/office/drawing/2014/main" id="{75B44BA4-3E7A-791C-5C20-A4D827EA3D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25" y="1475785"/>
            <a:ext cx="2819400" cy="10061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013A245-456E-7A13-45E7-EC06D6D3A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6132" y="3986671"/>
            <a:ext cx="2914650" cy="1009771"/>
          </a:xfrm>
          <a:prstGeom prst="rect">
            <a:avLst/>
          </a:prstGeom>
        </p:spPr>
      </p:pic>
      <p:pic>
        <p:nvPicPr>
          <p:cNvPr id="19" name="Image 18" descr="Une image contenant texte, capture d’écran, diagramme, Police&#10;&#10;Description générée automatiquement">
            <a:extLst>
              <a:ext uri="{FF2B5EF4-FFF2-40B4-BE49-F238E27FC236}">
                <a16:creationId xmlns:a16="http://schemas.microsoft.com/office/drawing/2014/main" id="{E50D8CC8-7DAA-EA76-C854-0645CA44C6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136" y="5106059"/>
            <a:ext cx="3058377" cy="152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74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30E7F-0F51-7D05-56BF-04104855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Applications: Usage individuels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4BD733-9D0F-46D0-E1AB-15DC0593CE6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Design et graphisme</a:t>
            </a:r>
          </a:p>
          <a:p>
            <a:pPr lvl="1"/>
            <a:r>
              <a:rPr lang="fr-FR" dirty="0"/>
              <a:t>Création de prototypes visuels, dessins, photos</a:t>
            </a:r>
          </a:p>
          <a:p>
            <a:pPr lvl="1"/>
            <a:r>
              <a:rPr lang="fr-FR" dirty="0"/>
              <a:t>Outils : </a:t>
            </a:r>
            <a:r>
              <a:rPr lang="fr-FR" dirty="0" err="1"/>
              <a:t>MidJourney</a:t>
            </a:r>
            <a:r>
              <a:rPr lang="fr-FR" dirty="0"/>
              <a:t>, Stable Diffusion.</a:t>
            </a:r>
          </a:p>
          <a:p>
            <a:r>
              <a:rPr lang="fr-FR" dirty="0"/>
              <a:t>Littérature et rédaction créative</a:t>
            </a:r>
          </a:p>
          <a:p>
            <a:pPr lvl="1"/>
            <a:r>
              <a:rPr lang="fr-FR" dirty="0"/>
              <a:t>Écriture de scénarios, récits interactifs, co-écriture, poésie.</a:t>
            </a:r>
          </a:p>
          <a:p>
            <a:pPr lvl="1"/>
            <a:r>
              <a:rPr lang="fr-FR" dirty="0"/>
              <a:t>Outils: </a:t>
            </a:r>
            <a:r>
              <a:rPr lang="fr-FR" dirty="0" err="1"/>
              <a:t>ChatGPT</a:t>
            </a:r>
            <a:r>
              <a:rPr lang="fr-FR" dirty="0"/>
              <a:t>, Claude, </a:t>
            </a:r>
            <a:r>
              <a:rPr lang="fr-FR" dirty="0" err="1"/>
              <a:t>Llama</a:t>
            </a:r>
            <a:r>
              <a:rPr lang="fr-FR" dirty="0"/>
              <a:t> etc.</a:t>
            </a:r>
          </a:p>
          <a:p>
            <a:r>
              <a:rPr lang="fr-FR" dirty="0"/>
              <a:t>Entreprenariat et innovation</a:t>
            </a:r>
          </a:p>
          <a:p>
            <a:pPr lvl="1"/>
            <a:r>
              <a:rPr lang="fr-FR" dirty="0"/>
              <a:t>Idéation, validation d’idées, élaboration de stratégies</a:t>
            </a:r>
          </a:p>
          <a:p>
            <a:pPr lvl="1"/>
            <a:r>
              <a:rPr lang="fr-FR" dirty="0"/>
              <a:t>Prototypage, faisabilité</a:t>
            </a:r>
          </a:p>
          <a:p>
            <a:r>
              <a:rPr lang="fr-FR" dirty="0"/>
              <a:t>Compagnons IA</a:t>
            </a:r>
          </a:p>
          <a:p>
            <a:pPr lvl="1"/>
            <a:r>
              <a:rPr lang="fr-FR" dirty="0"/>
              <a:t>Soutien psychologique, coaching, romance </a:t>
            </a:r>
          </a:p>
          <a:p>
            <a:pPr lvl="2"/>
            <a:r>
              <a:rPr lang="fr-FR" dirty="0"/>
              <a:t>Ex: </a:t>
            </a:r>
            <a:r>
              <a:rPr lang="fr-FR" dirty="0" err="1"/>
              <a:t>Replika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FF7897-82DE-9C7A-8247-B42FD1D3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4D4C21-5B1D-93BC-9D06-903355B7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Image 6" descr="Une image contenant Visage humain, lèvre, art&#10;&#10;Description générée automatiquement">
            <a:extLst>
              <a:ext uri="{FF2B5EF4-FFF2-40B4-BE49-F238E27FC236}">
                <a16:creationId xmlns:a16="http://schemas.microsoft.com/office/drawing/2014/main" id="{4AC6F96B-5033-94DD-83BB-E2EC8E9B6D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044" y="4949299"/>
            <a:ext cx="1200150" cy="1200150"/>
          </a:xfrm>
          <a:prstGeom prst="rect">
            <a:avLst/>
          </a:prstGeom>
        </p:spPr>
      </p:pic>
      <p:pic>
        <p:nvPicPr>
          <p:cNvPr id="9" name="Image 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3B4A9996-8376-0983-ABE3-7147ECC0CA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3352800"/>
            <a:ext cx="1200150" cy="1200150"/>
          </a:xfrm>
          <a:prstGeom prst="rect">
            <a:avLst/>
          </a:prstGeom>
        </p:spPr>
      </p:pic>
      <p:pic>
        <p:nvPicPr>
          <p:cNvPr id="11" name="Image 10" descr="Une image contenant dessin, clipart, créativité, illustration&#10;&#10;Description générée automatiquement">
            <a:extLst>
              <a:ext uri="{FF2B5EF4-FFF2-40B4-BE49-F238E27FC236}">
                <a16:creationId xmlns:a16="http://schemas.microsoft.com/office/drawing/2014/main" id="{642742A3-B300-8FF5-FFA7-B2AB96DBAA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725739"/>
            <a:ext cx="1087438" cy="108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61EFD3-B9EA-6BE0-A7EF-C48CCD20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Applications: 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09F755-1DA3-7C52-5301-10CB6764ED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Positionnement Métier</a:t>
            </a:r>
          </a:p>
          <a:p>
            <a:pPr lvl="1"/>
            <a:r>
              <a:rPr lang="fr-FR" dirty="0"/>
              <a:t>Ex: Microsoft </a:t>
            </a:r>
            <a:r>
              <a:rPr lang="fr-FR" dirty="0" err="1"/>
              <a:t>Copilot</a:t>
            </a:r>
            <a:endParaRPr lang="fr-FR" dirty="0"/>
          </a:p>
          <a:p>
            <a:r>
              <a:rPr lang="fr-FR" dirty="0"/>
              <a:t>Communication d’entreprise</a:t>
            </a:r>
          </a:p>
          <a:p>
            <a:pPr lvl="1"/>
            <a:r>
              <a:rPr lang="fr-FR" dirty="0"/>
              <a:t>Synthèse de contenu</a:t>
            </a:r>
          </a:p>
          <a:p>
            <a:pPr lvl="2"/>
            <a:r>
              <a:rPr lang="fr-FR" dirty="0"/>
              <a:t>Résumer des textes complexes et extraire les thèmes majeurs. </a:t>
            </a:r>
          </a:p>
          <a:p>
            <a:pPr lvl="1"/>
            <a:r>
              <a:rPr lang="fr-FR" dirty="0"/>
              <a:t>Stratégies de communication</a:t>
            </a:r>
          </a:p>
          <a:p>
            <a:pPr lvl="2"/>
            <a:r>
              <a:rPr lang="fr-FR" dirty="0"/>
              <a:t>Structuration d’arguments persuasifs et réduction des biais</a:t>
            </a:r>
          </a:p>
          <a:p>
            <a:r>
              <a:rPr lang="fr-FR" dirty="0"/>
              <a:t>Marketing et interaction client</a:t>
            </a:r>
          </a:p>
          <a:p>
            <a:pPr lvl="1"/>
            <a:r>
              <a:rPr lang="fr-FR" dirty="0"/>
              <a:t>Création de campagnes</a:t>
            </a:r>
          </a:p>
          <a:p>
            <a:pPr lvl="2"/>
            <a:r>
              <a:rPr lang="fr-FR" dirty="0"/>
              <a:t>Contenu pour réseaux sociaux, blogs, vidéos publicitaires.</a:t>
            </a:r>
          </a:p>
          <a:p>
            <a:pPr lvl="2"/>
            <a:r>
              <a:rPr lang="fr-FR" dirty="0"/>
              <a:t>Génération de slogans et de storyboards publicitaires</a:t>
            </a:r>
          </a:p>
          <a:p>
            <a:pPr lvl="1"/>
            <a:r>
              <a:rPr lang="fr-FR" dirty="0" err="1"/>
              <a:t>Chatbots</a:t>
            </a:r>
            <a:r>
              <a:rPr lang="fr-FR" dirty="0"/>
              <a:t> conversationnels, FAQ dynamique.</a:t>
            </a:r>
          </a:p>
          <a:p>
            <a:r>
              <a:rPr lang="fr-FR" dirty="0"/>
              <a:t>Recrutement et formation</a:t>
            </a:r>
          </a:p>
          <a:p>
            <a:pPr lvl="1"/>
            <a:r>
              <a:rPr lang="fr-FR" dirty="0"/>
              <a:t>Génération de descriptions de poste inclusives et attractives.</a:t>
            </a:r>
          </a:p>
          <a:p>
            <a:pPr lvl="1"/>
            <a:r>
              <a:rPr lang="fr-FR" dirty="0"/>
              <a:t>Résumé automatique des candidatures </a:t>
            </a:r>
          </a:p>
          <a:p>
            <a:pPr lvl="2"/>
            <a:r>
              <a:rPr lang="fr-FR" dirty="0"/>
              <a:t>Identifier les points forts et faibles.</a:t>
            </a:r>
          </a:p>
          <a:p>
            <a:pPr lvl="1"/>
            <a:r>
              <a:rPr lang="fr-FR" dirty="0"/>
              <a:t>Conception de scénarios et questions d’entretien personnalisés.</a:t>
            </a:r>
          </a:p>
          <a:p>
            <a:pPr lvl="1"/>
            <a:r>
              <a:rPr lang="fr-FR" dirty="0"/>
              <a:t>Personnalisation des parcours de formation.</a:t>
            </a:r>
          </a:p>
          <a:p>
            <a:r>
              <a:rPr lang="fr-FR" dirty="0"/>
              <a:t>Analytics et prise de décision</a:t>
            </a:r>
          </a:p>
          <a:p>
            <a:pPr lvl="1"/>
            <a:r>
              <a:rPr lang="fr-FR" dirty="0"/>
              <a:t>Automatisation des pipelines de données : extraction, validation, et nettoyage.</a:t>
            </a:r>
          </a:p>
          <a:p>
            <a:pPr lvl="1"/>
            <a:r>
              <a:rPr lang="fr-FR" dirty="0"/>
              <a:t>Modélisation avancée : résolution de problèmes complexes</a:t>
            </a:r>
          </a:p>
          <a:p>
            <a:pPr lvl="1"/>
            <a:r>
              <a:rPr lang="fr-FR" dirty="0"/>
              <a:t>Visualisation rapide : génération de graphiques interactifs </a:t>
            </a:r>
          </a:p>
          <a:p>
            <a:pPr lvl="1"/>
            <a:r>
              <a:rPr lang="fr-FR" dirty="0"/>
              <a:t>Synthèse rapide : résumer des tableaux de bord complexes </a:t>
            </a:r>
          </a:p>
          <a:p>
            <a:r>
              <a:rPr lang="fr-FR" i="1" dirty="0">
                <a:solidFill>
                  <a:srgbClr val="FF0000"/>
                </a:solidFill>
              </a:rPr>
              <a:t>Activité: Campagne Marketing fictive: Nouveau Soda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Un slogan, 1 visuel, 3 </a:t>
            </a:r>
            <a:r>
              <a:rPr lang="fr-FR" i="1" dirty="0" err="1">
                <a:solidFill>
                  <a:srgbClr val="FF0000"/>
                </a:solidFill>
              </a:rPr>
              <a:t>posts</a:t>
            </a:r>
            <a:r>
              <a:rPr lang="fr-FR" i="1" dirty="0">
                <a:solidFill>
                  <a:srgbClr val="FF0000"/>
                </a:solidFill>
              </a:rPr>
              <a:t> réseaux sociaux, 1 </a:t>
            </a:r>
            <a:r>
              <a:rPr lang="fr-FR" i="1" dirty="0" err="1">
                <a:solidFill>
                  <a:srgbClr val="FF0000"/>
                </a:solidFill>
              </a:rPr>
              <a:t>scnéario</a:t>
            </a:r>
            <a:r>
              <a:rPr lang="fr-FR" i="1" dirty="0">
                <a:solidFill>
                  <a:srgbClr val="FF0000"/>
                </a:solidFill>
              </a:rPr>
              <a:t> de pub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D81C1EF-9F04-B5A6-367C-779C0A1C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F4977E-BFFD-1C8C-BBFE-314DB67D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1B2491D-ADE5-5A37-90AF-8E1B8491E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50" y="3197655"/>
            <a:ext cx="2581275" cy="1542060"/>
          </a:xfrm>
          <a:prstGeom prst="rect">
            <a:avLst/>
          </a:prstGeom>
        </p:spPr>
      </p:pic>
      <p:pic>
        <p:nvPicPr>
          <p:cNvPr id="12" name="Image 11" descr="Une image contenant capture d’écran, Graphique, Caractère coloré, diagramme&#10;&#10;Description générée automatiquement">
            <a:extLst>
              <a:ext uri="{FF2B5EF4-FFF2-40B4-BE49-F238E27FC236}">
                <a16:creationId xmlns:a16="http://schemas.microsoft.com/office/drawing/2014/main" id="{0934DB12-9503-6E1F-A1D3-F4752FA44F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725" y="1527046"/>
            <a:ext cx="2133600" cy="1244600"/>
          </a:xfrm>
          <a:prstGeom prst="rect">
            <a:avLst/>
          </a:prstGeom>
        </p:spPr>
      </p:pic>
      <p:pic>
        <p:nvPicPr>
          <p:cNvPr id="14" name="Image 13" descr="Une image contenant graphisme, texte, art, léger&#10;&#10;Description générée automatiquement">
            <a:extLst>
              <a:ext uri="{FF2B5EF4-FFF2-40B4-BE49-F238E27FC236}">
                <a16:creationId xmlns:a16="http://schemas.microsoft.com/office/drawing/2014/main" id="{D2C3B6CB-6209-8C7D-440C-C02D0BA743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833" y="5266637"/>
            <a:ext cx="1917383" cy="91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1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97060-BE17-10FD-D57E-76DDF0DE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 sectorielles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C7C91A-CE26-2218-5FC0-052C7F263EA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949953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Santé</a:t>
            </a:r>
          </a:p>
          <a:p>
            <a:pPr lvl="1"/>
            <a:r>
              <a:rPr lang="fr-FR" dirty="0"/>
              <a:t>Génération de rapports médicaux, assistance au diagnostic.</a:t>
            </a:r>
          </a:p>
          <a:p>
            <a:pPr lvl="1"/>
            <a:r>
              <a:rPr lang="fr-FR" dirty="0" err="1"/>
              <a:t>Chatbots</a:t>
            </a:r>
            <a:r>
              <a:rPr lang="fr-FR" dirty="0"/>
              <a:t> médicaux pour le suivi </a:t>
            </a:r>
          </a:p>
          <a:p>
            <a:pPr lvl="1"/>
            <a:r>
              <a:rPr lang="fr-FR" dirty="0"/>
              <a:t>Génération de supports pédagogiques</a:t>
            </a:r>
          </a:p>
          <a:p>
            <a:r>
              <a:rPr lang="fr-FR" dirty="0"/>
              <a:t>Éducation</a:t>
            </a:r>
          </a:p>
          <a:p>
            <a:pPr lvl="1"/>
            <a:r>
              <a:rPr lang="fr-FR" dirty="0"/>
              <a:t>Création de supports pédagogiques </a:t>
            </a:r>
          </a:p>
          <a:p>
            <a:pPr lvl="1"/>
            <a:r>
              <a:rPr lang="fr-FR" dirty="0"/>
              <a:t>Synthèse et vulgarisation des contenus complexes</a:t>
            </a:r>
          </a:p>
          <a:p>
            <a:pPr lvl="1"/>
            <a:r>
              <a:rPr lang="fr-FR" dirty="0"/>
              <a:t>Mise en place d’assistants pédagogiques interactifs</a:t>
            </a:r>
          </a:p>
          <a:p>
            <a:pPr lvl="1"/>
            <a:r>
              <a:rPr lang="fr-FR" dirty="0"/>
              <a:t>Création de quiz dynamiques </a:t>
            </a:r>
          </a:p>
          <a:p>
            <a:r>
              <a:rPr lang="fr-FR" dirty="0"/>
              <a:t>Finance et gestion des risques</a:t>
            </a:r>
          </a:p>
          <a:p>
            <a:pPr lvl="1"/>
            <a:r>
              <a:rPr lang="fr-FR" dirty="0"/>
              <a:t>Extraction d’informations à partir de rapports financiers</a:t>
            </a:r>
          </a:p>
          <a:p>
            <a:pPr lvl="1"/>
            <a:r>
              <a:rPr lang="fr-FR" dirty="0"/>
              <a:t>Prévisions avancées : </a:t>
            </a:r>
          </a:p>
          <a:p>
            <a:pPr lvl="2"/>
            <a:r>
              <a:rPr lang="fr-FR" dirty="0"/>
              <a:t>utilisation de données pour suivre les stocks ou indices</a:t>
            </a:r>
          </a:p>
          <a:p>
            <a:pPr lvl="1"/>
            <a:r>
              <a:rPr lang="fr-FR" dirty="0"/>
              <a:t>Automatisation des chaînes d'information </a:t>
            </a:r>
          </a:p>
          <a:p>
            <a:pPr lvl="2"/>
            <a:r>
              <a:rPr lang="fr-FR" dirty="0"/>
              <a:t>génération d’indicateurs, d’alphas</a:t>
            </a:r>
          </a:p>
          <a:p>
            <a:pPr lvl="1"/>
            <a:r>
              <a:rPr lang="fr-FR" dirty="0"/>
              <a:t>Détection d’anomalies dans des transactions complexes</a:t>
            </a:r>
          </a:p>
          <a:p>
            <a:r>
              <a:rPr lang="fr-FR" dirty="0"/>
              <a:t>Recherche et sciences</a:t>
            </a:r>
          </a:p>
          <a:p>
            <a:pPr lvl="1"/>
            <a:r>
              <a:rPr lang="fr-FR" dirty="0"/>
              <a:t>Synthèse automatique d’articles académiques</a:t>
            </a:r>
          </a:p>
          <a:p>
            <a:pPr lvl="1"/>
            <a:r>
              <a:rPr lang="fr-FR" dirty="0"/>
              <a:t>Exploration documentaire et rédaction scientifique</a:t>
            </a:r>
          </a:p>
          <a:p>
            <a:pPr lvl="1"/>
            <a:r>
              <a:rPr lang="fr-FR" dirty="0"/>
              <a:t>Automatisation de la validation </a:t>
            </a:r>
          </a:p>
          <a:p>
            <a:pPr lvl="2"/>
            <a:r>
              <a:rPr lang="fr-FR" dirty="0"/>
              <a:t>optimisation de modèles mathématiques</a:t>
            </a:r>
          </a:p>
          <a:p>
            <a:r>
              <a:rPr lang="fr-FR" dirty="0">
                <a:solidFill>
                  <a:srgbClr val="FF0000"/>
                </a:solidFill>
              </a:rPr>
              <a:t>Activité:</a:t>
            </a:r>
          </a:p>
          <a:p>
            <a:pPr lvl="1"/>
            <a:r>
              <a:rPr lang="fr-FR" dirty="0">
                <a:solidFill>
                  <a:srgbClr val="FF0000"/>
                </a:solidFill>
              </a:rPr>
              <a:t>Prévision Trading Crypto par graphiques avec indicateurs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9BBA6C-CADF-A50A-7BE7-1E06C6A1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AE5D37-20B1-5B25-2203-9F20801F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Image 6" descr="Une image contenant musique, concert, léger&#10;&#10;Description générée automatiquement">
            <a:extLst>
              <a:ext uri="{FF2B5EF4-FFF2-40B4-BE49-F238E27FC236}">
                <a16:creationId xmlns:a16="http://schemas.microsoft.com/office/drawing/2014/main" id="{51FAB662-AFED-0524-3220-E35166459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378" y="4038600"/>
            <a:ext cx="1737611" cy="978027"/>
          </a:xfrm>
          <a:prstGeom prst="rect">
            <a:avLst/>
          </a:prstGeom>
        </p:spPr>
      </p:pic>
      <p:pic>
        <p:nvPicPr>
          <p:cNvPr id="9" name="Image 8" descr="Une image contenant capture d’écran, art&#10;&#10;Description générée automatiquement">
            <a:extLst>
              <a:ext uri="{FF2B5EF4-FFF2-40B4-BE49-F238E27FC236}">
                <a16:creationId xmlns:a16="http://schemas.microsoft.com/office/drawing/2014/main" id="{C8B122AF-E21E-A343-87B9-E694E31486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377" y="2785049"/>
            <a:ext cx="1737612" cy="99292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E25DF20-397A-CE1F-92C6-6B6795E85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377" y="1611129"/>
            <a:ext cx="1737612" cy="989474"/>
          </a:xfrm>
          <a:prstGeom prst="rect">
            <a:avLst/>
          </a:prstGeom>
        </p:spPr>
      </p:pic>
      <p:pic>
        <p:nvPicPr>
          <p:cNvPr id="15" name="Image 14" descr="Une image contenant texte, habits, masque à gaz, capture d’écran&#10;&#10;Description générée automatiquement">
            <a:extLst>
              <a:ext uri="{FF2B5EF4-FFF2-40B4-BE49-F238E27FC236}">
                <a16:creationId xmlns:a16="http://schemas.microsoft.com/office/drawing/2014/main" id="{FE758961-DE0E-4139-1F21-840ADA5EA2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378" y="5251917"/>
            <a:ext cx="1737611" cy="115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7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223FE2-0192-CAD4-2C76-CD680350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Techniques : Génération de 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904BF3-52E2-0FBD-4FE5-9ABD3EF67D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1" y="1527047"/>
            <a:ext cx="8534273" cy="5026153"/>
          </a:xfrm>
        </p:spPr>
        <p:txBody>
          <a:bodyPr>
            <a:normAutofit fontScale="47500" lnSpcReduction="20000"/>
          </a:bodyPr>
          <a:lstStyle/>
          <a:p>
            <a:r>
              <a:rPr lang="fr-FR" dirty="0"/>
              <a:t>Prompt Engineering</a:t>
            </a:r>
          </a:p>
          <a:p>
            <a:pPr lvl="1"/>
            <a:r>
              <a:rPr lang="fr-FR" dirty="0"/>
              <a:t>Instructions explicites et exemples (« few-shot </a:t>
            </a:r>
            <a:r>
              <a:rPr lang="fr-FR" dirty="0" err="1"/>
              <a:t>learning</a:t>
            </a:r>
            <a:r>
              <a:rPr lang="fr-FR" dirty="0"/>
              <a:t> »)</a:t>
            </a:r>
          </a:p>
          <a:p>
            <a:pPr lvl="1"/>
            <a:r>
              <a:rPr lang="fr-FR" dirty="0"/>
              <a:t>Variantes lexicales et stylistiques</a:t>
            </a:r>
          </a:p>
          <a:p>
            <a:pPr lvl="2"/>
            <a:r>
              <a:rPr lang="fr-FR" dirty="0"/>
              <a:t>Qui, Quoi, Pour qui, Quel objectif, Quelle cible, quel format, quel style etc.</a:t>
            </a:r>
          </a:p>
          <a:p>
            <a:pPr lvl="1"/>
            <a:r>
              <a:rPr lang="fr-FR" dirty="0"/>
              <a:t>Prompts Systèmes </a:t>
            </a:r>
          </a:p>
          <a:p>
            <a:pPr lvl="1"/>
            <a:r>
              <a:rPr lang="fr-FR" dirty="0"/>
              <a:t>Structuration pour des tâches complexes, (COT)</a:t>
            </a:r>
          </a:p>
          <a:p>
            <a:pPr lvl="1"/>
            <a:r>
              <a:rPr lang="fr-FR" dirty="0"/>
              <a:t>Évaluation comparative, Exploration (</a:t>
            </a:r>
            <a:r>
              <a:rPr lang="fr-FR" dirty="0" err="1"/>
              <a:t>ToT</a:t>
            </a:r>
            <a:r>
              <a:rPr lang="fr-FR" dirty="0"/>
              <a:t>)</a:t>
            </a:r>
          </a:p>
          <a:p>
            <a:r>
              <a:rPr lang="fr-FR" dirty="0" err="1"/>
              <a:t>Retrieval</a:t>
            </a:r>
            <a:r>
              <a:rPr lang="fr-FR" dirty="0"/>
              <a:t> </a:t>
            </a:r>
            <a:r>
              <a:rPr lang="fr-FR" dirty="0" err="1"/>
              <a:t>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r>
              <a:rPr lang="fr-FR" dirty="0"/>
              <a:t> (RAG)</a:t>
            </a:r>
          </a:p>
          <a:p>
            <a:pPr lvl="1"/>
            <a:r>
              <a:rPr lang="fr-FR" dirty="0"/>
              <a:t>Combinaison de modèles génératifs et bases documentaires</a:t>
            </a:r>
          </a:p>
          <a:p>
            <a:pPr lvl="1"/>
            <a:r>
              <a:rPr lang="fr-FR" dirty="0"/>
              <a:t>Calibration des données, </a:t>
            </a:r>
            <a:r>
              <a:rPr lang="fr-FR" dirty="0" err="1"/>
              <a:t>chunks</a:t>
            </a:r>
            <a:r>
              <a:rPr lang="fr-FR" dirty="0"/>
              <a:t>, </a:t>
            </a:r>
            <a:r>
              <a:rPr lang="fr-FR" dirty="0" err="1"/>
              <a:t>embedding</a:t>
            </a:r>
            <a:r>
              <a:rPr lang="fr-FR" dirty="0"/>
              <a:t>, requêtes et contexte </a:t>
            </a:r>
          </a:p>
          <a:p>
            <a:pPr lvl="2"/>
            <a:r>
              <a:rPr lang="fr-FR" dirty="0"/>
              <a:t>pour éviter le bruit et améliorer la pertinence des réponses.</a:t>
            </a:r>
          </a:p>
          <a:p>
            <a:r>
              <a:rPr lang="fr-FR" dirty="0" err="1"/>
              <a:t>Function</a:t>
            </a:r>
            <a:r>
              <a:rPr lang="fr-FR" dirty="0"/>
              <a:t> Calling et outils intégrés</a:t>
            </a:r>
          </a:p>
          <a:p>
            <a:pPr lvl="1"/>
            <a:r>
              <a:rPr lang="fr-FR" dirty="0"/>
              <a:t>Appels de fonctions via des API</a:t>
            </a:r>
          </a:p>
          <a:p>
            <a:pPr lvl="1"/>
            <a:r>
              <a:rPr lang="fr-FR" dirty="0"/>
              <a:t>Génération structurée, décoration, paramètres</a:t>
            </a:r>
          </a:p>
          <a:p>
            <a:r>
              <a:rPr lang="fr-FR" dirty="0"/>
              <a:t>Orchestration et pipelines</a:t>
            </a:r>
          </a:p>
          <a:p>
            <a:pPr lvl="1"/>
            <a:r>
              <a:rPr lang="fr-FR" dirty="0"/>
              <a:t>Outils pour la structuration des workflows</a:t>
            </a:r>
          </a:p>
          <a:p>
            <a:pPr lvl="1"/>
            <a:r>
              <a:rPr lang="fr-FR" dirty="0"/>
              <a:t>Fonctions sémantiques, natives</a:t>
            </a:r>
          </a:p>
          <a:p>
            <a:pPr lvl="1"/>
            <a:r>
              <a:rPr lang="fr-FR" dirty="0"/>
              <a:t>Composition de prompts, de modèles</a:t>
            </a:r>
          </a:p>
          <a:p>
            <a:pPr lvl="1"/>
            <a:r>
              <a:rPr lang="fr-FR" dirty="0"/>
              <a:t>Ex: </a:t>
            </a:r>
            <a:r>
              <a:rPr lang="fr-FR" dirty="0" err="1"/>
              <a:t>Semantic</a:t>
            </a:r>
            <a:r>
              <a:rPr lang="fr-FR" dirty="0"/>
              <a:t>-kernel, </a:t>
            </a:r>
            <a:r>
              <a:rPr lang="fr-FR" dirty="0" err="1"/>
              <a:t>Langchain</a:t>
            </a:r>
            <a:endParaRPr lang="fr-FR" dirty="0"/>
          </a:p>
          <a:p>
            <a:r>
              <a:rPr lang="fr-FR" dirty="0"/>
              <a:t>Agentique avancée</a:t>
            </a:r>
          </a:p>
          <a:p>
            <a:pPr lvl="1"/>
            <a:r>
              <a:rPr lang="fr-FR" dirty="0"/>
              <a:t>Coordination entre agents pour des tâches complexes</a:t>
            </a:r>
          </a:p>
          <a:p>
            <a:pPr lvl="1"/>
            <a:r>
              <a:rPr lang="fr-FR" dirty="0"/>
              <a:t>Conversations collaboratives, prompts systèmes et fonctions spécifiques</a:t>
            </a:r>
          </a:p>
          <a:p>
            <a:pPr lvl="1"/>
            <a:r>
              <a:rPr lang="fr-FR" dirty="0"/>
              <a:t>Ex: </a:t>
            </a:r>
            <a:r>
              <a:rPr lang="fr-FR" dirty="0" err="1"/>
              <a:t>AutoGen</a:t>
            </a:r>
            <a:r>
              <a:rPr lang="fr-FR" dirty="0"/>
              <a:t>, </a:t>
            </a:r>
            <a:r>
              <a:rPr lang="fr-FR" dirty="0" err="1"/>
              <a:t>Semantic</a:t>
            </a:r>
            <a:r>
              <a:rPr lang="fr-FR" dirty="0"/>
              <a:t>-Kernel</a:t>
            </a:r>
          </a:p>
          <a:p>
            <a:r>
              <a:rPr lang="fr-FR" dirty="0" err="1"/>
              <a:t>Vibe</a:t>
            </a:r>
            <a:r>
              <a:rPr lang="fr-FR" dirty="0"/>
              <a:t> Coding</a:t>
            </a:r>
          </a:p>
          <a:p>
            <a:pPr lvl="1"/>
            <a:r>
              <a:rPr lang="fr-FR" dirty="0" err="1"/>
              <a:t>Copilot</a:t>
            </a:r>
            <a:r>
              <a:rPr lang="fr-FR" dirty="0"/>
              <a:t>, Cline, </a:t>
            </a:r>
            <a:r>
              <a:rPr lang="fr-FR" dirty="0" err="1"/>
              <a:t>Roo</a:t>
            </a:r>
            <a:r>
              <a:rPr lang="fr-FR" dirty="0"/>
              <a:t> (extensions </a:t>
            </a:r>
            <a:r>
              <a:rPr lang="fr-FR" dirty="0" err="1"/>
              <a:t>vscode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CLIs</a:t>
            </a:r>
            <a:r>
              <a:rPr lang="fr-FR" dirty="0"/>
              <a:t> (Claude code, Gemini, </a:t>
            </a:r>
            <a:r>
              <a:rPr lang="fr-FR" dirty="0" err="1"/>
              <a:t>Qwen</a:t>
            </a:r>
            <a:r>
              <a:rPr lang="fr-FR" dirty="0"/>
              <a:t>, Mistral etc.)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D36F15-FCE1-9F30-32F8-CE5F077E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A4FAEC-B108-1C45-6A71-A6BA1725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5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D981D9-CA74-A545-579E-C2B1517D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Techniques: Multimodalité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3FFC0-B059-5658-4999-5D317B364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" y="1371599"/>
            <a:ext cx="4038600" cy="5038725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Graphiques:</a:t>
            </a:r>
          </a:p>
          <a:p>
            <a:pPr lvl="1"/>
            <a:r>
              <a:rPr lang="fr-FR" dirty="0"/>
              <a:t>Modèles de diffusion pour générer des visuels</a:t>
            </a:r>
          </a:p>
          <a:p>
            <a:pPr lvl="2"/>
            <a:r>
              <a:rPr lang="fr-FR" dirty="0" err="1"/>
              <a:t>Dall-e</a:t>
            </a:r>
            <a:r>
              <a:rPr lang="fr-FR" dirty="0"/>
              <a:t>, Stable diffusion, Flux</a:t>
            </a:r>
          </a:p>
          <a:p>
            <a:pPr lvl="2"/>
            <a:r>
              <a:rPr lang="fr-FR" dirty="0"/>
              <a:t>Txt2Img, Img2Img, </a:t>
            </a:r>
            <a:r>
              <a:rPr lang="fr-FR" dirty="0" err="1"/>
              <a:t>Inpainting</a:t>
            </a:r>
            <a:r>
              <a:rPr lang="fr-FR" dirty="0"/>
              <a:t>, </a:t>
            </a:r>
            <a:r>
              <a:rPr lang="fr-FR" dirty="0" err="1"/>
              <a:t>Outpainting</a:t>
            </a:r>
            <a:r>
              <a:rPr lang="fr-FR" dirty="0"/>
              <a:t>, </a:t>
            </a:r>
            <a:r>
              <a:rPr lang="fr-FR" dirty="0" err="1"/>
              <a:t>Finetuning</a:t>
            </a:r>
            <a:r>
              <a:rPr lang="fr-FR" dirty="0"/>
              <a:t> (</a:t>
            </a:r>
            <a:r>
              <a:rPr lang="fr-FR" dirty="0" err="1"/>
              <a:t>Loras</a:t>
            </a:r>
            <a:r>
              <a:rPr lang="fr-FR" dirty="0"/>
              <a:t>), </a:t>
            </a:r>
            <a:r>
              <a:rPr lang="fr-FR" dirty="0" err="1"/>
              <a:t>Upscaling</a:t>
            </a:r>
            <a:r>
              <a:rPr lang="fr-FR" dirty="0"/>
              <a:t>, </a:t>
            </a:r>
            <a:r>
              <a:rPr lang="fr-FR" dirty="0" err="1"/>
              <a:t>ControlNet</a:t>
            </a:r>
            <a:endParaRPr lang="fr-FR" dirty="0"/>
          </a:p>
          <a:p>
            <a:pPr lvl="1"/>
            <a:r>
              <a:rPr lang="fr-FR" dirty="0"/>
              <a:t>Vision</a:t>
            </a:r>
          </a:p>
          <a:p>
            <a:pPr lvl="2"/>
            <a:r>
              <a:rPr lang="fr-FR" dirty="0"/>
              <a:t>GPT-4o, O1, </a:t>
            </a:r>
            <a:r>
              <a:rPr lang="fr-FR" dirty="0" err="1"/>
              <a:t>QwenVL</a:t>
            </a:r>
            <a:r>
              <a:rPr lang="fr-FR" dirty="0"/>
              <a:t>, </a:t>
            </a:r>
            <a:r>
              <a:rPr lang="fr-FR" dirty="0" err="1"/>
              <a:t>InternVL</a:t>
            </a:r>
            <a:endParaRPr lang="fr-FR" dirty="0"/>
          </a:p>
          <a:p>
            <a:pPr lvl="2"/>
            <a:r>
              <a:rPr lang="fr-FR" dirty="0">
                <a:hlinkClick r:id="rId2"/>
              </a:rPr>
              <a:t>Nombreux Benchmarks</a:t>
            </a:r>
            <a:endParaRPr lang="fr-FR" dirty="0"/>
          </a:p>
          <a:p>
            <a:pPr lvl="1"/>
            <a:r>
              <a:rPr lang="fr-FR" dirty="0"/>
              <a:t>Génération Vidéo</a:t>
            </a:r>
          </a:p>
          <a:p>
            <a:pPr lvl="2"/>
            <a:r>
              <a:rPr lang="fr-FR" dirty="0"/>
              <a:t>SD: </a:t>
            </a:r>
            <a:r>
              <a:rPr lang="fr-FR" dirty="0" err="1"/>
              <a:t>Deforum</a:t>
            </a:r>
            <a:r>
              <a:rPr lang="fr-FR" dirty="0"/>
              <a:t>, </a:t>
            </a:r>
            <a:r>
              <a:rPr lang="fr-FR" dirty="0" err="1"/>
              <a:t>AnimateDiff</a:t>
            </a:r>
            <a:endParaRPr lang="fr-FR" dirty="0"/>
          </a:p>
          <a:p>
            <a:pPr lvl="2"/>
            <a:r>
              <a:rPr lang="fr-FR" dirty="0" err="1"/>
              <a:t>Ad-hoc</a:t>
            </a:r>
            <a:r>
              <a:rPr lang="fr-FR" dirty="0"/>
              <a:t>: </a:t>
            </a:r>
            <a:r>
              <a:rPr lang="fr-FR" dirty="0" err="1"/>
              <a:t>Hunyuan</a:t>
            </a:r>
            <a:r>
              <a:rPr lang="fr-FR" dirty="0"/>
              <a:t>, Wan, Google </a:t>
            </a:r>
            <a:r>
              <a:rPr lang="fr-FR" dirty="0" err="1"/>
              <a:t>Veo</a:t>
            </a:r>
            <a:r>
              <a:rPr lang="fr-FR" dirty="0"/>
              <a:t> 3, Sora, </a:t>
            </a:r>
            <a:r>
              <a:rPr lang="fr-FR" dirty="0" err="1"/>
              <a:t>Runway</a:t>
            </a:r>
            <a:r>
              <a:rPr lang="fr-FR" dirty="0"/>
              <a:t>, Kling AI</a:t>
            </a:r>
          </a:p>
          <a:p>
            <a:pPr lvl="1"/>
            <a:r>
              <a:rPr lang="fr-FR" dirty="0"/>
              <a:t>3D</a:t>
            </a:r>
          </a:p>
          <a:p>
            <a:pPr lvl="2"/>
            <a:r>
              <a:rPr lang="fr-FR" dirty="0"/>
              <a:t>Représentation:</a:t>
            </a:r>
          </a:p>
          <a:p>
            <a:pPr lvl="3"/>
            <a:r>
              <a:rPr lang="fr-FR" dirty="0" err="1"/>
              <a:t>Meshes</a:t>
            </a:r>
            <a:r>
              <a:rPr lang="fr-FR" dirty="0"/>
              <a:t>, Radiance Fields (Nerfs), </a:t>
            </a:r>
            <a:r>
              <a:rPr lang="fr-FR" dirty="0" err="1"/>
              <a:t>VoxNet</a:t>
            </a:r>
            <a:r>
              <a:rPr lang="fr-FR" dirty="0"/>
              <a:t> (Convolution) Point </a:t>
            </a:r>
            <a:r>
              <a:rPr lang="fr-FR" dirty="0" err="1"/>
              <a:t>clouds</a:t>
            </a:r>
            <a:r>
              <a:rPr lang="fr-FR" dirty="0"/>
              <a:t> etc.</a:t>
            </a:r>
          </a:p>
          <a:p>
            <a:pPr lvl="2"/>
            <a:r>
              <a:rPr lang="fr-FR" dirty="0"/>
              <a:t>Génération:</a:t>
            </a:r>
          </a:p>
          <a:p>
            <a:pPr lvl="3"/>
            <a:r>
              <a:rPr lang="fr-FR" dirty="0" err="1"/>
              <a:t>DreamFusion</a:t>
            </a:r>
            <a:r>
              <a:rPr lang="fr-FR" dirty="0"/>
              <a:t>, </a:t>
            </a:r>
            <a:r>
              <a:rPr lang="fr-FR" dirty="0" err="1"/>
              <a:t>Trellis</a:t>
            </a:r>
            <a:r>
              <a:rPr lang="fr-FR" dirty="0"/>
              <a:t> (ex: </a:t>
            </a:r>
            <a:r>
              <a:rPr lang="fr-FR" dirty="0" err="1">
                <a:hlinkClick r:id="rId3"/>
              </a:rPr>
              <a:t>Trellis</a:t>
            </a:r>
            <a:r>
              <a:rPr lang="fr-FR" dirty="0">
                <a:hlinkClick r:id="rId3"/>
              </a:rPr>
              <a:t> + </a:t>
            </a:r>
            <a:r>
              <a:rPr lang="fr-FR" dirty="0" err="1">
                <a:hlinkClick r:id="rId3"/>
              </a:rPr>
              <a:t>Comfy</a:t>
            </a:r>
            <a:r>
              <a:rPr lang="fr-FR" dirty="0"/>
              <a:t>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69A5EC-2594-04C0-1B76-23E34B2E0A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/>
              <a:t>Audio</a:t>
            </a:r>
          </a:p>
          <a:p>
            <a:pPr lvl="1"/>
            <a:r>
              <a:rPr lang="fr-FR" dirty="0"/>
              <a:t>Speech-To-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 err="1"/>
              <a:t>Whisper</a:t>
            </a:r>
            <a:r>
              <a:rPr lang="fr-FR" dirty="0"/>
              <a:t>, Moonshine</a:t>
            </a:r>
          </a:p>
          <a:p>
            <a:pPr lvl="1"/>
            <a:r>
              <a:rPr lang="fr-FR" dirty="0" err="1"/>
              <a:t>Text</a:t>
            </a:r>
            <a:r>
              <a:rPr lang="fr-FR" dirty="0"/>
              <a:t>-To-Speech</a:t>
            </a:r>
          </a:p>
          <a:p>
            <a:pPr lvl="2"/>
            <a:r>
              <a:rPr lang="fr-FR" dirty="0" err="1"/>
              <a:t>Elevenlabs</a:t>
            </a:r>
            <a:r>
              <a:rPr lang="fr-FR" dirty="0"/>
              <a:t>, </a:t>
            </a:r>
            <a:r>
              <a:rPr lang="fr-FR" dirty="0" err="1"/>
              <a:t>Kokoro</a:t>
            </a:r>
            <a:endParaRPr lang="fr-FR" dirty="0"/>
          </a:p>
          <a:p>
            <a:pPr lvl="1"/>
            <a:r>
              <a:rPr lang="fr-FR" dirty="0"/>
              <a:t>Musique</a:t>
            </a:r>
          </a:p>
          <a:p>
            <a:pPr lvl="2"/>
            <a:r>
              <a:rPr lang="fr-FR" dirty="0" err="1"/>
              <a:t>Audiocraft</a:t>
            </a:r>
            <a:r>
              <a:rPr lang="fr-FR" dirty="0"/>
              <a:t>, </a:t>
            </a:r>
            <a:r>
              <a:rPr lang="fr-FR" dirty="0" err="1"/>
              <a:t>AudioLDM</a:t>
            </a:r>
            <a:r>
              <a:rPr lang="fr-FR" dirty="0"/>
              <a:t>, </a:t>
            </a:r>
            <a:r>
              <a:rPr lang="fr-FR" dirty="0" err="1"/>
              <a:t>UniAudio</a:t>
            </a:r>
            <a:endParaRPr lang="fr-FR" dirty="0"/>
          </a:p>
          <a:p>
            <a:r>
              <a:rPr lang="fr-FR" dirty="0"/>
              <a:t>Code, </a:t>
            </a:r>
          </a:p>
          <a:p>
            <a:pPr lvl="1"/>
            <a:r>
              <a:rPr lang="fr-FR" dirty="0"/>
              <a:t>UX Variées, Contexte ?</a:t>
            </a:r>
          </a:p>
          <a:p>
            <a:pPr lvl="1"/>
            <a:r>
              <a:rPr lang="fr-FR" dirty="0" err="1"/>
              <a:t>VsCode</a:t>
            </a:r>
            <a:r>
              <a:rPr lang="fr-FR" dirty="0"/>
              <a:t>: </a:t>
            </a:r>
            <a:r>
              <a:rPr lang="fr-FR" dirty="0" err="1"/>
              <a:t>Copilot</a:t>
            </a:r>
            <a:r>
              <a:rPr lang="fr-FR" dirty="0"/>
              <a:t>, Cline, Continue</a:t>
            </a:r>
          </a:p>
          <a:p>
            <a:r>
              <a:rPr lang="fr-FR" dirty="0"/>
              <a:t>Maths : </a:t>
            </a:r>
          </a:p>
          <a:p>
            <a:pPr lvl="1"/>
            <a:r>
              <a:rPr lang="fr-FR" dirty="0"/>
              <a:t>Modèles de </a:t>
            </a:r>
            <a:r>
              <a:rPr lang="fr-FR" dirty="0" err="1"/>
              <a:t>Reflexion</a:t>
            </a:r>
            <a:endParaRPr lang="fr-FR" dirty="0"/>
          </a:p>
          <a:p>
            <a:pPr lvl="2"/>
            <a:r>
              <a:rPr lang="fr-FR" dirty="0"/>
              <a:t>Propriétaires: </a:t>
            </a:r>
            <a:r>
              <a:rPr lang="fr-FR" dirty="0" err="1"/>
              <a:t>OpenAI</a:t>
            </a:r>
            <a:r>
              <a:rPr lang="fr-FR" dirty="0"/>
              <a:t>, Google</a:t>
            </a:r>
          </a:p>
          <a:p>
            <a:pPr lvl="2"/>
            <a:r>
              <a:rPr lang="fr-FR" dirty="0"/>
              <a:t>Open-Source: </a:t>
            </a:r>
            <a:r>
              <a:rPr lang="fr-FR" dirty="0" err="1"/>
              <a:t>Deepseek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638844-CF82-4E6A-96AE-5567B463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EBFDF5-5C23-795F-869B-4B87D6AB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34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E122D5-4635-A88D-2583-24CDBB74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Ecosystème </a:t>
            </a:r>
            <a:r>
              <a:rPr lang="fr-FR" dirty="0" err="1"/>
              <a:t>GenAI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12DE29-C728-04D2-14B6-3DB03341AD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5026153"/>
          </a:xfrm>
        </p:spPr>
        <p:txBody>
          <a:bodyPr>
            <a:normAutofit fontScale="47500" lnSpcReduction="20000"/>
          </a:bodyPr>
          <a:lstStyle/>
          <a:p>
            <a:r>
              <a:rPr lang="fr-FR" dirty="0"/>
              <a:t>Modèles et APIs</a:t>
            </a:r>
          </a:p>
          <a:p>
            <a:pPr lvl="1"/>
            <a:r>
              <a:rPr lang="fr-FR" dirty="0"/>
              <a:t>APIs propriétaires</a:t>
            </a:r>
          </a:p>
          <a:p>
            <a:pPr lvl="2"/>
            <a:r>
              <a:rPr lang="fr-FR" dirty="0" err="1"/>
              <a:t>OpenAI</a:t>
            </a:r>
            <a:r>
              <a:rPr lang="fr-FR" dirty="0"/>
              <a:t>, </a:t>
            </a:r>
            <a:r>
              <a:rPr lang="fr-FR" dirty="0" err="1"/>
              <a:t>Anthropic</a:t>
            </a:r>
            <a:r>
              <a:rPr lang="fr-FR" dirty="0"/>
              <a:t>, Google, Mistral, etc.</a:t>
            </a:r>
          </a:p>
          <a:p>
            <a:pPr lvl="2"/>
            <a:r>
              <a:rPr lang="fr-FR" dirty="0" err="1"/>
              <a:t>Aggrégateur</a:t>
            </a:r>
            <a:r>
              <a:rPr lang="fr-FR" dirty="0"/>
              <a:t>: </a:t>
            </a:r>
            <a:r>
              <a:rPr lang="fr-FR" dirty="0" err="1"/>
              <a:t>OpenRouter</a:t>
            </a:r>
            <a:endParaRPr lang="fr-FR" dirty="0"/>
          </a:p>
          <a:p>
            <a:pPr lvl="1"/>
            <a:r>
              <a:rPr lang="fr-FR" dirty="0"/>
              <a:t>Modèles Locaux</a:t>
            </a:r>
          </a:p>
          <a:p>
            <a:pPr lvl="2"/>
            <a:r>
              <a:rPr lang="fr-FR" dirty="0" err="1"/>
              <a:t>Llama</a:t>
            </a:r>
            <a:r>
              <a:rPr lang="fr-FR" dirty="0"/>
              <a:t>, Mistral, Gemini, Ms Phi, </a:t>
            </a:r>
            <a:r>
              <a:rPr lang="fr-FR" dirty="0" err="1"/>
              <a:t>Qwen</a:t>
            </a:r>
            <a:r>
              <a:rPr lang="fr-FR" dirty="0"/>
              <a:t>, </a:t>
            </a:r>
            <a:r>
              <a:rPr lang="fr-FR" dirty="0" err="1"/>
              <a:t>DeepSeek</a:t>
            </a:r>
            <a:r>
              <a:rPr lang="fr-FR" dirty="0"/>
              <a:t> etc.</a:t>
            </a:r>
          </a:p>
          <a:p>
            <a:pPr lvl="2"/>
            <a:r>
              <a:rPr lang="fr-FR" dirty="0"/>
              <a:t>Diffuseurs: </a:t>
            </a:r>
            <a:r>
              <a:rPr lang="fr-FR" dirty="0" err="1"/>
              <a:t>Hugging</a:t>
            </a:r>
            <a:r>
              <a:rPr lang="fr-FR" dirty="0"/>
              <a:t> Face, </a:t>
            </a:r>
            <a:r>
              <a:rPr lang="fr-FR" dirty="0" err="1"/>
              <a:t>Github</a:t>
            </a:r>
            <a:endParaRPr lang="fr-FR" dirty="0"/>
          </a:p>
          <a:p>
            <a:pPr lvl="2"/>
            <a:r>
              <a:rPr lang="fr-FR" dirty="0">
                <a:hlinkClick r:id="rId2"/>
              </a:rPr>
              <a:t>Nombreux Benchmarks</a:t>
            </a:r>
            <a:endParaRPr lang="fr-FR" dirty="0"/>
          </a:p>
          <a:p>
            <a:r>
              <a:rPr lang="fr-FR" dirty="0"/>
              <a:t>Hébergement</a:t>
            </a:r>
          </a:p>
          <a:p>
            <a:pPr lvl="1"/>
            <a:r>
              <a:rPr lang="fr-FR" dirty="0"/>
              <a:t>Cloud</a:t>
            </a:r>
          </a:p>
          <a:p>
            <a:pPr lvl="2"/>
            <a:r>
              <a:rPr lang="fr-FR" dirty="0"/>
              <a:t>LLM </a:t>
            </a:r>
            <a:r>
              <a:rPr lang="fr-FR" dirty="0" err="1"/>
              <a:t>Hosting</a:t>
            </a:r>
            <a:r>
              <a:rPr lang="fr-FR" dirty="0"/>
              <a:t> </a:t>
            </a:r>
          </a:p>
          <a:p>
            <a:pPr lvl="3"/>
            <a:r>
              <a:rPr lang="fr-FR" dirty="0" err="1"/>
              <a:t>Hugging</a:t>
            </a:r>
            <a:r>
              <a:rPr lang="fr-FR" dirty="0"/>
              <a:t> Face, </a:t>
            </a:r>
            <a:r>
              <a:rPr lang="fr-FR" dirty="0" err="1"/>
              <a:t>Groq</a:t>
            </a:r>
            <a:endParaRPr lang="fr-FR" dirty="0"/>
          </a:p>
          <a:p>
            <a:pPr lvl="2"/>
            <a:r>
              <a:rPr lang="fr-FR" dirty="0"/>
              <a:t>Location de </a:t>
            </a:r>
            <a:r>
              <a:rPr lang="fr-FR" dirty="0" err="1"/>
              <a:t>GPUs</a:t>
            </a:r>
            <a:endParaRPr lang="fr-FR" dirty="0"/>
          </a:p>
          <a:p>
            <a:pPr lvl="3"/>
            <a:r>
              <a:rPr lang="fr-FR" dirty="0" err="1"/>
              <a:t>Runpod</a:t>
            </a:r>
            <a:r>
              <a:rPr lang="fr-FR" dirty="0"/>
              <a:t>, </a:t>
            </a:r>
            <a:r>
              <a:rPr lang="fr-FR" dirty="0" err="1"/>
              <a:t>VastAI</a:t>
            </a:r>
            <a:endParaRPr lang="fr-FR" dirty="0"/>
          </a:p>
          <a:p>
            <a:pPr lvl="2"/>
            <a:r>
              <a:rPr lang="fr-FR" dirty="0"/>
              <a:t>Grand </a:t>
            </a:r>
            <a:r>
              <a:rPr lang="fr-FR" dirty="0" err="1"/>
              <a:t>clouds</a:t>
            </a:r>
            <a:r>
              <a:rPr lang="fr-FR" dirty="0"/>
              <a:t> généralistes</a:t>
            </a:r>
          </a:p>
          <a:p>
            <a:pPr lvl="3"/>
            <a:r>
              <a:rPr lang="fr-FR" dirty="0"/>
              <a:t>AWS, Azure, Google etc.</a:t>
            </a:r>
          </a:p>
          <a:p>
            <a:pPr lvl="1"/>
            <a:r>
              <a:rPr lang="fr-FR" dirty="0"/>
              <a:t>Local</a:t>
            </a:r>
          </a:p>
          <a:p>
            <a:pPr lvl="2"/>
            <a:r>
              <a:rPr lang="fr-FR" dirty="0" err="1"/>
              <a:t>Oobabooga</a:t>
            </a:r>
            <a:r>
              <a:rPr lang="fr-FR" dirty="0"/>
              <a:t>, </a:t>
            </a:r>
            <a:r>
              <a:rPr lang="fr-FR" dirty="0" err="1"/>
              <a:t>Ollama</a:t>
            </a:r>
            <a:r>
              <a:rPr lang="fr-FR" dirty="0"/>
              <a:t>, </a:t>
            </a:r>
            <a:r>
              <a:rPr lang="fr-FR" dirty="0" err="1"/>
              <a:t>Vllm</a:t>
            </a:r>
            <a:endParaRPr lang="fr-FR" dirty="0"/>
          </a:p>
          <a:p>
            <a:pPr lvl="2"/>
            <a:r>
              <a:rPr lang="fr-FR" dirty="0" err="1"/>
              <a:t>Quants</a:t>
            </a:r>
            <a:r>
              <a:rPr lang="fr-FR" dirty="0"/>
              <a:t> (</a:t>
            </a:r>
            <a:r>
              <a:rPr lang="fr-FR" dirty="0" err="1"/>
              <a:t>gguf</a:t>
            </a:r>
            <a:r>
              <a:rPr lang="fr-FR" dirty="0"/>
              <a:t>, exl2/3, AWQ etc.)</a:t>
            </a:r>
          </a:p>
          <a:p>
            <a:pPr lvl="1"/>
            <a:r>
              <a:rPr lang="fr-FR" dirty="0"/>
              <a:t>Containerisation</a:t>
            </a:r>
          </a:p>
          <a:p>
            <a:pPr lvl="2"/>
            <a:r>
              <a:rPr lang="fr-FR" dirty="0"/>
              <a:t>Docker/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/>
              <a:t>Hybride</a:t>
            </a:r>
          </a:p>
          <a:p>
            <a:pPr lvl="2"/>
            <a:r>
              <a:rPr lang="fr-FR" dirty="0"/>
              <a:t>Ex: </a:t>
            </a:r>
            <a:r>
              <a:rPr lang="fr-FR" dirty="0" err="1"/>
              <a:t>Tailscale</a:t>
            </a:r>
            <a:r>
              <a:rPr lang="fr-FR" dirty="0"/>
              <a:t> (réseau)</a:t>
            </a:r>
          </a:p>
          <a:p>
            <a:r>
              <a:rPr lang="fr-FR" dirty="0"/>
              <a:t>Image</a:t>
            </a:r>
          </a:p>
          <a:p>
            <a:pPr lvl="1"/>
            <a:r>
              <a:rPr lang="fr-FR" dirty="0"/>
              <a:t>Modèles: Stable-Diffusion, Flux, </a:t>
            </a:r>
            <a:r>
              <a:rPr lang="fr-FR" dirty="0" err="1"/>
              <a:t>Qwen</a:t>
            </a:r>
            <a:r>
              <a:rPr lang="fr-FR" dirty="0"/>
              <a:t> Image Edit, </a:t>
            </a:r>
            <a:r>
              <a:rPr lang="fr-FR"/>
              <a:t>Z-image Turbo, </a:t>
            </a:r>
            <a:r>
              <a:rPr lang="fr-FR" dirty="0" err="1"/>
              <a:t>CivitAI</a:t>
            </a:r>
            <a:endParaRPr lang="fr-FR" dirty="0"/>
          </a:p>
          <a:p>
            <a:pPr lvl="1"/>
            <a:r>
              <a:rPr lang="fr-FR" dirty="0"/>
              <a:t>Apps: Forge, </a:t>
            </a:r>
            <a:r>
              <a:rPr lang="fr-FR" dirty="0" err="1"/>
              <a:t>ComfyUI</a:t>
            </a:r>
            <a:endParaRPr lang="fr-FR" dirty="0"/>
          </a:p>
          <a:p>
            <a:r>
              <a:rPr lang="fr-FR" dirty="0"/>
              <a:t>Conversationnel</a:t>
            </a:r>
          </a:p>
          <a:p>
            <a:pPr lvl="1"/>
            <a:r>
              <a:rPr lang="fr-FR" dirty="0"/>
              <a:t>Généralistes: </a:t>
            </a:r>
          </a:p>
          <a:p>
            <a:pPr lvl="2"/>
            <a:r>
              <a:rPr lang="fr-FR" dirty="0"/>
              <a:t>Open-</a:t>
            </a:r>
            <a:r>
              <a:rPr lang="fr-FR" dirty="0" err="1"/>
              <a:t>webui</a:t>
            </a:r>
            <a:r>
              <a:rPr lang="fr-FR" dirty="0"/>
              <a:t>, </a:t>
            </a:r>
            <a:r>
              <a:rPr lang="fr-FR" dirty="0" err="1"/>
              <a:t>SillyTarvern</a:t>
            </a:r>
            <a:endParaRPr lang="fr-FR" dirty="0"/>
          </a:p>
          <a:p>
            <a:pPr lvl="1"/>
            <a:r>
              <a:rPr lang="fr-FR" dirty="0"/>
              <a:t>Workflows Pro / </a:t>
            </a:r>
            <a:r>
              <a:rPr lang="fr-FR" dirty="0" err="1"/>
              <a:t>LLMOps</a:t>
            </a:r>
            <a:r>
              <a:rPr lang="fr-FR" dirty="0"/>
              <a:t>: </a:t>
            </a:r>
          </a:p>
          <a:p>
            <a:pPr lvl="2"/>
            <a:r>
              <a:rPr lang="fr-FR" dirty="0" err="1"/>
              <a:t>Dify</a:t>
            </a:r>
            <a:r>
              <a:rPr lang="fr-FR" dirty="0"/>
              <a:t>, </a:t>
            </a:r>
            <a:r>
              <a:rPr lang="fr-FR" dirty="0" err="1"/>
              <a:t>Langflow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0973AC-2954-B195-6BE6-593A8395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909EC9-7D41-597E-E35C-3A7F28ED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7" name="Image 6" descr="Une image contenant symbole, logo, Graphique, Police&#10;&#10;Description générée automatiquement">
            <a:extLst>
              <a:ext uri="{FF2B5EF4-FFF2-40B4-BE49-F238E27FC236}">
                <a16:creationId xmlns:a16="http://schemas.microsoft.com/office/drawing/2014/main" id="{537E0C2F-9567-78F1-E002-6DDBBDF744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600200"/>
            <a:ext cx="762000" cy="762000"/>
          </a:xfrm>
          <a:prstGeom prst="rect">
            <a:avLst/>
          </a:prstGeom>
        </p:spPr>
      </p:pic>
      <p:pic>
        <p:nvPicPr>
          <p:cNvPr id="9" name="Image 8" descr="Une image contenant clipart, dessin humoristique, smiley, émoticône&#10;&#10;Description générée automatiquement">
            <a:extLst>
              <a:ext uri="{FF2B5EF4-FFF2-40B4-BE49-F238E27FC236}">
                <a16:creationId xmlns:a16="http://schemas.microsoft.com/office/drawing/2014/main" id="{084D1BE5-B9D1-9063-82F2-08BD4F63CE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76" y="2362199"/>
            <a:ext cx="653986" cy="653986"/>
          </a:xfrm>
          <a:prstGeom prst="rect">
            <a:avLst/>
          </a:prstGeom>
        </p:spPr>
      </p:pic>
      <p:pic>
        <p:nvPicPr>
          <p:cNvPr id="11" name="Image 10" descr="Une image contenant cube&#10;&#10;Description générée automatiquement avec une confiance faible">
            <a:extLst>
              <a:ext uri="{FF2B5EF4-FFF2-40B4-BE49-F238E27FC236}">
                <a16:creationId xmlns:a16="http://schemas.microsoft.com/office/drawing/2014/main" id="{6C78C1BC-41EC-DB9F-C832-7EEC82D107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650" y="2787585"/>
            <a:ext cx="1066800" cy="1066800"/>
          </a:xfrm>
          <a:prstGeom prst="rect">
            <a:avLst/>
          </a:prstGeom>
        </p:spPr>
      </p:pic>
      <p:pic>
        <p:nvPicPr>
          <p:cNvPr id="13" name="Image 12" descr="Une image contenant Graphique, blanc, symbole, noir&#10;&#10;Description générée automatiquement">
            <a:extLst>
              <a:ext uri="{FF2B5EF4-FFF2-40B4-BE49-F238E27FC236}">
                <a16:creationId xmlns:a16="http://schemas.microsoft.com/office/drawing/2014/main" id="{E674B25A-E3E0-088D-C7E3-6BE1910332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229" y="3016185"/>
            <a:ext cx="609600" cy="609600"/>
          </a:xfrm>
          <a:prstGeom prst="rect">
            <a:avLst/>
          </a:prstGeom>
        </p:spPr>
      </p:pic>
      <p:pic>
        <p:nvPicPr>
          <p:cNvPr id="17" name="Image 16" descr="Une image contenant Police, Graphique, cercle, logo&#10;&#10;Description générée automatiquement">
            <a:extLst>
              <a:ext uri="{FF2B5EF4-FFF2-40B4-BE49-F238E27FC236}">
                <a16:creationId xmlns:a16="http://schemas.microsoft.com/office/drawing/2014/main" id="{16413138-F7A6-D7A1-F0A4-C36C5297EC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068" y="3276872"/>
            <a:ext cx="1025202" cy="374839"/>
          </a:xfrm>
          <a:prstGeom prst="rect">
            <a:avLst/>
          </a:prstGeom>
        </p:spPr>
      </p:pic>
      <p:pic>
        <p:nvPicPr>
          <p:cNvPr id="19" name="Image 18" descr="Une image contenant capture d’écran, Graphique, Police, graphisme&#10;&#10;Description générée automatiquement">
            <a:extLst>
              <a:ext uri="{FF2B5EF4-FFF2-40B4-BE49-F238E27FC236}">
                <a16:creationId xmlns:a16="http://schemas.microsoft.com/office/drawing/2014/main" id="{68608843-ED36-0D7E-C74B-E0EF31305E7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525" y="3949701"/>
            <a:ext cx="1905000" cy="546100"/>
          </a:xfrm>
          <a:prstGeom prst="rect">
            <a:avLst/>
          </a:prstGeom>
        </p:spPr>
      </p:pic>
      <p:pic>
        <p:nvPicPr>
          <p:cNvPr id="21" name="Image 20" descr="Une image contenant clipart, croquis, dessin, dessin humoristique&#10;&#10;Description générée automatiquement">
            <a:extLst>
              <a:ext uri="{FF2B5EF4-FFF2-40B4-BE49-F238E27FC236}">
                <a16:creationId xmlns:a16="http://schemas.microsoft.com/office/drawing/2014/main" id="{EE7A9BBB-EBFF-0793-A5EB-664FE1096C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870" y="3987475"/>
            <a:ext cx="877705" cy="503992"/>
          </a:xfrm>
          <a:prstGeom prst="rect">
            <a:avLst/>
          </a:prstGeom>
        </p:spPr>
      </p:pic>
      <p:pic>
        <p:nvPicPr>
          <p:cNvPr id="25" name="Image 24" descr="Une image contenant grenouille, amphibien, Rainette, ordinateur&#10;&#10;Description générée automatiquement">
            <a:extLst>
              <a:ext uri="{FF2B5EF4-FFF2-40B4-BE49-F238E27FC236}">
                <a16:creationId xmlns:a16="http://schemas.microsoft.com/office/drawing/2014/main" id="{1415EE06-ACEA-FEEA-D0E7-84EE92EF312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423" y="3931049"/>
            <a:ext cx="583403" cy="583403"/>
          </a:xfrm>
          <a:prstGeom prst="rect">
            <a:avLst/>
          </a:prstGeom>
        </p:spPr>
      </p:pic>
      <p:pic>
        <p:nvPicPr>
          <p:cNvPr id="27" name="Image 26" descr="Une image contenant conception, origami&#10;&#10;Description générée automatiquement">
            <a:extLst>
              <a:ext uri="{FF2B5EF4-FFF2-40B4-BE49-F238E27FC236}">
                <a16:creationId xmlns:a16="http://schemas.microsoft.com/office/drawing/2014/main" id="{07B06992-D243-75C4-0C5B-73ABD5F6BA7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922" y="4803316"/>
            <a:ext cx="704671" cy="704671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8F6F9F83-5086-1798-9DFB-B653B43C82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7220" y="4807574"/>
            <a:ext cx="1257430" cy="704671"/>
          </a:xfrm>
          <a:prstGeom prst="rect">
            <a:avLst/>
          </a:prstGeom>
        </p:spPr>
      </p:pic>
      <p:pic>
        <p:nvPicPr>
          <p:cNvPr id="33" name="Image 32" descr="Une image contenant Graphique, graphisme, rouge, Police&#10;&#10;Description générée automatiquement">
            <a:extLst>
              <a:ext uri="{FF2B5EF4-FFF2-40B4-BE49-F238E27FC236}">
                <a16:creationId xmlns:a16="http://schemas.microsoft.com/office/drawing/2014/main" id="{2AA820B3-FD04-3581-F7A8-B90143EE14A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270" y="5699674"/>
            <a:ext cx="611330" cy="611330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78138514-8983-7869-2C91-C0A1A75CB41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74709" y="5713571"/>
            <a:ext cx="611331" cy="612566"/>
          </a:xfrm>
          <a:prstGeom prst="rect">
            <a:avLst/>
          </a:prstGeom>
        </p:spPr>
      </p:pic>
      <p:pic>
        <p:nvPicPr>
          <p:cNvPr id="41" name="Image 40" descr="Une image contenant Graphique, Police, capture d’écran, logo&#10;&#10;Description générée automatiquement">
            <a:extLst>
              <a:ext uri="{FF2B5EF4-FFF2-40B4-BE49-F238E27FC236}">
                <a16:creationId xmlns:a16="http://schemas.microsoft.com/office/drawing/2014/main" id="{F4380B17-CF3A-6FE0-7620-ABAC3A16640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45" y="5908667"/>
            <a:ext cx="877705" cy="36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0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19F6C-DB6D-7786-BBC7-02C2D915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Ethiques et sociétaux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CC372F-91EC-B4C5-6644-70A3CC727C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Biais et discrimination</a:t>
            </a:r>
          </a:p>
          <a:p>
            <a:pPr lvl="1"/>
            <a:r>
              <a:rPr lang="fr-FR" dirty="0"/>
              <a:t>Présence de stéréotypes </a:t>
            </a:r>
          </a:p>
          <a:p>
            <a:pPr lvl="2"/>
            <a:r>
              <a:rPr lang="fr-FR" dirty="0"/>
              <a:t>dans les données d’entraînement.</a:t>
            </a:r>
          </a:p>
          <a:p>
            <a:pPr lvl="1"/>
            <a:r>
              <a:rPr lang="fr-FR" dirty="0"/>
              <a:t>Technique de </a:t>
            </a:r>
            <a:r>
              <a:rPr lang="fr-FR" dirty="0" err="1"/>
              <a:t>débiaisage</a:t>
            </a:r>
            <a:r>
              <a:rPr lang="fr-FR" dirty="0"/>
              <a:t> des modèles</a:t>
            </a:r>
          </a:p>
          <a:p>
            <a:r>
              <a:rPr lang="fr-FR" dirty="0"/>
              <a:t>Illusions</a:t>
            </a:r>
          </a:p>
          <a:p>
            <a:pPr lvl="1"/>
            <a:r>
              <a:rPr lang="fr-FR" dirty="0"/>
              <a:t>Hallucinations</a:t>
            </a:r>
          </a:p>
          <a:p>
            <a:pPr lvl="2"/>
            <a:r>
              <a:rPr lang="fr-FR" dirty="0"/>
              <a:t>Réponses incorrectes mais plausibles</a:t>
            </a:r>
          </a:p>
          <a:p>
            <a:pPr lvl="1"/>
            <a:r>
              <a:rPr lang="fr-FR" dirty="0"/>
              <a:t>Illusion de correction</a:t>
            </a:r>
          </a:p>
          <a:p>
            <a:pPr lvl="2"/>
            <a:r>
              <a:rPr lang="fr-FR" dirty="0"/>
              <a:t>Confiance exagérée des utilisateurs dans les résultats</a:t>
            </a:r>
          </a:p>
          <a:p>
            <a:r>
              <a:rPr lang="fr-FR" dirty="0"/>
              <a:t>Impact Environnemental</a:t>
            </a:r>
          </a:p>
          <a:p>
            <a:pPr lvl="1"/>
            <a:r>
              <a:rPr lang="fr-FR" dirty="0"/>
              <a:t>Coûts énergétiques (</a:t>
            </a:r>
            <a:r>
              <a:rPr lang="fr-FR" dirty="0" err="1"/>
              <a:t>GPUs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Apprentissage </a:t>
            </a:r>
          </a:p>
          <a:p>
            <a:r>
              <a:rPr lang="fr-FR" i="1" dirty="0">
                <a:solidFill>
                  <a:srgbClr val="FF0000"/>
                </a:solidFill>
              </a:rPr>
              <a:t>Activité: </a:t>
            </a:r>
            <a:r>
              <a:rPr lang="fr-FR" i="1" dirty="0" err="1">
                <a:solidFill>
                  <a:srgbClr val="FF0000"/>
                </a:solidFill>
              </a:rPr>
              <a:t>Dataset</a:t>
            </a:r>
            <a:r>
              <a:rPr lang="fr-FR" i="1" dirty="0">
                <a:solidFill>
                  <a:srgbClr val="FF0000"/>
                </a:solidFill>
              </a:rPr>
              <a:t> biaisé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Conception d’un </a:t>
            </a:r>
            <a:r>
              <a:rPr lang="fr-FR" i="1" dirty="0" err="1">
                <a:solidFill>
                  <a:srgbClr val="FF0000"/>
                </a:solidFill>
              </a:rPr>
              <a:t>dataset</a:t>
            </a:r>
            <a:r>
              <a:rPr lang="fr-FR" i="1" dirty="0">
                <a:solidFill>
                  <a:srgbClr val="FF0000"/>
                </a:solidFill>
              </a:rPr>
              <a:t> synthétique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Ajout d’un biais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Détection du biais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D09743-7B55-85EB-45FF-A10C88E5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59F3FC-BD4F-8D81-92A9-B800947C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F3C89F0-CCEB-38F1-3319-BD9532BD6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857" y="1527048"/>
            <a:ext cx="1227218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61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E49C9-35FA-2F7C-5967-A9A9DD5C7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Régulation et droit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FB8CC9-7C4B-251A-0419-536B459A3F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Propriété intellectuelle</a:t>
            </a:r>
          </a:p>
          <a:p>
            <a:pPr lvl="1"/>
            <a:r>
              <a:rPr lang="fr-FR" dirty="0"/>
              <a:t>Droits sur les contenus générés.</a:t>
            </a:r>
          </a:p>
          <a:p>
            <a:pPr lvl="1"/>
            <a:r>
              <a:rPr lang="fr-FR" dirty="0"/>
              <a:t>Modèles open-source vs propriétaires.</a:t>
            </a:r>
          </a:p>
          <a:p>
            <a:r>
              <a:rPr lang="fr-FR" dirty="0"/>
              <a:t>Protection des données</a:t>
            </a:r>
          </a:p>
          <a:p>
            <a:pPr lvl="1"/>
            <a:r>
              <a:rPr lang="fr-FR" dirty="0"/>
              <a:t>Risques : Confidentialité et conformité au RGPD.</a:t>
            </a:r>
          </a:p>
          <a:p>
            <a:pPr lvl="1"/>
            <a:r>
              <a:rPr lang="fr-FR" dirty="0"/>
              <a:t>Bonnes pratiques :</a:t>
            </a:r>
          </a:p>
          <a:p>
            <a:pPr lvl="2"/>
            <a:r>
              <a:rPr lang="fr-FR" dirty="0"/>
              <a:t>Anonymisation des données.</a:t>
            </a:r>
          </a:p>
          <a:p>
            <a:pPr lvl="2"/>
            <a:r>
              <a:rPr lang="fr-FR" dirty="0"/>
              <a:t>Formation des équipes sur la règlementation.</a:t>
            </a:r>
          </a:p>
          <a:p>
            <a:r>
              <a:rPr lang="fr-FR" dirty="0"/>
              <a:t>Normes émergentes et recommandations</a:t>
            </a:r>
          </a:p>
          <a:p>
            <a:pPr lvl="1"/>
            <a:r>
              <a:rPr lang="fr-FR" dirty="0"/>
              <a:t>Initiatives internationales :</a:t>
            </a:r>
          </a:p>
          <a:p>
            <a:pPr lvl="2"/>
            <a:r>
              <a:rPr lang="fr-FR" dirty="0"/>
              <a:t>Régulation européenne (AI </a:t>
            </a:r>
            <a:r>
              <a:rPr lang="fr-FR" dirty="0" err="1"/>
              <a:t>Act</a:t>
            </a:r>
            <a:r>
              <a:rPr lang="fr-FR" dirty="0"/>
              <a:t> – en vigueur depuis 01/08/2024).</a:t>
            </a:r>
          </a:p>
          <a:p>
            <a:pPr lvl="2"/>
            <a:r>
              <a:rPr lang="fr-FR" dirty="0"/>
              <a:t>Position des États-Unis sur l’IA. </a:t>
            </a:r>
          </a:p>
          <a:p>
            <a:pPr lvl="3"/>
            <a:r>
              <a:rPr lang="fr-FR" dirty="0"/>
              <a:t>11/02/25: Trump signe un </a:t>
            </a:r>
            <a:r>
              <a:rPr lang="fr-FR" dirty="0" err="1"/>
              <a:t>Executive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bloquant les régulations IA des états</a:t>
            </a:r>
          </a:p>
          <a:p>
            <a:pPr lvl="1"/>
            <a:r>
              <a:rPr lang="fr-FR" dirty="0"/>
              <a:t>Exemples pratiques :</a:t>
            </a:r>
          </a:p>
          <a:p>
            <a:pPr lvl="2"/>
            <a:r>
              <a:rPr lang="fr-FR" dirty="0" err="1"/>
              <a:t>Agentic</a:t>
            </a:r>
            <a:r>
              <a:rPr lang="fr-FR" dirty="0"/>
              <a:t> AI </a:t>
            </a:r>
            <a:r>
              <a:rPr lang="fr-FR" dirty="0" err="1"/>
              <a:t>Foundation</a:t>
            </a:r>
            <a:r>
              <a:rPr lang="fr-FR" dirty="0"/>
              <a:t> (9/12/25): </a:t>
            </a:r>
            <a:r>
              <a:rPr lang="fr-FR" dirty="0" err="1"/>
              <a:t>OpenAI</a:t>
            </a:r>
            <a:r>
              <a:rPr lang="fr-FR" dirty="0"/>
              <a:t>, </a:t>
            </a:r>
            <a:r>
              <a:rPr lang="fr-FR" dirty="0" err="1"/>
              <a:t>Anthropic</a:t>
            </a:r>
            <a:r>
              <a:rPr lang="fr-FR" dirty="0"/>
              <a:t> et Block établissent MCP (Model </a:t>
            </a:r>
            <a:r>
              <a:rPr lang="fr-FR" dirty="0" err="1"/>
              <a:t>Context</a:t>
            </a:r>
            <a:r>
              <a:rPr lang="fr-FR" dirty="0"/>
              <a:t> Protocol) comme standard mondial pour les agents IA.</a:t>
            </a:r>
          </a:p>
          <a:p>
            <a:pPr lvl="2"/>
            <a:r>
              <a:rPr lang="fr-FR" dirty="0"/>
              <a:t>Licences open-source responsables.</a:t>
            </a:r>
          </a:p>
          <a:p>
            <a:r>
              <a:rPr lang="fr-FR" dirty="0"/>
              <a:t>Droits des </a:t>
            </a:r>
            <a:r>
              <a:rPr lang="fr-FR" dirty="0" err="1"/>
              <a:t>IAs</a:t>
            </a:r>
            <a:endParaRPr lang="fr-FR" dirty="0"/>
          </a:p>
          <a:p>
            <a:pPr lvl="1"/>
            <a:r>
              <a:rPr lang="fr-FR" dirty="0"/>
              <a:t>Bientôt: IA surhumaine, émergence de la conscience artificielle</a:t>
            </a:r>
          </a:p>
          <a:p>
            <a:pPr lvl="1"/>
            <a:r>
              <a:rPr lang="fr-FR" dirty="0"/>
              <a:t>Droits des agents, autonomie ? Pouvoir économique (Cryptos)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BBDF81-E12D-66C8-10D3-494A68F1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58FA87-EA11-F62D-B78D-6A38BD64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38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3F74F1-1196-60D9-818C-9F7D9845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Risques et limites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284C00-7240-4B43-BF80-249C65437CB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47500" lnSpcReduction="20000"/>
          </a:bodyPr>
          <a:lstStyle/>
          <a:p>
            <a:r>
              <a:rPr lang="fr-FR" dirty="0"/>
              <a:t>Fiabilité des modèles</a:t>
            </a:r>
          </a:p>
          <a:p>
            <a:pPr lvl="1"/>
            <a:r>
              <a:rPr lang="fr-FR" dirty="0"/>
              <a:t>Hallucinations et fabrications</a:t>
            </a:r>
          </a:p>
          <a:p>
            <a:pPr lvl="2"/>
            <a:r>
              <a:rPr lang="fr-FR" dirty="0"/>
              <a:t>Impact sur la confiance utilisateur.</a:t>
            </a:r>
          </a:p>
          <a:p>
            <a:pPr lvl="2"/>
            <a:r>
              <a:rPr lang="fr-FR" dirty="0"/>
              <a:t>Nécessité de tests rigoureux avant le déploiement en entreprise.</a:t>
            </a:r>
          </a:p>
          <a:p>
            <a:pPr lvl="2"/>
            <a:r>
              <a:rPr lang="fr-FR" dirty="0"/>
              <a:t>Solutions :</a:t>
            </a:r>
          </a:p>
          <a:p>
            <a:pPr lvl="3"/>
            <a:r>
              <a:rPr lang="fr-FR" dirty="0"/>
              <a:t>Développement d’algorithmes robustes.</a:t>
            </a:r>
          </a:p>
          <a:p>
            <a:pPr lvl="3"/>
            <a:r>
              <a:rPr lang="fr-FR" dirty="0"/>
              <a:t>Mécanismes de vérification croisée entre plusieurs modèles.</a:t>
            </a:r>
          </a:p>
          <a:p>
            <a:pPr lvl="3"/>
            <a:r>
              <a:rPr lang="fr-FR" dirty="0"/>
              <a:t>Tests et validations</a:t>
            </a:r>
          </a:p>
          <a:p>
            <a:pPr lvl="4"/>
            <a:r>
              <a:rPr lang="fr-FR" dirty="0"/>
              <a:t>« Auditeurs IA » identifient des biais dans des scénarios fictifs.</a:t>
            </a:r>
          </a:p>
          <a:p>
            <a:pPr lvl="1"/>
            <a:r>
              <a:rPr lang="fr-FR" dirty="0"/>
              <a:t>Activité: Auditeur: </a:t>
            </a:r>
          </a:p>
          <a:p>
            <a:pPr lvl="2"/>
            <a:r>
              <a:rPr lang="fr-FR" dirty="0"/>
              <a:t>Recommandation Voyage, classe</a:t>
            </a:r>
          </a:p>
          <a:p>
            <a:pPr lvl="2"/>
            <a:r>
              <a:rPr lang="en-US" dirty="0"/>
              <a:t>Sources de </a:t>
            </a:r>
            <a:r>
              <a:rPr lang="en-US" dirty="0" err="1"/>
              <a:t>donn</a:t>
            </a:r>
            <a:r>
              <a:rPr lang="fr-FR" dirty="0" err="1"/>
              <a:t>ées</a:t>
            </a:r>
            <a:r>
              <a:rPr lang="fr-FR" dirty="0"/>
              <a:t> in/out, Test</a:t>
            </a:r>
          </a:p>
          <a:p>
            <a:pPr lvl="1"/>
            <a:r>
              <a:rPr lang="fr-FR" dirty="0"/>
              <a:t>Sécurité des modèles</a:t>
            </a:r>
          </a:p>
          <a:p>
            <a:pPr lvl="2"/>
            <a:r>
              <a:rPr lang="fr-FR" dirty="0"/>
              <a:t>Risques de mauvaise utilisation</a:t>
            </a:r>
          </a:p>
          <a:p>
            <a:pPr lvl="3"/>
            <a:r>
              <a:rPr lang="fr-FR" dirty="0"/>
              <a:t>Armes bactériologiques, nucléaires, pédopornographie etc.</a:t>
            </a:r>
          </a:p>
          <a:p>
            <a:pPr lvl="2"/>
            <a:r>
              <a:rPr lang="fr-FR" dirty="0"/>
              <a:t>Risques de perte de contrôle</a:t>
            </a:r>
          </a:p>
          <a:p>
            <a:pPr lvl="3"/>
            <a:r>
              <a:rPr lang="fr-FR" dirty="0"/>
              <a:t>Cf. </a:t>
            </a:r>
            <a:r>
              <a:rPr lang="fr-FR" dirty="0" err="1"/>
              <a:t>Anthropic</a:t>
            </a:r>
            <a:r>
              <a:rPr lang="fr-FR" dirty="0"/>
              <a:t>: niveaux de sécurité</a:t>
            </a:r>
          </a:p>
          <a:p>
            <a:pPr lvl="3"/>
            <a:r>
              <a:rPr lang="fr-FR" dirty="0" err="1"/>
              <a:t>Constitutional</a:t>
            </a:r>
            <a:r>
              <a:rPr lang="fr-FR" dirty="0"/>
              <a:t> AI</a:t>
            </a:r>
          </a:p>
          <a:p>
            <a:r>
              <a:rPr lang="fr-FR" dirty="0"/>
              <a:t>Points critiques</a:t>
            </a:r>
          </a:p>
          <a:p>
            <a:pPr lvl="1"/>
            <a:r>
              <a:rPr lang="fr-FR" dirty="0"/>
              <a:t>Perte d’emplois liée à l’automatisation.</a:t>
            </a:r>
          </a:p>
          <a:p>
            <a:pPr lvl="1"/>
            <a:r>
              <a:rPr lang="fr-FR" dirty="0"/>
              <a:t>Homogénéisation des contenus créatifs.</a:t>
            </a:r>
          </a:p>
          <a:p>
            <a:pPr lvl="1"/>
            <a:r>
              <a:rPr lang="fr-FR" dirty="0"/>
              <a:t>Risque d’adopter des modèles insuffisamment audités pour des tâches critiques.</a:t>
            </a:r>
          </a:p>
          <a:p>
            <a:pPr lvl="1"/>
            <a:r>
              <a:rPr lang="fr-FR" dirty="0"/>
              <a:t>Gestion des biais et des hallucinations. </a:t>
            </a:r>
          </a:p>
          <a:p>
            <a:pPr lvl="1"/>
            <a:r>
              <a:rPr lang="fr-FR" dirty="0"/>
              <a:t>Sensibilisation aux enjeux de confidentialité.</a:t>
            </a:r>
          </a:p>
          <a:p>
            <a:pPr lvl="1"/>
            <a:r>
              <a:rPr lang="fr-FR" dirty="0"/>
              <a:t>Détection et gestion des contenus générés frauduleusement </a:t>
            </a:r>
          </a:p>
          <a:p>
            <a:pPr lvl="2"/>
            <a:r>
              <a:rPr lang="fr-FR" dirty="0" err="1"/>
              <a:t>Deepfakes</a:t>
            </a:r>
            <a:endParaRPr lang="fr-FR" dirty="0"/>
          </a:p>
          <a:p>
            <a:r>
              <a:rPr lang="fr-FR" i="1" dirty="0">
                <a:solidFill>
                  <a:srgbClr val="FF0000"/>
                </a:solidFill>
              </a:rPr>
              <a:t>Activité: </a:t>
            </a:r>
            <a:r>
              <a:rPr lang="fr-FR" i="1" dirty="0" err="1">
                <a:solidFill>
                  <a:srgbClr val="FF0000"/>
                </a:solidFill>
              </a:rPr>
              <a:t>Constitutional</a:t>
            </a:r>
            <a:r>
              <a:rPr lang="fr-FR" i="1" dirty="0">
                <a:solidFill>
                  <a:srgbClr val="FF0000"/>
                </a:solidFill>
              </a:rPr>
              <a:t> AI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Définition d’une Constitution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Création d’un prompt système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Test sur modèle </a:t>
            </a:r>
            <a:r>
              <a:rPr lang="fr-FR" i="1" dirty="0" err="1">
                <a:solidFill>
                  <a:srgbClr val="FF0000"/>
                </a:solidFill>
              </a:rPr>
              <a:t>ablitéré</a:t>
            </a:r>
            <a:endParaRPr lang="fr-FR" i="1" dirty="0">
              <a:solidFill>
                <a:srgbClr val="FF0000"/>
              </a:solidFill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1FDB548-DC9D-87FB-4C28-08D0633C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BBC0D7-C4D5-781F-E2D7-31836F06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0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84C93F-E81D-3181-0D7C-96C1B27D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Responsabilité sociale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70F141-D9A8-317C-D40A-7CCD30C37F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949953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Rôle des entreprises vs utilisateurs</a:t>
            </a:r>
          </a:p>
          <a:p>
            <a:pPr lvl="1"/>
            <a:r>
              <a:rPr lang="fr-FR" dirty="0"/>
              <a:t>Entreprises :</a:t>
            </a:r>
          </a:p>
          <a:p>
            <a:pPr lvl="2"/>
            <a:r>
              <a:rPr lang="fr-FR" dirty="0"/>
              <a:t>Transparence des modèles.</a:t>
            </a:r>
          </a:p>
          <a:p>
            <a:pPr lvl="2"/>
            <a:r>
              <a:rPr lang="fr-FR" dirty="0"/>
              <a:t>Codes éthiques.</a:t>
            </a:r>
          </a:p>
          <a:p>
            <a:pPr lvl="1"/>
            <a:r>
              <a:rPr lang="fr-FR" dirty="0"/>
              <a:t>Utilisateurs :</a:t>
            </a:r>
          </a:p>
          <a:p>
            <a:pPr lvl="2"/>
            <a:r>
              <a:rPr lang="fr-FR" dirty="0"/>
              <a:t>Formation sur les limites des modèles IA.</a:t>
            </a:r>
          </a:p>
          <a:p>
            <a:pPr lvl="2"/>
            <a:r>
              <a:rPr lang="fr-FR" dirty="0"/>
              <a:t>Adoption responsable dans les secteurs critiques.</a:t>
            </a:r>
          </a:p>
          <a:p>
            <a:pPr lvl="2"/>
            <a:r>
              <a:rPr lang="fr-FR" dirty="0"/>
              <a:t>Sensibilisation sur les forces et faiblesses des systèmes d’IA générative.</a:t>
            </a:r>
          </a:p>
          <a:p>
            <a:r>
              <a:rPr lang="fr-FR" dirty="0"/>
              <a:t>Impact Environnemental</a:t>
            </a:r>
          </a:p>
          <a:p>
            <a:pPr lvl="1"/>
            <a:r>
              <a:rPr lang="fr-FR" dirty="0"/>
              <a:t>Rapport IEA 2025</a:t>
            </a:r>
          </a:p>
          <a:p>
            <a:pPr lvl="2"/>
            <a:r>
              <a:rPr lang="fr-FR" dirty="0"/>
              <a:t>Consommation des datacenter x2 en 3 ans (= Japon)</a:t>
            </a:r>
          </a:p>
          <a:p>
            <a:r>
              <a:rPr lang="fr-FR" dirty="0"/>
              <a:t> IA pour le bien commun</a:t>
            </a:r>
          </a:p>
          <a:p>
            <a:pPr lvl="1"/>
            <a:r>
              <a:rPr lang="fr-FR" dirty="0"/>
              <a:t>IA pour des solutions écologiques ou sociales.</a:t>
            </a:r>
          </a:p>
          <a:p>
            <a:pPr lvl="2"/>
            <a:r>
              <a:rPr lang="fr-FR" dirty="0"/>
              <a:t>Outils pour la santé publique ou l’éducation dans des zones sous-développées.</a:t>
            </a:r>
          </a:p>
          <a:p>
            <a:pPr lvl="2"/>
            <a:r>
              <a:rPr lang="fr-FR" dirty="0"/>
              <a:t>Surveiller la déforestation ou améliorer la gestion des ressources en eau.</a:t>
            </a:r>
          </a:p>
          <a:p>
            <a:pPr lvl="1"/>
            <a:r>
              <a:rPr lang="fr-FR" i="1" dirty="0">
                <a:solidFill>
                  <a:srgbClr val="FF0000"/>
                </a:solidFill>
              </a:rPr>
              <a:t>Activité: Propositions novatrices</a:t>
            </a:r>
          </a:p>
          <a:p>
            <a:pPr lvl="2"/>
            <a:r>
              <a:rPr lang="fr-FR" i="1" dirty="0">
                <a:solidFill>
                  <a:srgbClr val="FF0000"/>
                </a:solidFill>
              </a:rPr>
              <a:t>Avec et sans guidance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6BDF95-0ED1-75D3-34D2-07E070123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29A207-A5C3-A6CB-C444-200F5C61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A95AF-1050-15D7-14EF-940F577F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Défis pratiques de l’adoption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45FA5B-6B3B-D181-B01D-136BC89B27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Compatibilité technologique</a:t>
            </a:r>
          </a:p>
          <a:p>
            <a:pPr lvl="1"/>
            <a:r>
              <a:rPr lang="fr-FR" dirty="0"/>
              <a:t>Adaptation aux systèmes existants (CRM, ERP).</a:t>
            </a:r>
          </a:p>
          <a:p>
            <a:pPr lvl="1"/>
            <a:r>
              <a:rPr lang="fr-FR" dirty="0"/>
              <a:t>Gestion des bases vectorielles dans des flux de travail établis.</a:t>
            </a:r>
          </a:p>
          <a:p>
            <a:r>
              <a:rPr lang="fr-FR" dirty="0"/>
              <a:t>Confidentialité</a:t>
            </a:r>
          </a:p>
          <a:p>
            <a:pPr lvl="1"/>
            <a:r>
              <a:rPr lang="fr-FR" dirty="0"/>
              <a:t>Maîtrise des flux de données</a:t>
            </a:r>
          </a:p>
          <a:p>
            <a:r>
              <a:rPr lang="fr-FR" dirty="0"/>
              <a:t>Scalabilité et coûts</a:t>
            </a:r>
          </a:p>
          <a:p>
            <a:pPr lvl="1"/>
            <a:r>
              <a:rPr lang="fr-FR" dirty="0"/>
              <a:t>PMEs avec des budgets limités.</a:t>
            </a:r>
          </a:p>
          <a:p>
            <a:pPr lvl="1"/>
            <a:r>
              <a:rPr lang="fr-FR" dirty="0"/>
              <a:t>Infrastructure technique nécessaire pour gérer de grands modèles.</a:t>
            </a:r>
          </a:p>
          <a:p>
            <a:r>
              <a:rPr lang="fr-FR" dirty="0"/>
              <a:t>Réalité du ROI</a:t>
            </a:r>
          </a:p>
          <a:p>
            <a:pPr lvl="1"/>
            <a:r>
              <a:rPr lang="fr-FR" dirty="0"/>
              <a:t>Gartner 2025: Adoption massive (75% des entreprises) mais « AI Fatigue » et ROI tangibles peu nombreux au-delà (rédaction, code)</a:t>
            </a:r>
          </a:p>
          <a:p>
            <a:r>
              <a:rPr lang="fr-FR" dirty="0"/>
              <a:t>Optimisations possibles :</a:t>
            </a:r>
          </a:p>
          <a:p>
            <a:pPr lvl="2"/>
            <a:r>
              <a:rPr lang="fr-FR" dirty="0"/>
              <a:t>Solutions open-source pour réduire les coûts.</a:t>
            </a:r>
          </a:p>
          <a:p>
            <a:pPr lvl="3"/>
            <a:r>
              <a:rPr lang="fr-FR" dirty="0"/>
              <a:t>Utilisation de modèles plus légers comme les distillations pour les déploiements locaux.</a:t>
            </a:r>
          </a:p>
          <a:p>
            <a:pPr lvl="3"/>
            <a:r>
              <a:rPr lang="fr-FR" dirty="0"/>
              <a:t>Modèles spécialisés SOTA sur des tâches</a:t>
            </a:r>
          </a:p>
          <a:p>
            <a:pPr lvl="2"/>
            <a:r>
              <a:rPr lang="fr-FR" dirty="0"/>
              <a:t>Confidentialité maîtrisée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25864D-7376-633A-637C-C7BA2861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ADEF01-F0D2-4152-C1CD-3F73F7E9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87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3152336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dirty="0"/>
              <a:t>Jean-Sylvain Boige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dirty="0" err="1">
                <a:hlinkClick r:id="rId3"/>
              </a:rPr>
              <a:t>jsboige@</a:t>
            </a:r>
            <a:r>
              <a:rPr lang="fr-FR" err="1">
                <a:hlinkClick r:id="rId3"/>
              </a:rPr>
              <a:t>myia</a:t>
            </a:r>
            <a:r>
              <a:rPr lang="fr-FR">
                <a:hlinkClick r:id="rId3"/>
              </a:rPr>
              <a:t>.org</a:t>
            </a:r>
            <a:r>
              <a:rPr lang="fr-FR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5184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83920</TotalTime>
  <Words>2121</Words>
  <Application>Microsoft Office PowerPoint</Application>
  <PresentationFormat>Affichage à l'écran (4:3)</PresentationFormat>
  <Paragraphs>430</Paragraphs>
  <Slides>20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Georgia</vt:lpstr>
      <vt:lpstr>Wingdings</vt:lpstr>
      <vt:lpstr>Wingdings 2</vt:lpstr>
      <vt:lpstr>Civic</vt:lpstr>
      <vt:lpstr>Intelligence Artificielle Générative</vt:lpstr>
      <vt:lpstr>Plan du cours</vt:lpstr>
      <vt:lpstr>Introduction à l’IA Générative</vt:lpstr>
      <vt:lpstr>IA générative: Une révolution</vt:lpstr>
      <vt:lpstr>Les données : Fondement des modèles</vt:lpstr>
      <vt:lpstr>Fonctionnement des LLMs</vt:lpstr>
      <vt:lpstr>Modèles probabilistes</vt:lpstr>
      <vt:lpstr>Applications: Usage individuels</vt:lpstr>
      <vt:lpstr>Applications: Entreprise</vt:lpstr>
      <vt:lpstr>Applications sectorielles</vt:lpstr>
      <vt:lpstr>Techniques : Génération de texte</vt:lpstr>
      <vt:lpstr>Techniques: Multimodalité</vt:lpstr>
      <vt:lpstr>Ecosystème GenAI</vt:lpstr>
      <vt:lpstr>Enjeux Ethiques et sociétaux</vt:lpstr>
      <vt:lpstr>Régulation et droit</vt:lpstr>
      <vt:lpstr>Risques et limites</vt:lpstr>
      <vt:lpstr>Responsabilité sociale</vt:lpstr>
      <vt:lpstr>Défis pratiques de l’adoption</vt:lpstr>
      <vt:lpstr>Questions?</vt:lpstr>
      <vt:lpstr>Merci</vt:lpstr>
    </vt:vector>
  </TitlesOfParts>
  <Company>Aricie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 Artificielle - 4 - Apprentissage</dc:title>
  <dc:creator>jsboige@aricie.fr</dc:creator>
  <cp:lastModifiedBy>Jean-Sylvain Boige</cp:lastModifiedBy>
  <cp:revision>1167</cp:revision>
  <cp:lastPrinted>2016-01-17T16:33:37Z</cp:lastPrinted>
  <dcterms:created xsi:type="dcterms:W3CDTF">2003-12-17T02:04:52Z</dcterms:created>
  <dcterms:modified xsi:type="dcterms:W3CDTF">2025-12-17T08:59:51Z</dcterms:modified>
</cp:coreProperties>
</file>