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00"/>
  </p:notesMasterIdLst>
  <p:handoutMasterIdLst>
    <p:handoutMasterId r:id="rId101"/>
  </p:handoutMasterIdLst>
  <p:sldIdLst>
    <p:sldId id="271" r:id="rId2"/>
    <p:sldId id="301" r:id="rId3"/>
    <p:sldId id="259" r:id="rId4"/>
    <p:sldId id="272" r:id="rId5"/>
    <p:sldId id="388" r:id="rId6"/>
    <p:sldId id="389" r:id="rId7"/>
    <p:sldId id="390" r:id="rId8"/>
    <p:sldId id="391" r:id="rId9"/>
    <p:sldId id="392" r:id="rId10"/>
    <p:sldId id="393" r:id="rId11"/>
    <p:sldId id="486" r:id="rId12"/>
    <p:sldId id="394" r:id="rId13"/>
    <p:sldId id="396" r:id="rId14"/>
    <p:sldId id="395" r:id="rId15"/>
    <p:sldId id="397" r:id="rId16"/>
    <p:sldId id="398" r:id="rId17"/>
    <p:sldId id="399" r:id="rId18"/>
    <p:sldId id="400" r:id="rId19"/>
    <p:sldId id="401" r:id="rId20"/>
    <p:sldId id="277" r:id="rId21"/>
    <p:sldId id="402" r:id="rId22"/>
    <p:sldId id="403" r:id="rId23"/>
    <p:sldId id="404" r:id="rId24"/>
    <p:sldId id="405" r:id="rId25"/>
    <p:sldId id="406" r:id="rId26"/>
    <p:sldId id="407" r:id="rId27"/>
    <p:sldId id="408" r:id="rId28"/>
    <p:sldId id="409" r:id="rId29"/>
    <p:sldId id="410" r:id="rId30"/>
    <p:sldId id="411" r:id="rId31"/>
    <p:sldId id="412" r:id="rId32"/>
    <p:sldId id="413" r:id="rId33"/>
    <p:sldId id="414" r:id="rId34"/>
    <p:sldId id="415" r:id="rId35"/>
    <p:sldId id="509" r:id="rId36"/>
    <p:sldId id="510" r:id="rId37"/>
    <p:sldId id="505" r:id="rId38"/>
    <p:sldId id="515" r:id="rId39"/>
    <p:sldId id="506" r:id="rId40"/>
    <p:sldId id="416" r:id="rId41"/>
    <p:sldId id="385" r:id="rId42"/>
    <p:sldId id="469" r:id="rId43"/>
    <p:sldId id="429" r:id="rId44"/>
    <p:sldId id="430" r:id="rId45"/>
    <p:sldId id="431" r:id="rId46"/>
    <p:sldId id="432" r:id="rId47"/>
    <p:sldId id="433" r:id="rId48"/>
    <p:sldId id="434" r:id="rId49"/>
    <p:sldId id="435" r:id="rId50"/>
    <p:sldId id="436" r:id="rId51"/>
    <p:sldId id="437" r:id="rId52"/>
    <p:sldId id="438" r:id="rId53"/>
    <p:sldId id="440" r:id="rId54"/>
    <p:sldId id="441" r:id="rId55"/>
    <p:sldId id="442" r:id="rId56"/>
    <p:sldId id="444" r:id="rId57"/>
    <p:sldId id="445" r:id="rId58"/>
    <p:sldId id="446" r:id="rId59"/>
    <p:sldId id="447" r:id="rId60"/>
    <p:sldId id="448" r:id="rId61"/>
    <p:sldId id="449" r:id="rId62"/>
    <p:sldId id="450" r:id="rId63"/>
    <p:sldId id="451" r:id="rId64"/>
    <p:sldId id="452" r:id="rId65"/>
    <p:sldId id="453" r:id="rId66"/>
    <p:sldId id="454" r:id="rId67"/>
    <p:sldId id="455" r:id="rId68"/>
    <p:sldId id="456" r:id="rId69"/>
    <p:sldId id="457" r:id="rId70"/>
    <p:sldId id="458" r:id="rId71"/>
    <p:sldId id="459" r:id="rId72"/>
    <p:sldId id="460" r:id="rId73"/>
    <p:sldId id="461" r:id="rId74"/>
    <p:sldId id="462" r:id="rId75"/>
    <p:sldId id="464" r:id="rId76"/>
    <p:sldId id="507" r:id="rId77"/>
    <p:sldId id="508" r:id="rId78"/>
    <p:sldId id="514" r:id="rId79"/>
    <p:sldId id="443" r:id="rId80"/>
    <p:sldId id="513" r:id="rId81"/>
    <p:sldId id="467" r:id="rId82"/>
    <p:sldId id="288" r:id="rId83"/>
    <p:sldId id="470" r:id="rId84"/>
    <p:sldId id="471" r:id="rId85"/>
    <p:sldId id="472" r:id="rId86"/>
    <p:sldId id="480" r:id="rId87"/>
    <p:sldId id="473" r:id="rId88"/>
    <p:sldId id="485" r:id="rId89"/>
    <p:sldId id="482" r:id="rId90"/>
    <p:sldId id="474" r:id="rId91"/>
    <p:sldId id="475" r:id="rId92"/>
    <p:sldId id="483" r:id="rId93"/>
    <p:sldId id="516" r:id="rId94"/>
    <p:sldId id="477" r:id="rId95"/>
    <p:sldId id="484" r:id="rId96"/>
    <p:sldId id="481" r:id="rId97"/>
    <p:sldId id="299" r:id="rId98"/>
    <p:sldId id="294" r:id="rId99"/>
  </p:sldIdLst>
  <p:sldSz cx="9144000" cy="6858000" type="screen4x3"/>
  <p:notesSz cx="7099300" cy="10236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3A86"/>
    <a:srgbClr val="FF00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49" autoAdjust="0"/>
  </p:normalViewPr>
  <p:slideViewPr>
    <p:cSldViewPr>
      <p:cViewPr varScale="1">
        <p:scale>
          <a:sx n="105" d="100"/>
          <a:sy n="105" d="100"/>
        </p:scale>
        <p:origin x="177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94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3587"/>
          </a:xfrm>
          <a:prstGeom prst="rect">
            <a:avLst/>
          </a:prstGeom>
        </p:spPr>
        <p:txBody>
          <a:bodyPr vert="horz" lIns="94732" tIns="47366" rIns="94732" bIns="47366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294" y="1"/>
            <a:ext cx="3076363" cy="513587"/>
          </a:xfrm>
          <a:prstGeom prst="rect">
            <a:avLst/>
          </a:prstGeom>
        </p:spPr>
        <p:txBody>
          <a:bodyPr vert="horz" lIns="94732" tIns="47366" rIns="94732" bIns="47366" rtlCol="0"/>
          <a:lstStyle>
            <a:lvl1pPr algn="r">
              <a:defRPr sz="1200"/>
            </a:lvl1pPr>
          </a:lstStyle>
          <a:p>
            <a:fld id="{2B671DB1-D8D3-445E-9A62-BE0A5865C6FB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722614"/>
            <a:ext cx="3076363" cy="513586"/>
          </a:xfrm>
          <a:prstGeom prst="rect">
            <a:avLst/>
          </a:prstGeom>
        </p:spPr>
        <p:txBody>
          <a:bodyPr vert="horz" lIns="94732" tIns="47366" rIns="94732" bIns="47366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294" y="9722614"/>
            <a:ext cx="3076363" cy="513586"/>
          </a:xfrm>
          <a:prstGeom prst="rect">
            <a:avLst/>
          </a:prstGeom>
        </p:spPr>
        <p:txBody>
          <a:bodyPr vert="horz" lIns="94732" tIns="47366" rIns="94732" bIns="47366" rtlCol="0" anchor="b"/>
          <a:lstStyle>
            <a:lvl1pPr algn="r">
              <a:defRPr sz="1200"/>
            </a:lvl1pPr>
          </a:lstStyle>
          <a:p>
            <a:fld id="{7F23C267-0122-43D1-B407-EAA818737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171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811"/>
          </a:xfrm>
          <a:prstGeom prst="rect">
            <a:avLst/>
          </a:prstGeom>
        </p:spPr>
        <p:txBody>
          <a:bodyPr vert="horz" lIns="94732" tIns="47366" rIns="94732" bIns="47366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811"/>
          </a:xfrm>
          <a:prstGeom prst="rect">
            <a:avLst/>
          </a:prstGeom>
        </p:spPr>
        <p:txBody>
          <a:bodyPr vert="horz" lIns="94732" tIns="47366" rIns="94732" bIns="47366" rtlCol="0"/>
          <a:lstStyle>
            <a:lvl1pPr algn="r">
              <a:defRPr sz="1200" smtClean="0"/>
            </a:lvl1pPr>
          </a:lstStyle>
          <a:p>
            <a:pPr>
              <a:defRPr/>
            </a:pPr>
            <a:fld id="{B23438C5-24B8-4989-83F7-2EB645DA4A4C}" type="datetimeFigureOut">
              <a:rPr lang="en-US"/>
              <a:pPr>
                <a:defRPr/>
              </a:pPr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32" tIns="47366" rIns="94732" bIns="4736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2196"/>
            <a:ext cx="5679440" cy="4606291"/>
          </a:xfrm>
          <a:prstGeom prst="rect">
            <a:avLst/>
          </a:prstGeom>
        </p:spPr>
        <p:txBody>
          <a:bodyPr vert="horz" lIns="94732" tIns="47366" rIns="94732" bIns="47366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2614"/>
            <a:ext cx="3076363" cy="511811"/>
          </a:xfrm>
          <a:prstGeom prst="rect">
            <a:avLst/>
          </a:prstGeom>
        </p:spPr>
        <p:txBody>
          <a:bodyPr vert="horz" lIns="94732" tIns="47366" rIns="94732" bIns="47366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2614"/>
            <a:ext cx="3076363" cy="511811"/>
          </a:xfrm>
          <a:prstGeom prst="rect">
            <a:avLst/>
          </a:prstGeom>
        </p:spPr>
        <p:txBody>
          <a:bodyPr vert="horz" lIns="94732" tIns="47366" rIns="94732" bIns="47366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2975085-D210-42E3-9DA5-1BD091B514E5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564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69696" indent="-2960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4148" indent="-23683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7807" indent="-23683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1466" indent="-23683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5126" indent="-2368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78785" indent="-2368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2444" indent="-2368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26103" indent="-2368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D1EF0F7-EC37-4755-9A60-1FE41815C606}" type="slidenum">
              <a:rPr lang="en-US"/>
              <a:pPr eaLnBrk="1" hangingPunct="1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58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4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756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11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09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19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62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62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[No, correlated by the hidden state]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3547DA-2EB3-4D6A-80A5-D8B22DE55E9D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71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87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36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>
                <a:cs typeface="Arial" charset="0"/>
                <a:sym typeface="Wingdings" pitchFamily="2" charset="2"/>
              </a:rPr>
              <a:t> </a:t>
            </a:r>
            <a:r>
              <a:rPr lang="en-US" dirty="0"/>
              <a:t>design best </a:t>
            </a:r>
            <a:r>
              <a:rPr lang="en-US" dirty="0">
                <a:solidFill>
                  <a:srgbClr val="FF0000"/>
                </a:solidFill>
              </a:rPr>
              <a:t>program</a:t>
            </a:r>
            <a:r>
              <a:rPr lang="en-US" dirty="0"/>
              <a:t> for given machine resources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1762BC-E4A0-4235-B677-FCB403384A37}" type="slidenum">
              <a:rPr lang="en-US"/>
              <a:pPr eaLnBrk="1" hangingPunct="1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5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76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29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35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6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26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73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0AEFBDC-A3CB-40D5-AD96-4A1D9C4B329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4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26BDF-2056-494C-B9F5-D80B600916BD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73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4CDA650-C733-4B3F-84C7-0A41941D1F28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88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9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DF9D0-F2CF-434D-931A-F58F3DF9AE56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8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19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fld id="{0C87601F-A0CC-4FF1-A9FB-2E121684AD2C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08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D5AAD-D846-4522-8294-21FF8733AF3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1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Rectangle 20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Rectangle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ABBAE50-AFCE-44E0-A18B-9FA68072FF45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99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380ECC4E-4E64-464C-B031-3B7895E46F3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</p:spTree>
    <p:extLst>
      <p:ext uri="{BB962C8B-B14F-4D97-AF65-F5344CB8AC3E}">
        <p14:creationId xmlns:p14="http://schemas.microsoft.com/office/powerpoint/2010/main" val="384500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1A3C6-8353-4FA5-B86E-DF44646D082A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</p:spTree>
    <p:extLst>
      <p:ext uri="{BB962C8B-B14F-4D97-AF65-F5344CB8AC3E}">
        <p14:creationId xmlns:p14="http://schemas.microsoft.com/office/powerpoint/2010/main" val="244818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104DD-729A-48C7-88DB-9F2EAD288CD0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09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FA56E-A205-4820-980D-6A952AF7E0E1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</p:spTree>
    <p:extLst>
      <p:ext uri="{BB962C8B-B14F-4D97-AF65-F5344CB8AC3E}">
        <p14:creationId xmlns:p14="http://schemas.microsoft.com/office/powerpoint/2010/main" val="2763509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9F51C7E-CBF5-4B89-ABC5-E9F3581DB76E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038" name="Title Placeholder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ct val="20000"/>
        </a:spcBef>
        <a:spcAft>
          <a:spcPct val="0"/>
        </a:spcAft>
        <a:buClr>
          <a:srgbClr val="8FB08C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hyperlink" Target="https://en.wikipedia.org/wiki/Conjugate_prior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lief_propagation" TargetMode="External"/><Relationship Id="rId2" Type="http://schemas.openxmlformats.org/officeDocument/2006/relationships/hyperlink" Target="https://fabiandablander.com/r/Variational-Inferenc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hyperlink" Target="https://dotnet.github.io/infer/userguide/Infer.NET%20tutorials%20and%20examples.html" TargetMode="External"/><Relationship Id="rId3" Type="http://schemas.openxmlformats.org/officeDocument/2006/relationships/hyperlink" Target="https://pyro.ai/" TargetMode="External"/><Relationship Id="rId7" Type="http://schemas.openxmlformats.org/officeDocument/2006/relationships/hyperlink" Target="https://www.dropbox.com/s/vsypfsjt7e2sfx0/TP%20Infer.Net.pdf?dl=0" TargetMode="External"/><Relationship Id="rId2" Type="http://schemas.openxmlformats.org/officeDocument/2006/relationships/hyperlink" Target="https://dotnet.github.io/infer/defaul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c-stan.org/" TargetMode="External"/><Relationship Id="rId5" Type="http://schemas.openxmlformats.org/officeDocument/2006/relationships/hyperlink" Target="https://docs.pymc.io/en/v3/" TargetMode="External"/><Relationship Id="rId4" Type="http://schemas.openxmlformats.org/officeDocument/2006/relationships/hyperlink" Target="https://www.tensorflow.org/probability?hl=fr" TargetMode="Externa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hyperlink" Target="https://cs.stanford.edu/people/karpathy/reinforcejs/gridworld_dp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mailto:jsboige@myia.org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22860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fr-FR" noProof="0" dirty="0"/>
              <a:t>Intelligence Artificielle - IV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fr-FR" noProof="0" dirty="0"/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fr-FR" noProof="0" dirty="0"/>
          </a:p>
          <a:p>
            <a:pPr marL="742950" lvl="1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noProof="0" dirty="0"/>
              <a:t>Quantification de l’incertitude</a:t>
            </a:r>
          </a:p>
          <a:p>
            <a:pPr marL="742950" lvl="1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noProof="0" dirty="0"/>
              <a:t>Raisonnement probabiliste</a:t>
            </a:r>
          </a:p>
          <a:p>
            <a:pPr marL="742950" lvl="1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noProof="0" dirty="0"/>
              <a:t>Prise de décision </a:t>
            </a:r>
          </a:p>
          <a:p>
            <a:pPr marL="742950" lvl="1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fr-FR" noProof="0" dirty="0"/>
          </a:p>
        </p:txBody>
      </p:sp>
      <p:sp>
        <p:nvSpPr>
          <p:cNvPr id="13315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5CFD81-0950-49DD-AA2C-96CCB76D865D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331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Incertitude et modèles probabilistes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Plan du cours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0B7BF-8379-44F7-AF5B-6228F8D518DA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Introduction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Résolution de problèmes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Bases de connaissances et logique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/>
              <a:t>Incertitude et modèles probabilistes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Théorie </a:t>
            </a:r>
            <a:r>
              <a:rPr lang="fr-FR">
                <a:solidFill>
                  <a:schemeClr val="tx1">
                    <a:alpha val="23000"/>
                  </a:schemeClr>
                </a:solidFill>
              </a:rPr>
              <a:t>des jeux </a:t>
            </a:r>
          </a:p>
          <a:p>
            <a:pPr marL="571500" indent="-571500">
              <a:buFont typeface="+mj-lt"/>
              <a:buAutoNum type="romanUcPeriod"/>
            </a:pPr>
            <a:r>
              <a:rPr lang="fr-FR">
                <a:solidFill>
                  <a:schemeClr val="tx1">
                    <a:alpha val="23000"/>
                  </a:schemeClr>
                </a:solidFill>
              </a:rPr>
              <a:t>Apprentissage</a:t>
            </a:r>
            <a:endParaRPr lang="fr-FR" dirty="0">
              <a:solidFill>
                <a:schemeClr val="tx1">
                  <a:alpha val="23000"/>
                </a:schemeClr>
              </a:solidFill>
            </a:endParaRP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Traitement du langage naturel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Présentation projets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1888900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Sommaire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35B01F-2079-4428-897D-278E5C9D0E54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1434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883150"/>
          </a:xfrm>
        </p:spPr>
        <p:txBody>
          <a:bodyPr>
            <a:normAutofit fontScale="92500"/>
          </a:bodyPr>
          <a:lstStyle/>
          <a:p>
            <a:r>
              <a:rPr lang="fr-FR" noProof="0" dirty="0"/>
              <a:t>Quantification de l’incertitude</a:t>
            </a:r>
          </a:p>
          <a:p>
            <a:pPr lvl="1"/>
            <a:r>
              <a:rPr lang="fr-FR" noProof="0" dirty="0"/>
              <a:t>Incertitude</a:t>
            </a:r>
          </a:p>
          <a:p>
            <a:pPr lvl="1"/>
            <a:r>
              <a:rPr lang="fr-FR" noProof="0" dirty="0"/>
              <a:t>Probabilités</a:t>
            </a:r>
          </a:p>
          <a:p>
            <a:pPr lvl="1"/>
            <a:r>
              <a:rPr lang="fr-FR" noProof="0" dirty="0"/>
              <a:t>Syntaxe et sémantique</a:t>
            </a:r>
          </a:p>
          <a:p>
            <a:pPr lvl="1"/>
            <a:r>
              <a:rPr lang="fr-FR" noProof="0" dirty="0"/>
              <a:t>Inférence</a:t>
            </a:r>
          </a:p>
          <a:p>
            <a:pPr lvl="1"/>
            <a:r>
              <a:rPr lang="fr-FR" noProof="0" dirty="0"/>
              <a:t>Indépendance et règle de Bayes </a:t>
            </a:r>
          </a:p>
          <a:p>
            <a:r>
              <a:rPr lang="fr-FR" noProof="0" dirty="0"/>
              <a:t>Raisonnement probabiliste</a:t>
            </a:r>
          </a:p>
          <a:p>
            <a:pPr lvl="1"/>
            <a:r>
              <a:rPr lang="fr-FR" noProof="0" dirty="0"/>
              <a:t>Raisonnement probabiliste temporel</a:t>
            </a:r>
          </a:p>
          <a:p>
            <a:pPr lvl="1"/>
            <a:r>
              <a:rPr lang="fr-FR" noProof="0" dirty="0"/>
              <a:t>TP: Inférence avec des modèles probabilistes simples et temporels</a:t>
            </a:r>
          </a:p>
          <a:p>
            <a:r>
              <a:rPr lang="fr-FR" noProof="0" dirty="0"/>
              <a:t>Théorie de la décision</a:t>
            </a:r>
          </a:p>
          <a:p>
            <a:pPr lvl="1"/>
            <a:r>
              <a:rPr lang="fr-FR" noProof="0" dirty="0"/>
              <a:t>Prise de décision simple</a:t>
            </a:r>
          </a:p>
          <a:p>
            <a:pPr lvl="1"/>
            <a:r>
              <a:rPr lang="fr-FR" noProof="0" dirty="0"/>
              <a:t>Prise de décision complexe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Incertitude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A51DCE-5FB8-48C6-B06A-357A0B02D271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08126"/>
            <a:ext cx="8689975" cy="4902199"/>
          </a:xfrm>
        </p:spPr>
        <p:txBody>
          <a:bodyPr>
            <a:normAutofit fontScale="92500" lnSpcReduction="10000"/>
          </a:bodyPr>
          <a:lstStyle/>
          <a:p>
            <a:r>
              <a:rPr lang="fr-FR" sz="2800" i="1" noProof="0" dirty="0"/>
              <a:t>A</a:t>
            </a:r>
            <a:r>
              <a:rPr lang="fr-FR" sz="2800" i="1" baseline="-25000" noProof="0" dirty="0"/>
              <a:t>t</a:t>
            </a:r>
            <a:r>
              <a:rPr lang="fr-FR" noProof="0" dirty="0"/>
              <a:t> = partir pour l’aéroport t minutes avant le vol.</a:t>
            </a:r>
            <a:br>
              <a:rPr lang="fr-FR" noProof="0" dirty="0"/>
            </a:br>
            <a:r>
              <a:rPr lang="fr-FR" noProof="0" dirty="0"/>
              <a:t>Est-ce que </a:t>
            </a:r>
            <a:r>
              <a:rPr lang="fr-FR" sz="2400" i="1" noProof="0" dirty="0"/>
              <a:t>A</a:t>
            </a:r>
            <a:r>
              <a:rPr lang="fr-FR" sz="2400" i="1" baseline="-25000" noProof="0" dirty="0"/>
              <a:t>t</a:t>
            </a:r>
            <a:r>
              <a:rPr lang="fr-FR" noProof="0" dirty="0"/>
              <a:t> me permettra d’avoir mon vol?</a:t>
            </a:r>
          </a:p>
          <a:p>
            <a:r>
              <a:rPr lang="fr-FR" noProof="0" dirty="0"/>
              <a:t>Problèmes</a:t>
            </a:r>
          </a:p>
          <a:p>
            <a:pPr marL="788988" lvl="1" indent="-514350">
              <a:buFont typeface="+mj-lt"/>
              <a:buAutoNum type="arabicPeriod"/>
            </a:pPr>
            <a:r>
              <a:rPr lang="fr-FR" noProof="0" dirty="0"/>
              <a:t>Observabilité partielle (état de la route, plans des autres etc.)</a:t>
            </a:r>
          </a:p>
          <a:p>
            <a:pPr marL="788988" lvl="1" indent="-514350">
              <a:buFont typeface="+mj-lt"/>
              <a:buAutoNum type="arabicPeriod"/>
            </a:pPr>
            <a:r>
              <a:rPr lang="fr-FR" noProof="0" dirty="0"/>
              <a:t>Capteurs bruités (Bison Futé)</a:t>
            </a:r>
          </a:p>
          <a:p>
            <a:pPr marL="788988" lvl="1" indent="-514350">
              <a:buFont typeface="+mj-lt"/>
              <a:buAutoNum type="arabicPeriod"/>
            </a:pPr>
            <a:r>
              <a:rPr lang="fr-FR" noProof="0" dirty="0"/>
              <a:t>Incertitude sur les résultats des actions (pneu crevé, etc.)</a:t>
            </a:r>
          </a:p>
          <a:p>
            <a:pPr marL="788988" lvl="1" indent="-514350">
              <a:buFont typeface="+mj-lt"/>
              <a:buAutoNum type="arabicPeriod"/>
            </a:pPr>
            <a:r>
              <a:rPr lang="fr-FR" noProof="0" dirty="0"/>
              <a:t>Complexité de la modélisation et la prévision du trafic</a:t>
            </a:r>
          </a:p>
          <a:p>
            <a:r>
              <a:rPr lang="fr-FR" noProof="0" dirty="0"/>
              <a:t>Une approche purement logique</a:t>
            </a:r>
          </a:p>
          <a:p>
            <a:pPr marL="788988" lvl="1" indent="-514350">
              <a:buFont typeface="+mj-lt"/>
              <a:buAutoNum type="arabicPeriod"/>
            </a:pPr>
            <a:r>
              <a:rPr lang="fr-FR" noProof="0" dirty="0"/>
              <a:t>Risque d’être incorrecte (</a:t>
            </a:r>
            <a:r>
              <a:rPr lang="fr-FR" sz="2400" i="1" noProof="0" dirty="0"/>
              <a:t>A</a:t>
            </a:r>
            <a:r>
              <a:rPr lang="fr-FR" sz="2400" i="1" baseline="-25000" noProof="0" dirty="0"/>
              <a:t>25 </a:t>
            </a:r>
            <a:r>
              <a:rPr lang="fr-FR" noProof="0" dirty="0"/>
              <a:t>devrait suffire …)</a:t>
            </a:r>
          </a:p>
          <a:p>
            <a:pPr marL="788988" lvl="1" indent="-514350">
              <a:buFont typeface="+mj-lt"/>
              <a:buAutoNum type="arabicPeriod"/>
            </a:pPr>
            <a:r>
              <a:rPr lang="fr-FR" noProof="0" dirty="0"/>
              <a:t>Conduira à des conclusions trop faibles pour la prise de décision</a:t>
            </a:r>
          </a:p>
          <a:p>
            <a:pPr marL="1063625" lvl="2" indent="-514350">
              <a:buFont typeface="+mj-lt"/>
              <a:buAutoNum type="arabicPeriod"/>
            </a:pPr>
            <a:r>
              <a:rPr lang="fr-FR" i="1" noProof="0" dirty="0"/>
              <a:t>A</a:t>
            </a:r>
            <a:r>
              <a:rPr lang="fr-FR" i="1" baseline="-25000" noProof="0" dirty="0"/>
              <a:t>25 </a:t>
            </a:r>
            <a:r>
              <a:rPr lang="fr-FR" noProof="0" dirty="0"/>
              <a:t>suffira s’il n’y a pas d’accident sur le pont et il ne pleut pas et mes pneus ne crèvent pas etc. = problème de la </a:t>
            </a:r>
            <a:r>
              <a:rPr lang="fr-FR" b="1" noProof="0" dirty="0"/>
              <a:t>qualification logique</a:t>
            </a:r>
          </a:p>
          <a:p>
            <a:pPr marL="1063625" lvl="2" indent="-514350">
              <a:buFont typeface="+mj-lt"/>
              <a:buAutoNum type="arabicPeriod"/>
            </a:pPr>
            <a:r>
              <a:rPr lang="fr-FR" i="1" noProof="0" dirty="0"/>
              <a:t>A</a:t>
            </a:r>
            <a:r>
              <a:rPr lang="fr-FR" i="1" baseline="-25000" noProof="0" dirty="0"/>
              <a:t>1500 </a:t>
            </a:r>
            <a:r>
              <a:rPr lang="fr-FR" noProof="0" dirty="0"/>
              <a:t>conduira raisonnablement au but, mais il me faudra dormir à l’aéroport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Méthodes face à l’incertitude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A51DCE-5FB8-48C6-B06A-357A0B02D271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08126"/>
            <a:ext cx="8689975" cy="4902199"/>
          </a:xfrm>
        </p:spPr>
        <p:txBody>
          <a:bodyPr>
            <a:normAutofit fontScale="85000" lnSpcReduction="20000"/>
          </a:bodyPr>
          <a:lstStyle/>
          <a:p>
            <a:r>
              <a:rPr lang="fr-FR" sz="2800" noProof="0" dirty="0"/>
              <a:t>Logique </a:t>
            </a:r>
            <a:r>
              <a:rPr lang="fr-FR" sz="2800" i="1" noProof="0" dirty="0">
                <a:solidFill>
                  <a:schemeClr val="accent2"/>
                </a:solidFill>
              </a:rPr>
              <a:t>par défaut</a:t>
            </a:r>
            <a:r>
              <a:rPr lang="fr-FR" sz="2800" i="1" noProof="0" dirty="0"/>
              <a:t> </a:t>
            </a:r>
            <a:r>
              <a:rPr lang="fr-FR" sz="2800" noProof="0" dirty="0"/>
              <a:t>ou </a:t>
            </a:r>
            <a:r>
              <a:rPr lang="fr-FR" sz="2800" i="1" dirty="0">
                <a:solidFill>
                  <a:schemeClr val="accent2"/>
                </a:solidFill>
              </a:rPr>
              <a:t>non monotone</a:t>
            </a:r>
          </a:p>
          <a:p>
            <a:pPr lvl="1"/>
            <a:r>
              <a:rPr lang="fr-FR" noProof="0" dirty="0"/>
              <a:t>On suppose que ma voiture n’a pas de pneu crevé</a:t>
            </a:r>
          </a:p>
          <a:p>
            <a:pPr lvl="1"/>
            <a:r>
              <a:rPr lang="fr-FR" noProof="0" dirty="0"/>
              <a:t>On suppose que </a:t>
            </a:r>
            <a:r>
              <a:rPr lang="fr-FR" sz="2400" i="1" noProof="0" dirty="0"/>
              <a:t>A</a:t>
            </a:r>
            <a:r>
              <a:rPr lang="fr-FR" sz="2400" i="1" baseline="-25000" noProof="0" dirty="0"/>
              <a:t>25 </a:t>
            </a:r>
            <a:r>
              <a:rPr lang="fr-FR" noProof="0" dirty="0"/>
              <a:t>fonctionne à moins d’une indication contradictoire</a:t>
            </a:r>
          </a:p>
          <a:p>
            <a:r>
              <a:rPr lang="fr-FR" noProof="0" dirty="0"/>
              <a:t>Problèmes: </a:t>
            </a:r>
          </a:p>
          <a:p>
            <a:pPr lvl="1"/>
            <a:r>
              <a:rPr lang="fr-FR" noProof="0" dirty="0"/>
              <a:t>Quelles sont les suppositions raisonnables? </a:t>
            </a:r>
          </a:p>
          <a:p>
            <a:pPr lvl="1"/>
            <a:r>
              <a:rPr lang="fr-FR" noProof="0" dirty="0"/>
              <a:t>Comment gérer la contradiction?</a:t>
            </a:r>
          </a:p>
          <a:p>
            <a:r>
              <a:rPr lang="fr-FR" noProof="0" dirty="0"/>
              <a:t>Règles avec </a:t>
            </a:r>
            <a:r>
              <a:rPr lang="fr-FR" noProof="0" dirty="0">
                <a:solidFill>
                  <a:srgbClr val="A03A86"/>
                </a:solidFill>
              </a:rPr>
              <a:t>facteurs vague</a:t>
            </a:r>
          </a:p>
          <a:p>
            <a:pPr lvl="1"/>
            <a:r>
              <a:rPr lang="fr-FR" sz="2400" i="1" noProof="0" dirty="0"/>
              <a:t>A</a:t>
            </a:r>
            <a:r>
              <a:rPr lang="fr-FR" sz="2400" i="1" baseline="-25000" noProof="0" dirty="0"/>
              <a:t>25</a:t>
            </a:r>
            <a:r>
              <a:rPr lang="fr-FR" sz="2400" i="1" noProof="0" dirty="0"/>
              <a:t> |</a:t>
            </a:r>
            <a:r>
              <a:rPr lang="fr-FR" sz="2400" noProof="0" dirty="0">
                <a:cs typeface="Arial" charset="0"/>
              </a:rPr>
              <a:t>→</a:t>
            </a:r>
            <a:r>
              <a:rPr lang="fr-FR" sz="2400" baseline="-25000" noProof="0" dirty="0"/>
              <a:t>0.3</a:t>
            </a:r>
            <a:r>
              <a:rPr lang="fr-FR" noProof="0" dirty="0"/>
              <a:t> devrait </a:t>
            </a:r>
            <a:r>
              <a:rPr lang="fr-FR" noProof="0" dirty="0" err="1"/>
              <a:t>suffir</a:t>
            </a:r>
            <a:endParaRPr lang="fr-FR" noProof="0" dirty="0"/>
          </a:p>
          <a:p>
            <a:pPr lvl="1"/>
            <a:r>
              <a:rPr lang="fr-FR" sz="2400" i="1" noProof="0" dirty="0"/>
              <a:t>Arroseur |</a:t>
            </a:r>
            <a:r>
              <a:rPr lang="fr-FR" sz="2400" noProof="0" dirty="0">
                <a:cs typeface="Arial" charset="0"/>
              </a:rPr>
              <a:t>→</a:t>
            </a:r>
            <a:r>
              <a:rPr lang="fr-FR" sz="2400" i="1" noProof="0" dirty="0"/>
              <a:t> </a:t>
            </a:r>
            <a:r>
              <a:rPr lang="fr-FR" sz="2400" baseline="-25000" noProof="0" dirty="0"/>
              <a:t>0.99</a:t>
            </a:r>
            <a:r>
              <a:rPr lang="fr-FR" sz="2400" noProof="0" dirty="0"/>
              <a:t> </a:t>
            </a:r>
            <a:r>
              <a:rPr lang="fr-FR" sz="2400" i="1" noProof="0" dirty="0"/>
              <a:t>Herbe Mouillée</a:t>
            </a:r>
            <a:endParaRPr lang="fr-FR" noProof="0" dirty="0"/>
          </a:p>
          <a:p>
            <a:pPr lvl="1"/>
            <a:r>
              <a:rPr lang="fr-FR" sz="2400" i="1" noProof="0" dirty="0"/>
              <a:t>Herbe Mouillée |</a:t>
            </a:r>
            <a:r>
              <a:rPr lang="fr-FR" sz="2400" noProof="0" dirty="0">
                <a:cs typeface="Arial" charset="0"/>
              </a:rPr>
              <a:t>→</a:t>
            </a:r>
            <a:r>
              <a:rPr lang="fr-FR" sz="2400" i="1" noProof="0" dirty="0"/>
              <a:t> </a:t>
            </a:r>
            <a:r>
              <a:rPr lang="fr-FR" sz="2400" baseline="-25000" noProof="0" dirty="0"/>
              <a:t>0.7</a:t>
            </a:r>
            <a:r>
              <a:rPr lang="fr-FR" sz="2400" noProof="0" dirty="0"/>
              <a:t> </a:t>
            </a:r>
            <a:r>
              <a:rPr lang="fr-FR" sz="2400" i="1" noProof="0" dirty="0"/>
              <a:t>Pluie</a:t>
            </a:r>
            <a:endParaRPr lang="fr-FR" noProof="0" dirty="0"/>
          </a:p>
          <a:p>
            <a:r>
              <a:rPr lang="fr-FR" noProof="0" dirty="0"/>
              <a:t>Problèmes: combinaisons (</a:t>
            </a:r>
            <a:r>
              <a:rPr lang="fr-FR" noProof="0" dirty="0" err="1"/>
              <a:t>e.g</a:t>
            </a:r>
            <a:r>
              <a:rPr lang="fr-FR" noProof="0" dirty="0"/>
              <a:t>, l’arroseur cause la pluie ?)</a:t>
            </a:r>
          </a:p>
          <a:p>
            <a:r>
              <a:rPr lang="fr-FR" noProof="0" dirty="0"/>
              <a:t>Probabilités:</a:t>
            </a:r>
          </a:p>
          <a:p>
            <a:pPr lvl="1"/>
            <a:r>
              <a:rPr lang="fr-FR" noProof="0" dirty="0"/>
              <a:t>Représente le degré de croyance de l’agent</a:t>
            </a:r>
          </a:p>
          <a:p>
            <a:pPr lvl="2"/>
            <a:r>
              <a:rPr lang="fr-FR" noProof="0" dirty="0">
                <a:sym typeface="Wingdings" panose="05000000000000000000" pitchFamily="2" charset="2"/>
              </a:rPr>
              <a:t> </a:t>
            </a:r>
            <a:r>
              <a:rPr lang="fr-FR" noProof="0" dirty="0"/>
              <a:t>Etant donné les observations disponibles, </a:t>
            </a:r>
            <a:r>
              <a:rPr lang="fr-FR" sz="2200" i="1" noProof="0" dirty="0"/>
              <a:t>A</a:t>
            </a:r>
            <a:r>
              <a:rPr lang="fr-FR" sz="2200" i="1" baseline="-25000" noProof="0" dirty="0"/>
              <a:t>25  </a:t>
            </a:r>
            <a:r>
              <a:rPr lang="fr-FR" noProof="0" dirty="0"/>
              <a:t>devrait me permettre d’avoir mon avion avec la probabilité 0.04</a:t>
            </a:r>
          </a:p>
        </p:txBody>
      </p:sp>
    </p:spTree>
    <p:extLst>
      <p:ext uri="{BB962C8B-B14F-4D97-AF65-F5344CB8AC3E}">
        <p14:creationId xmlns:p14="http://schemas.microsoft.com/office/powerpoint/2010/main" val="161424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Probabilité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lnSpcReduction="10000"/>
          </a:bodyPr>
          <a:lstStyle/>
          <a:p>
            <a:r>
              <a:rPr lang="fr-FR" noProof="0" dirty="0"/>
              <a:t>Les assertions probabilistes </a:t>
            </a:r>
            <a:r>
              <a:rPr lang="fr-FR" noProof="0" dirty="0">
                <a:solidFill>
                  <a:srgbClr val="FF0000"/>
                </a:solidFill>
              </a:rPr>
              <a:t>résument</a:t>
            </a:r>
            <a:r>
              <a:rPr lang="fr-FR" noProof="0" dirty="0"/>
              <a:t> les effets de:</a:t>
            </a:r>
          </a:p>
          <a:p>
            <a:pPr lvl="1"/>
            <a:r>
              <a:rPr lang="fr-FR" noProof="0" dirty="0"/>
              <a:t>La </a:t>
            </a:r>
            <a:r>
              <a:rPr lang="fr-FR" noProof="0" dirty="0">
                <a:solidFill>
                  <a:srgbClr val="FFFF00"/>
                </a:solidFill>
              </a:rPr>
              <a:t>paresse</a:t>
            </a:r>
            <a:r>
              <a:rPr lang="fr-FR" noProof="0" dirty="0"/>
              <a:t>: on n’énumère pas toutes les exceptions, qualifications etc.</a:t>
            </a:r>
          </a:p>
          <a:p>
            <a:pPr lvl="1"/>
            <a:r>
              <a:rPr lang="fr-FR" noProof="0" dirty="0">
                <a:solidFill>
                  <a:srgbClr val="FFFF00"/>
                </a:solidFill>
              </a:rPr>
              <a:t>L’ignorance théorique </a:t>
            </a:r>
            <a:r>
              <a:rPr lang="fr-FR" dirty="0"/>
              <a:t>et</a:t>
            </a:r>
            <a:r>
              <a:rPr lang="fr-FR" noProof="0" dirty="0">
                <a:solidFill>
                  <a:srgbClr val="FFFF00"/>
                </a:solidFill>
              </a:rPr>
              <a:t> pratique</a:t>
            </a:r>
            <a:r>
              <a:rPr lang="fr-FR" noProof="0" dirty="0"/>
              <a:t>: Il nous manque des faits pertinents, les conditions initiales etc.</a:t>
            </a:r>
          </a:p>
          <a:p>
            <a:r>
              <a:rPr lang="fr-FR" noProof="0" dirty="0"/>
              <a:t>Probabilités </a:t>
            </a:r>
            <a:r>
              <a:rPr lang="fr-FR" noProof="0" dirty="0">
                <a:solidFill>
                  <a:srgbClr val="FFFF00"/>
                </a:solidFill>
              </a:rPr>
              <a:t>subjectives</a:t>
            </a:r>
            <a:r>
              <a:rPr lang="fr-FR" noProof="0" dirty="0"/>
              <a:t>:</a:t>
            </a:r>
          </a:p>
          <a:p>
            <a:pPr lvl="1"/>
            <a:r>
              <a:rPr lang="fr-FR" noProof="0" dirty="0"/>
              <a:t>Elles concernent les propositions de l’état de connaissance de l’agent.</a:t>
            </a:r>
          </a:p>
          <a:p>
            <a:pPr lvl="2"/>
            <a:r>
              <a:rPr lang="fr-FR" noProof="0" dirty="0"/>
              <a:t>P(A</a:t>
            </a:r>
            <a:r>
              <a:rPr lang="fr-FR" baseline="-25000" noProof="0" dirty="0"/>
              <a:t>25</a:t>
            </a:r>
            <a:r>
              <a:rPr lang="fr-FR" noProof="0" dirty="0"/>
              <a:t> | pas d’incident rapporté) = 0.06</a:t>
            </a:r>
          </a:p>
          <a:p>
            <a:pPr lvl="1"/>
            <a:r>
              <a:rPr lang="fr-FR" noProof="0" dirty="0"/>
              <a:t>Ce ne sont </a:t>
            </a:r>
            <a:r>
              <a:rPr lang="fr-FR" noProof="0" dirty="0">
                <a:solidFill>
                  <a:srgbClr val="FF0000"/>
                </a:solidFill>
              </a:rPr>
              <a:t>pas</a:t>
            </a:r>
            <a:r>
              <a:rPr lang="fr-FR" noProof="0" dirty="0"/>
              <a:t> des assertions sur le monde</a:t>
            </a:r>
          </a:p>
          <a:p>
            <a:pPr lvl="1"/>
            <a:r>
              <a:rPr lang="fr-FR" noProof="0" dirty="0"/>
              <a:t>Les probabilités des propositions changent avec de nouvelles observations.</a:t>
            </a:r>
          </a:p>
          <a:p>
            <a:pPr lvl="2"/>
            <a:r>
              <a:rPr lang="fr-FR" noProof="0" dirty="0"/>
              <a:t>P(A</a:t>
            </a:r>
            <a:r>
              <a:rPr lang="fr-FR" baseline="-25000" noProof="0" dirty="0"/>
              <a:t>25</a:t>
            </a:r>
            <a:r>
              <a:rPr lang="fr-FR" noProof="0" dirty="0"/>
              <a:t> | pas d’incident rapporté, 05h00) = 0.15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0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Prendre des décisions dans l’incertitude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Supposons que je crois 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400" noProof="0" dirty="0"/>
              <a:t>P(A</a:t>
            </a:r>
            <a:r>
              <a:rPr lang="fr-FR" sz="2400" baseline="-25000" noProof="0" dirty="0"/>
              <a:t>25</a:t>
            </a:r>
            <a:r>
              <a:rPr lang="fr-FR" sz="2400" noProof="0" dirty="0"/>
              <a:t> j’arrive à temps | …) 	= 0.04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400" noProof="0" dirty="0"/>
              <a:t>P(A</a:t>
            </a:r>
            <a:r>
              <a:rPr lang="fr-FR" sz="2400" baseline="-25000" noProof="0" dirty="0"/>
              <a:t>90</a:t>
            </a:r>
            <a:r>
              <a:rPr lang="fr-FR" sz="2400" noProof="0" dirty="0"/>
              <a:t> j’arrive à temps | …) 	= 0.70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400" noProof="0" dirty="0"/>
              <a:t>P(A</a:t>
            </a:r>
            <a:r>
              <a:rPr lang="fr-FR" sz="2400" baseline="-25000" noProof="0" dirty="0"/>
              <a:t>120 </a:t>
            </a:r>
            <a:r>
              <a:rPr lang="fr-FR" sz="2400" noProof="0" dirty="0"/>
              <a:t>j’arrive à temps | …) 	= 0.95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400" noProof="0" dirty="0"/>
              <a:t>P(A</a:t>
            </a:r>
            <a:r>
              <a:rPr lang="fr-FR" sz="2400" baseline="-25000" noProof="0" dirty="0"/>
              <a:t>1440</a:t>
            </a:r>
            <a:r>
              <a:rPr lang="fr-FR" sz="2400" noProof="0" dirty="0"/>
              <a:t> j’arrive à temps | …) 	= 0.9999</a:t>
            </a:r>
          </a:p>
          <a:p>
            <a:r>
              <a:rPr lang="fr-FR" noProof="0" dirty="0"/>
              <a:t>Quelles actions choisir</a:t>
            </a:r>
          </a:p>
          <a:p>
            <a:pPr lvl="1"/>
            <a:r>
              <a:rPr lang="fr-FR" noProof="0" dirty="0"/>
              <a:t>Dépend des </a:t>
            </a:r>
            <a:r>
              <a:rPr lang="fr-FR" noProof="0" dirty="0">
                <a:solidFill>
                  <a:srgbClr val="A03A86"/>
                </a:solidFill>
              </a:rPr>
              <a:t>préférences</a:t>
            </a:r>
            <a:r>
              <a:rPr lang="fr-FR" noProof="0" dirty="0"/>
              <a:t> entre rater le vol et attendre</a:t>
            </a:r>
          </a:p>
          <a:p>
            <a:pPr lvl="1"/>
            <a:r>
              <a:rPr lang="fr-FR" noProof="0" dirty="0"/>
              <a:t>La </a:t>
            </a:r>
            <a:r>
              <a:rPr lang="fr-FR" noProof="0" dirty="0">
                <a:solidFill>
                  <a:srgbClr val="A03A86"/>
                </a:solidFill>
              </a:rPr>
              <a:t>théorie de l’utilité</a:t>
            </a:r>
            <a:r>
              <a:rPr lang="fr-FR" noProof="0" dirty="0"/>
              <a:t> peut représenter et inférer les préférences</a:t>
            </a:r>
          </a:p>
          <a:p>
            <a:pPr lvl="1"/>
            <a:r>
              <a:rPr lang="fr-FR" noProof="0" dirty="0">
                <a:solidFill>
                  <a:srgbClr val="A03A86"/>
                </a:solidFill>
              </a:rPr>
              <a:t>théorie de la décision</a:t>
            </a:r>
            <a:r>
              <a:rPr lang="fr-FR" noProof="0" dirty="0"/>
              <a:t> = probabilités + théorie de l’utilité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5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Syntaxe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468438"/>
            <a:ext cx="8503920" cy="4941887"/>
          </a:xfrm>
        </p:spPr>
        <p:txBody>
          <a:bodyPr>
            <a:normAutofit fontScale="77500" lnSpcReduction="20000"/>
          </a:bodyPr>
          <a:lstStyle/>
          <a:p>
            <a:r>
              <a:rPr lang="fr-FR" noProof="0" dirty="0"/>
              <a:t>Elément de base: La </a:t>
            </a:r>
            <a:r>
              <a:rPr lang="fr-FR" noProof="0" dirty="0">
                <a:solidFill>
                  <a:srgbClr val="FF0000"/>
                </a:solidFill>
              </a:rPr>
              <a:t>variable aléatoire</a:t>
            </a:r>
          </a:p>
          <a:p>
            <a:pPr lvl="1"/>
            <a:r>
              <a:rPr lang="fr-FR" noProof="0" dirty="0"/>
              <a:t>Des mondes possibles leur donnent des </a:t>
            </a:r>
            <a:r>
              <a:rPr lang="fr-FR" noProof="0" dirty="0">
                <a:solidFill>
                  <a:srgbClr val="A03A86"/>
                </a:solidFill>
              </a:rPr>
              <a:t>assignations</a:t>
            </a:r>
            <a:r>
              <a:rPr lang="fr-FR" noProof="0" dirty="0"/>
              <a:t> (</a:t>
            </a:r>
            <a:r>
              <a:rPr lang="fr-FR" noProof="0" dirty="0" err="1"/>
              <a:t>cf</a:t>
            </a:r>
            <a:r>
              <a:rPr lang="fr-FR" noProof="0" dirty="0"/>
              <a:t> logique propositionnelle)</a:t>
            </a:r>
          </a:p>
          <a:p>
            <a:r>
              <a:rPr lang="fr-FR" noProof="0" dirty="0"/>
              <a:t>Domaines:</a:t>
            </a:r>
          </a:p>
          <a:p>
            <a:pPr lvl="1"/>
            <a:r>
              <a:rPr lang="fr-FR" noProof="0" dirty="0"/>
              <a:t>Variables aléatoires </a:t>
            </a:r>
            <a:r>
              <a:rPr lang="fr-FR" noProof="0" dirty="0">
                <a:solidFill>
                  <a:srgbClr val="A03A86"/>
                </a:solidFill>
              </a:rPr>
              <a:t>Booléennes</a:t>
            </a:r>
            <a:r>
              <a:rPr lang="fr-FR" noProof="0" dirty="0"/>
              <a:t>:</a:t>
            </a:r>
          </a:p>
          <a:p>
            <a:pPr lvl="2"/>
            <a:r>
              <a:rPr lang="fr-FR" noProof="0" dirty="0"/>
              <a:t>E.g. </a:t>
            </a:r>
            <a:r>
              <a:rPr lang="fr-FR" i="1" noProof="0" dirty="0"/>
              <a:t>Carie</a:t>
            </a:r>
            <a:r>
              <a:rPr lang="fr-FR" noProof="0" dirty="0"/>
              <a:t> (est-ce que j’ai une carie?)</a:t>
            </a:r>
          </a:p>
          <a:p>
            <a:pPr lvl="1"/>
            <a:r>
              <a:rPr lang="fr-FR" noProof="0" dirty="0"/>
              <a:t>Variables </a:t>
            </a:r>
            <a:r>
              <a:rPr lang="fr-FR" noProof="0" dirty="0">
                <a:solidFill>
                  <a:srgbClr val="A03A86"/>
                </a:solidFill>
              </a:rPr>
              <a:t>discrètes</a:t>
            </a:r>
            <a:r>
              <a:rPr lang="fr-FR" noProof="0" dirty="0"/>
              <a:t>:</a:t>
            </a:r>
          </a:p>
          <a:p>
            <a:pPr lvl="2"/>
            <a:r>
              <a:rPr lang="fr-FR" noProof="0" dirty="0"/>
              <a:t>E.g. Le </a:t>
            </a:r>
            <a:r>
              <a:rPr lang="fr-FR" i="1" noProof="0" dirty="0"/>
              <a:t>Temps</a:t>
            </a:r>
            <a:r>
              <a:rPr lang="fr-FR" noProof="0" dirty="0"/>
              <a:t> est un parmi &lt;ensoleillé, nuageux, pluvieux, neigeux&gt;</a:t>
            </a:r>
          </a:p>
          <a:p>
            <a:pPr lvl="1"/>
            <a:r>
              <a:rPr lang="fr-FR" noProof="0" dirty="0"/>
              <a:t>valeurs des domaines exhaustives et mutuellement exclusives</a:t>
            </a:r>
          </a:p>
          <a:p>
            <a:r>
              <a:rPr lang="fr-FR" noProof="0" dirty="0"/>
              <a:t>Propositions:</a:t>
            </a:r>
          </a:p>
          <a:p>
            <a:pPr lvl="1"/>
            <a:r>
              <a:rPr lang="fr-FR" noProof="0" dirty="0"/>
              <a:t>Proposition élémentaire construites par assignation</a:t>
            </a:r>
          </a:p>
          <a:p>
            <a:pPr lvl="2"/>
            <a:r>
              <a:rPr lang="fr-FR" noProof="0" dirty="0"/>
              <a:t>E.g. </a:t>
            </a:r>
            <a:r>
              <a:rPr lang="fr-FR" i="1" noProof="0" dirty="0"/>
              <a:t>Temps</a:t>
            </a:r>
            <a:r>
              <a:rPr lang="fr-FR" noProof="0" dirty="0"/>
              <a:t> = ensoleillé, </a:t>
            </a:r>
            <a:r>
              <a:rPr lang="fr-FR" i="1" noProof="0" dirty="0"/>
              <a:t>Carie</a:t>
            </a:r>
            <a:r>
              <a:rPr lang="fr-FR" noProof="0" dirty="0"/>
              <a:t> = faux (</a:t>
            </a:r>
            <a:r>
              <a:rPr lang="fr-FR" sz="2200" noProof="0" dirty="0">
                <a:sym typeface="Symbol" pitchFamily="18" charset="2"/>
              </a:rPr>
              <a:t> </a:t>
            </a:r>
            <a:r>
              <a:rPr lang="fr-FR" i="1" noProof="0" dirty="0"/>
              <a:t>Carie</a:t>
            </a:r>
            <a:r>
              <a:rPr lang="fr-FR" noProof="0" dirty="0"/>
              <a:t>)</a:t>
            </a:r>
          </a:p>
          <a:p>
            <a:pPr lvl="1"/>
            <a:r>
              <a:rPr lang="fr-FR" noProof="0" dirty="0"/>
              <a:t>Proposition complexe formée par élémentaires + connecteurs logiques</a:t>
            </a:r>
          </a:p>
          <a:p>
            <a:pPr lvl="2"/>
            <a:r>
              <a:rPr lang="fr-FR" noProof="0" dirty="0"/>
              <a:t>E.g. </a:t>
            </a:r>
            <a:r>
              <a:rPr lang="fr-FR" i="1" noProof="0" dirty="0"/>
              <a:t>Temps</a:t>
            </a:r>
            <a:r>
              <a:rPr lang="fr-FR" noProof="0" dirty="0"/>
              <a:t> = ensoleillé </a:t>
            </a:r>
            <a:r>
              <a:rPr lang="fr-FR" noProof="0" dirty="0">
                <a:sym typeface="Symbol" pitchFamily="18" charset="2"/>
              </a:rPr>
              <a:t></a:t>
            </a:r>
            <a:r>
              <a:rPr lang="fr-FR" noProof="0" dirty="0"/>
              <a:t> </a:t>
            </a:r>
            <a:r>
              <a:rPr lang="fr-FR" i="1" noProof="0" dirty="0"/>
              <a:t>Carie</a:t>
            </a:r>
            <a:r>
              <a:rPr lang="fr-FR" noProof="0" dirty="0"/>
              <a:t> = faux</a:t>
            </a:r>
          </a:p>
          <a:p>
            <a:r>
              <a:rPr lang="fr-FR" noProof="0" dirty="0">
                <a:solidFill>
                  <a:srgbClr val="FF0000"/>
                </a:solidFill>
              </a:rPr>
              <a:t>Evènement atomique</a:t>
            </a:r>
            <a:r>
              <a:rPr lang="fr-FR" noProof="0" dirty="0"/>
              <a:t>: spécification </a:t>
            </a:r>
            <a:r>
              <a:rPr lang="fr-FR" noProof="0" dirty="0">
                <a:solidFill>
                  <a:srgbClr val="A03A86"/>
                </a:solidFill>
              </a:rPr>
              <a:t>complète</a:t>
            </a:r>
            <a:r>
              <a:rPr lang="fr-FR" noProof="0" dirty="0"/>
              <a:t> de l’état incertain</a:t>
            </a:r>
          </a:p>
          <a:p>
            <a:pPr lvl="1"/>
            <a:r>
              <a:rPr lang="fr-FR" noProof="0" dirty="0"/>
              <a:t>Ex pour 2 variables aléatoires: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fr-FR" i="1" noProof="0" dirty="0"/>
              <a:t>Carie = false </a:t>
            </a:r>
            <a:r>
              <a:rPr lang="fr-FR" noProof="0" dirty="0">
                <a:sym typeface="Symbol" pitchFamily="18" charset="2"/>
              </a:rPr>
              <a:t></a:t>
            </a:r>
            <a:r>
              <a:rPr lang="fr-FR" i="1" noProof="0" dirty="0"/>
              <a:t> </a:t>
            </a:r>
            <a:r>
              <a:rPr lang="fr-FR" i="1" noProof="0" dirty="0" err="1"/>
              <a:t>MalDeDent</a:t>
            </a:r>
            <a:r>
              <a:rPr lang="fr-FR" i="1" noProof="0" dirty="0"/>
              <a:t> = </a:t>
            </a:r>
            <a:r>
              <a:rPr lang="fr-FR" i="1" noProof="0" dirty="0" err="1"/>
              <a:t>true</a:t>
            </a:r>
            <a:endParaRPr lang="fr-FR" i="1" noProof="0" dirty="0"/>
          </a:p>
          <a:p>
            <a:pPr lvl="1"/>
            <a:r>
              <a:rPr lang="fr-FR" noProof="0" dirty="0"/>
              <a:t>Mutuellement exclusifs et exhaustifs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0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Axiomes des probabilités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Pour toutes propositions A, B,</a:t>
            </a:r>
          </a:p>
          <a:p>
            <a:pPr lvl="1"/>
            <a:r>
              <a:rPr lang="fr-FR" noProof="0" dirty="0"/>
              <a:t>0 </a:t>
            </a:r>
            <a:r>
              <a:rPr lang="fr-FR" noProof="0" dirty="0">
                <a:cs typeface="Arial" charset="0"/>
              </a:rPr>
              <a:t>≤</a:t>
            </a:r>
            <a:r>
              <a:rPr lang="fr-FR" noProof="0" dirty="0"/>
              <a:t> P(</a:t>
            </a:r>
            <a:r>
              <a:rPr lang="fr-FR" i="1" noProof="0" dirty="0"/>
              <a:t>A</a:t>
            </a:r>
            <a:r>
              <a:rPr lang="fr-FR" noProof="0" dirty="0"/>
              <a:t>) </a:t>
            </a:r>
            <a:r>
              <a:rPr lang="fr-FR" noProof="0" dirty="0">
                <a:cs typeface="Arial" charset="0"/>
              </a:rPr>
              <a:t>≤</a:t>
            </a:r>
            <a:r>
              <a:rPr lang="fr-FR" noProof="0" dirty="0"/>
              <a:t> 1</a:t>
            </a:r>
          </a:p>
          <a:p>
            <a:pPr lvl="1"/>
            <a:r>
              <a:rPr lang="fr-FR" noProof="0" dirty="0"/>
              <a:t>P(</a:t>
            </a:r>
            <a:r>
              <a:rPr lang="fr-FR" i="1" noProof="0" dirty="0"/>
              <a:t>vrai</a:t>
            </a:r>
            <a:r>
              <a:rPr lang="fr-FR" noProof="0" dirty="0"/>
              <a:t>) = 1 and P(</a:t>
            </a:r>
            <a:r>
              <a:rPr lang="fr-FR" i="1" noProof="0" dirty="0"/>
              <a:t>faux</a:t>
            </a:r>
            <a:r>
              <a:rPr lang="fr-FR" noProof="0" dirty="0"/>
              <a:t>) = 0</a:t>
            </a:r>
          </a:p>
          <a:p>
            <a:pPr lvl="1"/>
            <a:r>
              <a:rPr lang="fr-FR" noProof="0" dirty="0"/>
              <a:t>P(</a:t>
            </a:r>
            <a:r>
              <a:rPr lang="fr-FR" i="1" noProof="0" dirty="0"/>
              <a:t>A</a:t>
            </a:r>
            <a:r>
              <a:rPr lang="fr-FR" noProof="0" dirty="0"/>
              <a:t> </a:t>
            </a:r>
            <a:r>
              <a:rPr lang="fr-FR" noProof="0" dirty="0">
                <a:sym typeface="Symbol" pitchFamily="18" charset="2"/>
              </a:rPr>
              <a:t> </a:t>
            </a:r>
            <a:r>
              <a:rPr lang="fr-FR" i="1" noProof="0" dirty="0"/>
              <a:t>B</a:t>
            </a:r>
            <a:r>
              <a:rPr lang="fr-FR" noProof="0" dirty="0"/>
              <a:t>) = P(</a:t>
            </a:r>
            <a:r>
              <a:rPr lang="fr-FR" i="1" noProof="0" dirty="0"/>
              <a:t>A</a:t>
            </a:r>
            <a:r>
              <a:rPr lang="fr-FR" noProof="0" dirty="0"/>
              <a:t>) + P(</a:t>
            </a:r>
            <a:r>
              <a:rPr lang="fr-FR" i="1" noProof="0" dirty="0"/>
              <a:t>B</a:t>
            </a:r>
            <a:r>
              <a:rPr lang="fr-FR" noProof="0" dirty="0"/>
              <a:t>) - P(</a:t>
            </a:r>
            <a:r>
              <a:rPr lang="fr-FR" i="1" noProof="0" dirty="0"/>
              <a:t>A</a:t>
            </a:r>
            <a:r>
              <a:rPr lang="fr-FR" noProof="0" dirty="0"/>
              <a:t> </a:t>
            </a:r>
            <a:r>
              <a:rPr lang="fr-FR" noProof="0" dirty="0">
                <a:sym typeface="Symbol" pitchFamily="18" charset="2"/>
              </a:rPr>
              <a:t></a:t>
            </a:r>
            <a:r>
              <a:rPr lang="fr-FR" noProof="0" dirty="0"/>
              <a:t> </a:t>
            </a:r>
            <a:r>
              <a:rPr lang="fr-FR" i="1" noProof="0" dirty="0"/>
              <a:t>B</a:t>
            </a:r>
            <a:r>
              <a:rPr lang="fr-FR" noProof="0" dirty="0"/>
              <a:t>)</a:t>
            </a:r>
          </a:p>
          <a:p>
            <a:pPr lvl="1"/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6" name="Picture 4" descr="axiom3-ven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505200"/>
            <a:ext cx="378142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647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Probabilités a priori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92500" lnSpcReduction="20000"/>
          </a:bodyPr>
          <a:lstStyle/>
          <a:p>
            <a:r>
              <a:rPr lang="fr-FR" noProof="0" dirty="0"/>
              <a:t>Probabilités </a:t>
            </a:r>
            <a:r>
              <a:rPr lang="fr-FR" noProof="0" dirty="0">
                <a:solidFill>
                  <a:srgbClr val="A03A86"/>
                </a:solidFill>
              </a:rPr>
              <a:t>inconditionnelles</a:t>
            </a:r>
            <a:r>
              <a:rPr lang="fr-FR" noProof="0" dirty="0"/>
              <a:t> ou </a:t>
            </a:r>
            <a:r>
              <a:rPr lang="fr-FR" noProof="0" dirty="0">
                <a:solidFill>
                  <a:srgbClr val="A03A86"/>
                </a:solidFill>
              </a:rPr>
              <a:t>a priori</a:t>
            </a:r>
            <a:r>
              <a:rPr lang="fr-FR" noProof="0" dirty="0"/>
              <a:t> de propositions</a:t>
            </a:r>
          </a:p>
          <a:p>
            <a:pPr lvl="1"/>
            <a:r>
              <a:rPr lang="fr-FR" noProof="0" dirty="0"/>
              <a:t>E.g. P(Carie = vrai) et P(Temps =ensoleillé) = 0.72 </a:t>
            </a:r>
          </a:p>
          <a:p>
            <a:pPr lvl="2"/>
            <a:r>
              <a:rPr lang="fr-FR" noProof="0" dirty="0"/>
              <a:t>= état de croyance a priori en l’absence d’observation</a:t>
            </a:r>
          </a:p>
          <a:p>
            <a:r>
              <a:rPr lang="fr-FR" noProof="0" dirty="0"/>
              <a:t>La </a:t>
            </a:r>
            <a:r>
              <a:rPr lang="fr-FR" noProof="0" dirty="0">
                <a:solidFill>
                  <a:srgbClr val="A03A86"/>
                </a:solidFill>
              </a:rPr>
              <a:t>distribution de probabilité</a:t>
            </a:r>
            <a:r>
              <a:rPr lang="fr-FR" noProof="0" dirty="0"/>
              <a:t> donne les valeurs pour toutes les assignations:</a:t>
            </a:r>
          </a:p>
          <a:p>
            <a:pPr lvl="1"/>
            <a:r>
              <a:rPr lang="fr-FR" noProof="0" dirty="0"/>
              <a:t>P(Temps) = &lt;0.72,0.1,0.08,0.1&gt; (</a:t>
            </a:r>
            <a:r>
              <a:rPr lang="fr-FR" noProof="0" dirty="0">
                <a:solidFill>
                  <a:srgbClr val="FF0000"/>
                </a:solidFill>
              </a:rPr>
              <a:t>normalisées</a:t>
            </a:r>
            <a:r>
              <a:rPr lang="fr-FR" noProof="0" dirty="0"/>
              <a:t>, i.e. la somme vaut 1)</a:t>
            </a:r>
          </a:p>
          <a:p>
            <a:r>
              <a:rPr lang="fr-FR" noProof="0" dirty="0">
                <a:solidFill>
                  <a:srgbClr val="A03A86"/>
                </a:solidFill>
              </a:rPr>
              <a:t>Distribution de probabilités conjointe</a:t>
            </a:r>
          </a:p>
          <a:p>
            <a:pPr lvl="1"/>
            <a:r>
              <a:rPr lang="fr-FR" noProof="0" dirty="0"/>
              <a:t> Pour des variables aléatoires, la probabilité de chacun de leurs évènements atomiques</a:t>
            </a:r>
          </a:p>
          <a:p>
            <a:pPr lvl="1"/>
            <a:r>
              <a:rPr lang="fr-FR" noProof="0" dirty="0"/>
              <a:t>P(Temps, Carie) = une matrice 4 x 2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fr-FR" sz="1400" noProof="0" dirty="0"/>
          </a:p>
          <a:p>
            <a:pPr>
              <a:lnSpc>
                <a:spcPct val="80000"/>
              </a:lnSpc>
              <a:buFontTx/>
              <a:buNone/>
            </a:pPr>
            <a:r>
              <a:rPr lang="fr-FR" sz="2000" noProof="0" dirty="0"/>
              <a:t>	T</a:t>
            </a:r>
            <a:r>
              <a:rPr lang="fr-FR" sz="2000" i="1" noProof="0" dirty="0"/>
              <a:t>emps</a:t>
            </a:r>
            <a:r>
              <a:rPr lang="fr-FR" sz="2000" noProof="0" dirty="0"/>
              <a:t> =	Soleil	Pluie	Nuages	Neige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fr-FR" sz="2000" noProof="0" dirty="0"/>
              <a:t>	</a:t>
            </a:r>
            <a:r>
              <a:rPr lang="fr-FR" sz="2000" i="1" noProof="0" dirty="0"/>
              <a:t>Carie</a:t>
            </a:r>
            <a:r>
              <a:rPr lang="fr-FR" sz="2000" noProof="0" dirty="0"/>
              <a:t> = </a:t>
            </a:r>
            <a:r>
              <a:rPr lang="fr-FR" sz="2000" noProof="0" dirty="0" err="1"/>
              <a:t>true</a:t>
            </a:r>
            <a:r>
              <a:rPr lang="fr-FR" sz="2000" noProof="0" dirty="0"/>
              <a:t> 	0.144	0.02 	0.016 	0.02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fr-FR" sz="2000" noProof="0" dirty="0"/>
              <a:t>	</a:t>
            </a:r>
            <a:r>
              <a:rPr lang="fr-FR" sz="2000" i="1" noProof="0" dirty="0"/>
              <a:t>Carie</a:t>
            </a:r>
            <a:r>
              <a:rPr lang="fr-FR" sz="2000" noProof="0" dirty="0"/>
              <a:t> = false	0.576	0.08 	0.064 	0.08</a:t>
            </a:r>
            <a:endParaRPr lang="fr-FR" sz="1400" noProof="0" dirty="0"/>
          </a:p>
          <a:p>
            <a:pPr lvl="1"/>
            <a:r>
              <a:rPr lang="fr-FR" noProof="0" dirty="0"/>
              <a:t>Chaque question sur un domaine peut être répondue par la distribution conjointe. </a:t>
            </a:r>
          </a:p>
          <a:p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0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E53407-04BD-4B9A-BF5B-6CE735E0D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Probabilités des variables continues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ABD81B5-5E33-4CEF-BB78-B7AE72B0B5B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fr-FR" dirty="0"/>
                  <a:t>On exprime la distribution comme fonction paramétrée:</a:t>
                </a:r>
              </a:p>
              <a:p>
                <a:pPr lvl="1"/>
                <a:r>
                  <a:rPr lang="pl-PL" dirty="0"/>
                  <a:t>P(X =x) = U[18; 26](x)</a:t>
                </a:r>
                <a:endParaRPr lang="fr-FR" dirty="0"/>
              </a:p>
              <a:p>
                <a:pPr lvl="2"/>
                <a:r>
                  <a:rPr lang="fr-FR" dirty="0"/>
                  <a:t>= densité uniforme entre 18 et 26</a:t>
                </a:r>
              </a:p>
              <a:p>
                <a:pPr lvl="1"/>
                <a:r>
                  <a:rPr lang="fr-FR" dirty="0"/>
                  <a:t>P est une densité qui intègre à 1</a:t>
                </a:r>
              </a:p>
              <a:p>
                <a:pPr lvl="1"/>
                <a:r>
                  <a:rPr lang="en-US" dirty="0"/>
                  <a:t>P(X =20,5) = 0,125 </a:t>
                </a:r>
                <a:r>
                  <a:rPr lang="en-US" dirty="0" err="1"/>
                  <a:t>signifie</a:t>
                </a:r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Pre>
                      <m:sPre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→0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𝑙𝑖𝑚</m:t>
                        </m:r>
                      </m:sup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20.5</m:t>
                            </m:r>
                          </m:e>
                        </m:d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≤20.5=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=0.125</m:t>
                        </m:r>
                      </m:e>
                    </m:sPre>
                  </m:oMath>
                </a14:m>
                <a:endParaRPr lang="en-US" dirty="0"/>
              </a:p>
              <a:p>
                <a:r>
                  <a:rPr lang="en-US" dirty="0"/>
                  <a:t>Distribution </a:t>
                </a:r>
                <a:r>
                  <a:rPr lang="en-US" dirty="0" err="1"/>
                  <a:t>gaussienne</a:t>
                </a:r>
                <a:r>
                  <a:rPr lang="en-US" dirty="0"/>
                  <a:t>/</a:t>
                </a:r>
                <a:r>
                  <a:rPr lang="en-US" dirty="0" err="1"/>
                  <a:t>normale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/2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²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Théorème</a:t>
                </a:r>
                <a:r>
                  <a:rPr lang="en-US" dirty="0"/>
                  <a:t> central </a:t>
                </a:r>
                <a:r>
                  <a:rPr lang="en-US" dirty="0" err="1"/>
                  <a:t>limite</a:t>
                </a:r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Somme de variables </a:t>
                </a:r>
                <a:r>
                  <a:rPr lang="en-US" dirty="0" err="1"/>
                  <a:t>indépendantes</a:t>
                </a:r>
                <a:endParaRPr lang="en-US" dirty="0"/>
              </a:p>
              <a:p>
                <a:pPr lvl="2"/>
                <a:r>
                  <a:rPr lang="en-US" dirty="0"/>
                  <a:t>Tend </a:t>
                </a:r>
                <a:r>
                  <a:rPr lang="en-US" dirty="0" err="1"/>
                  <a:t>vers</a:t>
                </a:r>
                <a:r>
                  <a:rPr lang="en-US" dirty="0"/>
                  <a:t> </a:t>
                </a:r>
                <a:r>
                  <a:rPr lang="en-US" dirty="0" err="1"/>
                  <a:t>une</a:t>
                </a:r>
                <a:r>
                  <a:rPr lang="en-US" dirty="0"/>
                  <a:t> distribution </a:t>
                </a:r>
                <a:r>
                  <a:rPr lang="en-US" dirty="0" err="1"/>
                  <a:t>normale</a:t>
                </a:r>
                <a:endParaRPr lang="en-US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ABD81B5-5E33-4CEF-BB78-B7AE72B0B5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  <a:blipFill>
                <a:blip r:embed="rId2"/>
                <a:stretch>
                  <a:fillRect l="-789" t="-187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EA24C1B-8F2F-43B9-9EE4-611DD41DA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5886E3-2EE5-4AC5-944D-6ABB6680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8F0767D-257F-42F3-A78D-3A74A77C3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057943"/>
            <a:ext cx="3348038" cy="178418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3C5A7F1-742B-4117-93D4-AA043C7AD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420" y="4921414"/>
            <a:ext cx="3414657" cy="178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8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A03A86"/>
                </a:solidFill>
              </a:rPr>
              <a:t>Probabilités conditionnelles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70000" lnSpcReduction="20000"/>
          </a:bodyPr>
          <a:lstStyle/>
          <a:p>
            <a:r>
              <a:rPr lang="fr-FR" noProof="0" dirty="0"/>
              <a:t>Probabilités </a:t>
            </a:r>
            <a:r>
              <a:rPr lang="fr-FR" noProof="0" dirty="0">
                <a:solidFill>
                  <a:srgbClr val="A03A86"/>
                </a:solidFill>
              </a:rPr>
              <a:t>conditionnelles</a:t>
            </a:r>
            <a:r>
              <a:rPr lang="fr-FR" noProof="0" dirty="0"/>
              <a:t> ou </a:t>
            </a:r>
            <a:r>
              <a:rPr lang="fr-FR" noProof="0" dirty="0">
                <a:solidFill>
                  <a:srgbClr val="A03A86"/>
                </a:solidFill>
              </a:rPr>
              <a:t>a posteriori</a:t>
            </a:r>
          </a:p>
          <a:p>
            <a:pPr lvl="1"/>
            <a:r>
              <a:rPr lang="fr-FR" noProof="0" dirty="0"/>
              <a:t>E.g. </a:t>
            </a:r>
            <a:r>
              <a:rPr lang="fr-FR" i="1" noProof="0" dirty="0"/>
              <a:t>P(Carie | </a:t>
            </a:r>
            <a:r>
              <a:rPr lang="fr-FR" i="1" noProof="0" dirty="0" err="1"/>
              <a:t>MalDeDent</a:t>
            </a:r>
            <a:r>
              <a:rPr lang="fr-FR" i="1" noProof="0" dirty="0"/>
              <a:t>) </a:t>
            </a:r>
            <a:r>
              <a:rPr lang="fr-FR" noProof="0" dirty="0"/>
              <a:t>= 0.8</a:t>
            </a:r>
          </a:p>
          <a:p>
            <a:pPr lvl="1"/>
            <a:r>
              <a:rPr lang="fr-FR" noProof="0" dirty="0"/>
              <a:t>i.e. « sachant uniquement» Mal De Dent</a:t>
            </a:r>
          </a:p>
          <a:p>
            <a:r>
              <a:rPr lang="fr-FR" noProof="0" dirty="0"/>
              <a:t>Notation pour distributions conditionnelles:</a:t>
            </a:r>
          </a:p>
          <a:p>
            <a:pPr lvl="1"/>
            <a:r>
              <a:rPr lang="fr-FR" noProof="0" dirty="0"/>
              <a:t> </a:t>
            </a:r>
            <a:r>
              <a:rPr lang="fr-FR" i="1" noProof="0" dirty="0"/>
              <a:t>P(Carie | </a:t>
            </a:r>
            <a:r>
              <a:rPr lang="fr-FR" i="1" noProof="0" dirty="0" err="1"/>
              <a:t>MalDeDent</a:t>
            </a:r>
            <a:r>
              <a:rPr lang="fr-FR" i="1" noProof="0" dirty="0"/>
              <a:t>) </a:t>
            </a:r>
            <a:r>
              <a:rPr lang="fr-FR" noProof="0" dirty="0"/>
              <a:t>=vecteur à 2 </a:t>
            </a:r>
            <a:r>
              <a:rPr lang="fr-FR" noProof="0" dirty="0" err="1"/>
              <a:t>elts</a:t>
            </a:r>
            <a:r>
              <a:rPr lang="fr-FR" noProof="0" dirty="0"/>
              <a:t> de vecteurs à 2 </a:t>
            </a:r>
            <a:r>
              <a:rPr lang="fr-FR" noProof="0" dirty="0" err="1"/>
              <a:t>elts</a:t>
            </a:r>
            <a:endParaRPr lang="fr-FR" noProof="0" dirty="0"/>
          </a:p>
          <a:p>
            <a:r>
              <a:rPr lang="fr-FR" noProof="0" dirty="0"/>
              <a:t>Si l’on sait plus</a:t>
            </a:r>
          </a:p>
          <a:p>
            <a:pPr lvl="1"/>
            <a:r>
              <a:rPr lang="fr-FR" i="1" noProof="0" dirty="0"/>
              <a:t>P(Carie | </a:t>
            </a:r>
            <a:r>
              <a:rPr lang="fr-FR" i="1" noProof="0" dirty="0" err="1"/>
              <a:t>MalDeDent</a:t>
            </a:r>
            <a:r>
              <a:rPr lang="fr-FR" i="1" noProof="0" dirty="0"/>
              <a:t>, Carie) </a:t>
            </a:r>
            <a:r>
              <a:rPr lang="fr-FR" noProof="0" dirty="0"/>
              <a:t>= 1</a:t>
            </a:r>
          </a:p>
          <a:p>
            <a:r>
              <a:rPr lang="fr-FR" noProof="0" dirty="0"/>
              <a:t>Des observations peuvent être non pertinentes</a:t>
            </a:r>
          </a:p>
          <a:p>
            <a:pPr lvl="1"/>
            <a:r>
              <a:rPr lang="fr-FR" noProof="0" dirty="0"/>
              <a:t>Permettent la simplification</a:t>
            </a:r>
          </a:p>
          <a:p>
            <a:pPr lvl="1"/>
            <a:r>
              <a:rPr lang="fr-FR" i="1" noProof="0" dirty="0"/>
              <a:t>P(Carie | </a:t>
            </a:r>
            <a:r>
              <a:rPr lang="fr-FR" i="1" noProof="0" dirty="0" err="1"/>
              <a:t>MalDeDent</a:t>
            </a:r>
            <a:r>
              <a:rPr lang="fr-FR" i="1" noProof="0" dirty="0"/>
              <a:t>, ensoleillé) </a:t>
            </a:r>
            <a:r>
              <a:rPr lang="fr-FR" noProof="0" dirty="0"/>
              <a:t>= </a:t>
            </a:r>
            <a:r>
              <a:rPr lang="fr-FR" i="1" noProof="0" dirty="0"/>
              <a:t>P(Carie | </a:t>
            </a:r>
            <a:r>
              <a:rPr lang="fr-FR" i="1" noProof="0" dirty="0" err="1"/>
              <a:t>MalDeDent</a:t>
            </a:r>
            <a:r>
              <a:rPr lang="fr-FR" i="1" noProof="0" dirty="0"/>
              <a:t>) </a:t>
            </a:r>
            <a:r>
              <a:rPr lang="fr-FR" noProof="0" dirty="0"/>
              <a:t>= 0.8</a:t>
            </a:r>
          </a:p>
          <a:p>
            <a:r>
              <a:rPr lang="fr-FR" noProof="0" dirty="0"/>
              <a:t>Règle </a:t>
            </a:r>
            <a:r>
              <a:rPr lang="fr-FR" noProof="0" dirty="0">
                <a:solidFill>
                  <a:srgbClr val="A03A86"/>
                </a:solidFill>
              </a:rPr>
              <a:t>du produit</a:t>
            </a:r>
          </a:p>
          <a:p>
            <a:pPr lvl="1"/>
            <a:r>
              <a:rPr lang="fr-FR" sz="2400" noProof="0" dirty="0"/>
              <a:t>P(a </a:t>
            </a:r>
            <a:r>
              <a:rPr lang="fr-FR" sz="2400" noProof="0" dirty="0">
                <a:sym typeface="Symbol" pitchFamily="18" charset="2"/>
              </a:rPr>
              <a:t></a:t>
            </a:r>
            <a:r>
              <a:rPr lang="fr-FR" sz="2400" noProof="0" dirty="0"/>
              <a:t> b) = P(a | b) P(b) = P(b | a) P(a) soit P(a | b) = P(a </a:t>
            </a:r>
            <a:r>
              <a:rPr lang="fr-FR" sz="2400" noProof="0" dirty="0">
                <a:sym typeface="Symbol" pitchFamily="18" charset="2"/>
              </a:rPr>
              <a:t></a:t>
            </a:r>
            <a:r>
              <a:rPr lang="fr-FR" sz="2400" noProof="0" dirty="0"/>
              <a:t> b) / P(b) si  P(b) &gt; 0</a:t>
            </a:r>
          </a:p>
          <a:p>
            <a:pPr lvl="1"/>
            <a:r>
              <a:rPr lang="fr-FR" sz="2400" i="1" noProof="0" dirty="0"/>
              <a:t>P(Temps , Carie) </a:t>
            </a:r>
            <a:r>
              <a:rPr lang="fr-FR" sz="2400" noProof="0" dirty="0"/>
              <a:t>= </a:t>
            </a:r>
            <a:r>
              <a:rPr lang="fr-FR" sz="2400" i="1" noProof="0" dirty="0"/>
              <a:t>P(Temps| Carie) P( Carie) produit </a:t>
            </a:r>
            <a:r>
              <a:rPr lang="fr-FR" sz="2400" i="1" noProof="0" dirty="0">
                <a:solidFill>
                  <a:srgbClr val="FF0000"/>
                </a:solidFill>
              </a:rPr>
              <a:t>terme à terme</a:t>
            </a:r>
            <a:r>
              <a:rPr lang="fr-FR" sz="2400" i="1" noProof="0" dirty="0"/>
              <a:t>, pas matriciel</a:t>
            </a:r>
            <a:endParaRPr lang="fr-FR" sz="2400" noProof="0" dirty="0"/>
          </a:p>
          <a:p>
            <a:r>
              <a:rPr lang="fr-FR" sz="2900" noProof="0" dirty="0"/>
              <a:t>Règle </a:t>
            </a:r>
            <a:r>
              <a:rPr lang="fr-FR" sz="2900" noProof="0" dirty="0">
                <a:solidFill>
                  <a:srgbClr val="A03A86"/>
                </a:solidFill>
              </a:rPr>
              <a:t>de chainage</a:t>
            </a:r>
            <a:r>
              <a:rPr lang="fr-FR" sz="2900" i="1" noProof="0" dirty="0">
                <a:solidFill>
                  <a:srgbClr val="A03A86"/>
                </a:solidFill>
              </a:rPr>
              <a:t> </a:t>
            </a:r>
            <a:r>
              <a:rPr lang="fr-FR" sz="2900" i="1" noProof="0" dirty="0"/>
              <a:t>= </a:t>
            </a:r>
            <a:r>
              <a:rPr lang="fr-FR" sz="2900" noProof="0" dirty="0"/>
              <a:t>dérivation successive</a:t>
            </a:r>
            <a:r>
              <a:rPr lang="fr-FR" sz="2900" i="1" noProof="0" dirty="0"/>
              <a:t> </a:t>
            </a:r>
            <a:endParaRPr lang="fr-FR" sz="2300" noProof="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fr-FR" sz="2400" b="1" noProof="0" dirty="0"/>
              <a:t>P</a:t>
            </a:r>
            <a:r>
              <a:rPr lang="fr-FR" sz="2400" noProof="0" dirty="0"/>
              <a:t>(X</a:t>
            </a:r>
            <a:r>
              <a:rPr lang="fr-FR" sz="2400" baseline="-25000" noProof="0" dirty="0"/>
              <a:t>1</a:t>
            </a:r>
            <a:r>
              <a:rPr lang="fr-FR" sz="2400" noProof="0" dirty="0"/>
              <a:t>, …,X</a:t>
            </a:r>
            <a:r>
              <a:rPr lang="fr-FR" sz="2400" baseline="-25000" noProof="0" dirty="0"/>
              <a:t>n</a:t>
            </a:r>
            <a:r>
              <a:rPr lang="fr-FR" sz="2400" noProof="0" dirty="0"/>
              <a:t>) 	= </a:t>
            </a:r>
            <a:r>
              <a:rPr lang="fr-FR" sz="2400" b="1" noProof="0" dirty="0"/>
              <a:t>P</a:t>
            </a:r>
            <a:r>
              <a:rPr lang="fr-FR" sz="2400" noProof="0" dirty="0"/>
              <a:t>(X</a:t>
            </a:r>
            <a:r>
              <a:rPr lang="fr-FR" sz="2400" baseline="-25000" noProof="0" dirty="0"/>
              <a:t>1</a:t>
            </a:r>
            <a:r>
              <a:rPr lang="fr-FR" sz="2400" noProof="0" dirty="0"/>
              <a:t>,...,X</a:t>
            </a:r>
            <a:r>
              <a:rPr lang="fr-FR" sz="2400" baseline="-25000" noProof="0" dirty="0"/>
              <a:t>n-1</a:t>
            </a:r>
            <a:r>
              <a:rPr lang="fr-FR" sz="2400" noProof="0" dirty="0"/>
              <a:t>) </a:t>
            </a:r>
            <a:r>
              <a:rPr lang="fr-FR" sz="2400" b="1" noProof="0" dirty="0"/>
              <a:t>P</a:t>
            </a:r>
            <a:r>
              <a:rPr lang="fr-FR" sz="2400" noProof="0" dirty="0"/>
              <a:t>(X</a:t>
            </a:r>
            <a:r>
              <a:rPr lang="fr-FR" sz="2400" baseline="-25000" noProof="0" dirty="0"/>
              <a:t>n</a:t>
            </a:r>
            <a:r>
              <a:rPr lang="fr-FR" sz="2400" noProof="0" dirty="0"/>
              <a:t> | X</a:t>
            </a:r>
            <a:r>
              <a:rPr lang="fr-FR" sz="2400" baseline="-25000" noProof="0" dirty="0"/>
              <a:t>1</a:t>
            </a:r>
            <a:r>
              <a:rPr lang="fr-FR" sz="2400" noProof="0" dirty="0"/>
              <a:t>,...,X</a:t>
            </a:r>
            <a:r>
              <a:rPr lang="fr-FR" sz="2400" baseline="-25000" noProof="0" dirty="0"/>
              <a:t>n-1</a:t>
            </a:r>
            <a:r>
              <a:rPr lang="fr-FR" sz="2400" noProof="0" dirty="0"/>
              <a:t>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fr-FR" sz="2400" noProof="0" dirty="0"/>
              <a:t>                 	= </a:t>
            </a:r>
            <a:r>
              <a:rPr lang="fr-FR" sz="2400" b="1" noProof="0" dirty="0"/>
              <a:t>P</a:t>
            </a:r>
            <a:r>
              <a:rPr lang="fr-FR" sz="2400" noProof="0" dirty="0"/>
              <a:t>(X</a:t>
            </a:r>
            <a:r>
              <a:rPr lang="fr-FR" sz="2400" baseline="-25000" noProof="0" dirty="0"/>
              <a:t>1</a:t>
            </a:r>
            <a:r>
              <a:rPr lang="fr-FR" sz="2400" noProof="0" dirty="0"/>
              <a:t>) </a:t>
            </a:r>
            <a:r>
              <a:rPr lang="fr-FR" sz="2400" b="1" dirty="0"/>
              <a:t>P</a:t>
            </a:r>
            <a:r>
              <a:rPr lang="fr-FR" sz="2400" dirty="0"/>
              <a:t>(X</a:t>
            </a:r>
            <a:r>
              <a:rPr lang="fr-FR" sz="2400" baseline="-25000" dirty="0"/>
              <a:t>2</a:t>
            </a:r>
            <a:r>
              <a:rPr lang="fr-FR" sz="2400" dirty="0"/>
              <a:t> | X</a:t>
            </a:r>
            <a:r>
              <a:rPr lang="fr-FR" sz="2400" baseline="-25000" dirty="0"/>
              <a:t>1</a:t>
            </a:r>
            <a:r>
              <a:rPr lang="fr-FR" sz="2400" dirty="0"/>
              <a:t>)… </a:t>
            </a:r>
            <a:r>
              <a:rPr lang="fr-FR" sz="2400" b="1" noProof="0" dirty="0"/>
              <a:t>P</a:t>
            </a:r>
            <a:r>
              <a:rPr lang="fr-FR" sz="2400" noProof="0" dirty="0"/>
              <a:t>(X</a:t>
            </a:r>
            <a:r>
              <a:rPr lang="fr-FR" sz="2400" baseline="-25000" noProof="0" dirty="0"/>
              <a:t>n-1</a:t>
            </a:r>
            <a:r>
              <a:rPr lang="fr-FR" sz="2400" noProof="0" dirty="0"/>
              <a:t> | X</a:t>
            </a:r>
            <a:r>
              <a:rPr lang="fr-FR" sz="2400" baseline="-25000" noProof="0" dirty="0"/>
              <a:t>1</a:t>
            </a:r>
            <a:r>
              <a:rPr lang="fr-FR" sz="2400" noProof="0" dirty="0"/>
              <a:t>,...,X</a:t>
            </a:r>
            <a:r>
              <a:rPr lang="fr-FR" sz="2400" baseline="-25000" noProof="0" dirty="0"/>
              <a:t>n-2</a:t>
            </a:r>
            <a:r>
              <a:rPr lang="fr-FR" sz="2400" noProof="0" dirty="0"/>
              <a:t>) </a:t>
            </a:r>
            <a:r>
              <a:rPr lang="fr-FR" sz="2400" b="1" noProof="0" dirty="0"/>
              <a:t>P</a:t>
            </a:r>
            <a:r>
              <a:rPr lang="fr-FR" sz="2400" noProof="0" dirty="0"/>
              <a:t>(X</a:t>
            </a:r>
            <a:r>
              <a:rPr lang="fr-FR" sz="2400" baseline="-25000" noProof="0" dirty="0"/>
              <a:t>n</a:t>
            </a:r>
            <a:r>
              <a:rPr lang="fr-FR" sz="2400" noProof="0" dirty="0"/>
              <a:t> | X</a:t>
            </a:r>
            <a:r>
              <a:rPr lang="fr-FR" sz="2400" baseline="-25000" noProof="0" dirty="0"/>
              <a:t>1</a:t>
            </a:r>
            <a:r>
              <a:rPr lang="fr-FR" sz="2400" noProof="0" dirty="0"/>
              <a:t>,...,X</a:t>
            </a:r>
            <a:r>
              <a:rPr lang="fr-FR" sz="2400" baseline="-25000" noProof="0" dirty="0"/>
              <a:t>n-1</a:t>
            </a:r>
            <a:r>
              <a:rPr lang="fr-FR" sz="2400" noProof="0" dirty="0"/>
              <a:t>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fr-FR" sz="2400" noProof="0" dirty="0"/>
              <a:t>                  	= …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fr-FR" sz="2400" noProof="0" dirty="0"/>
              <a:t>                  	= </a:t>
            </a:r>
            <a:r>
              <a:rPr lang="fr-FR" sz="2400" noProof="0" dirty="0">
                <a:cs typeface="Arial" charset="0"/>
              </a:rPr>
              <a:t>π</a:t>
            </a:r>
            <a:r>
              <a:rPr lang="fr-FR" sz="2400" baseline="-25000" noProof="0" dirty="0"/>
              <a:t>i= 1</a:t>
            </a:r>
            <a:r>
              <a:rPr lang="fr-FR" sz="2400" noProof="0" dirty="0"/>
              <a:t>^n </a:t>
            </a:r>
            <a:r>
              <a:rPr lang="fr-FR" sz="2400" b="1" noProof="0" dirty="0"/>
              <a:t>P</a:t>
            </a:r>
            <a:r>
              <a:rPr lang="fr-FR" sz="2400" noProof="0" dirty="0"/>
              <a:t>(X</a:t>
            </a:r>
            <a:r>
              <a:rPr lang="fr-FR" sz="2400" baseline="-25000" noProof="0" dirty="0"/>
              <a:t>i</a:t>
            </a:r>
            <a:r>
              <a:rPr lang="fr-FR" sz="2400" noProof="0" dirty="0"/>
              <a:t> | X</a:t>
            </a:r>
            <a:r>
              <a:rPr lang="fr-FR" sz="2400" baseline="-25000" noProof="0" dirty="0"/>
              <a:t>1</a:t>
            </a:r>
            <a:r>
              <a:rPr lang="fr-FR" sz="2400" noProof="0" dirty="0"/>
              <a:t>, … ,X</a:t>
            </a:r>
            <a:r>
              <a:rPr lang="fr-FR" sz="2400" baseline="-25000" noProof="0" dirty="0"/>
              <a:t>i-1</a:t>
            </a:r>
            <a:r>
              <a:rPr lang="fr-FR" sz="2400" noProof="0" dirty="0"/>
              <a:t>)</a:t>
            </a:r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030A0"/>
                </a:solidFill>
              </a:rPr>
              <a:t>Inférence par énumération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4000"/>
            <a:ext cx="8503920" cy="4572000"/>
          </a:xfrm>
        </p:spPr>
        <p:txBody>
          <a:bodyPr/>
          <a:lstStyle/>
          <a:p>
            <a:r>
              <a:rPr lang="fr-FR" noProof="0" dirty="0"/>
              <a:t>Probabilités conjointe:</a:t>
            </a:r>
          </a:p>
          <a:p>
            <a:endParaRPr lang="fr-FR" noProof="0" dirty="0"/>
          </a:p>
          <a:p>
            <a:endParaRPr lang="fr-FR" noProof="0" dirty="0"/>
          </a:p>
          <a:p>
            <a:pPr lvl="1"/>
            <a:r>
              <a:rPr lang="fr-FR" noProof="0" dirty="0"/>
              <a:t>Proposition </a:t>
            </a:r>
            <a:r>
              <a:rPr lang="fr-FR" sz="2000" noProof="0" dirty="0">
                <a:cs typeface="Arial" charset="0"/>
              </a:rPr>
              <a:t>φ -&gt;</a:t>
            </a:r>
            <a:r>
              <a:rPr lang="fr-FR" noProof="0" dirty="0"/>
              <a:t> sommer les </a:t>
            </a:r>
            <a:r>
              <a:rPr lang="fr-FR" noProof="0" dirty="0" err="1"/>
              <a:t>évts</a:t>
            </a:r>
            <a:r>
              <a:rPr lang="fr-FR" noProof="0" dirty="0"/>
              <a:t> atomiques où elle est vraie </a:t>
            </a:r>
          </a:p>
          <a:p>
            <a:pPr lvl="1"/>
            <a:r>
              <a:rPr lang="fr-FR" sz="2000" noProof="0" dirty="0"/>
              <a:t>P(</a:t>
            </a:r>
            <a:r>
              <a:rPr lang="fr-FR" sz="2000" noProof="0" dirty="0">
                <a:cs typeface="Arial" charset="0"/>
              </a:rPr>
              <a:t>φ</a:t>
            </a:r>
            <a:r>
              <a:rPr lang="fr-FR" sz="2000" noProof="0" dirty="0"/>
              <a:t>) = </a:t>
            </a:r>
            <a:r>
              <a:rPr lang="fr-FR" sz="2000" noProof="0" dirty="0" err="1">
                <a:cs typeface="Arial" charset="0"/>
              </a:rPr>
              <a:t>Σ</a:t>
            </a:r>
            <a:r>
              <a:rPr lang="fr-FR" sz="2000" baseline="-25000" noProof="0" dirty="0" err="1">
                <a:cs typeface="Arial" charset="0"/>
              </a:rPr>
              <a:t>ω</a:t>
            </a:r>
            <a:r>
              <a:rPr lang="fr-FR" sz="2000" baseline="-25000" noProof="0" dirty="0" err="1"/>
              <a:t>:</a:t>
            </a:r>
            <a:r>
              <a:rPr lang="fr-FR" sz="2000" baseline="-25000" noProof="0" dirty="0" err="1">
                <a:cs typeface="Arial" charset="0"/>
              </a:rPr>
              <a:t>ω╞φ</a:t>
            </a:r>
            <a:r>
              <a:rPr lang="fr-FR" sz="2000" noProof="0" dirty="0"/>
              <a:t> P(</a:t>
            </a:r>
            <a:r>
              <a:rPr lang="fr-FR" sz="2000" noProof="0" dirty="0">
                <a:cs typeface="Arial" charset="0"/>
              </a:rPr>
              <a:t>ω</a:t>
            </a:r>
            <a:r>
              <a:rPr lang="fr-FR" sz="2000" noProof="0" dirty="0"/>
              <a:t>)</a:t>
            </a:r>
          </a:p>
          <a:p>
            <a:pPr lvl="1"/>
            <a:r>
              <a:rPr lang="fr-FR" sz="2000" noProof="0" dirty="0"/>
              <a:t>P(</a:t>
            </a:r>
            <a:r>
              <a:rPr lang="fr-FR" sz="2000" i="1" noProof="0" dirty="0" err="1"/>
              <a:t>MalDeDents</a:t>
            </a:r>
            <a:r>
              <a:rPr lang="fr-FR" sz="2000" noProof="0" dirty="0"/>
              <a:t>) = 0.108 + 0.012 + 0.016 + 0.064 = 0.2</a:t>
            </a:r>
          </a:p>
          <a:p>
            <a:r>
              <a:rPr lang="fr-FR" noProof="0" dirty="0"/>
              <a:t>Conditionnelles </a:t>
            </a:r>
          </a:p>
          <a:p>
            <a:pPr lvl="2">
              <a:lnSpc>
                <a:spcPct val="90000"/>
              </a:lnSpc>
              <a:buNone/>
            </a:pPr>
            <a:r>
              <a:rPr lang="fr-FR" sz="1700" noProof="0" dirty="0"/>
              <a:t>P(</a:t>
            </a:r>
            <a:r>
              <a:rPr lang="fr-FR" sz="1700" noProof="0" dirty="0">
                <a:sym typeface="Symbol" pitchFamily="18" charset="2"/>
              </a:rPr>
              <a:t></a:t>
            </a:r>
            <a:r>
              <a:rPr lang="fr-FR" sz="1700" i="1" noProof="0" dirty="0"/>
              <a:t>Carie</a:t>
            </a:r>
            <a:r>
              <a:rPr lang="fr-FR" sz="1700" noProof="0" dirty="0"/>
              <a:t> | </a:t>
            </a:r>
            <a:r>
              <a:rPr lang="fr-FR" sz="1700" i="1" noProof="0" dirty="0" err="1"/>
              <a:t>MalDeDents</a:t>
            </a:r>
            <a:r>
              <a:rPr lang="fr-FR" sz="1700" noProof="0" dirty="0"/>
              <a:t>)  </a:t>
            </a:r>
            <a:br>
              <a:rPr lang="fr-FR" sz="1700" noProof="0" dirty="0"/>
            </a:br>
            <a:r>
              <a:rPr lang="fr-FR" sz="1700" noProof="0" dirty="0"/>
              <a:t>= </a:t>
            </a:r>
            <a:r>
              <a:rPr lang="fr-FR" sz="1700" i="1" noProof="0" dirty="0"/>
              <a:t>P(</a:t>
            </a:r>
            <a:r>
              <a:rPr lang="fr-FR" sz="1700" i="1" noProof="0" dirty="0">
                <a:sym typeface="Symbol" pitchFamily="18" charset="2"/>
              </a:rPr>
              <a:t></a:t>
            </a:r>
            <a:r>
              <a:rPr lang="fr-FR" sz="1700" i="1" noProof="0" dirty="0"/>
              <a:t>Carie </a:t>
            </a:r>
            <a:r>
              <a:rPr lang="fr-FR" sz="1700" i="1" noProof="0" dirty="0">
                <a:sym typeface="Symbol" pitchFamily="18" charset="2"/>
              </a:rPr>
              <a:t> </a:t>
            </a:r>
            <a:r>
              <a:rPr lang="fr-FR" sz="1700" i="1" noProof="0" dirty="0" err="1"/>
              <a:t>MalDeDents</a:t>
            </a:r>
            <a:r>
              <a:rPr lang="fr-FR" sz="1700" i="1" noProof="0" dirty="0"/>
              <a:t>) / P(</a:t>
            </a:r>
            <a:r>
              <a:rPr lang="fr-FR" sz="1700" i="1" noProof="0" dirty="0" err="1"/>
              <a:t>MalDeDents</a:t>
            </a:r>
            <a:r>
              <a:rPr lang="fr-FR" sz="1700" i="1" noProof="0" dirty="0"/>
              <a:t>)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fr-FR" sz="1700" i="1" noProof="0" dirty="0"/>
              <a:t>	= (0.016+0.064) / (0.108 + 0.012 + 0.016 + 0.064)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fr-FR" sz="1700" i="1" noProof="0" dirty="0"/>
              <a:t>	= 0.4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fr-FR" sz="1700" i="1" noProof="0" dirty="0"/>
          </a:p>
          <a:p>
            <a:pPr lvl="2">
              <a:lnSpc>
                <a:spcPct val="90000"/>
              </a:lnSpc>
              <a:buFontTx/>
              <a:buNone/>
            </a:pPr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6" name="Picture 9" descr="dentist-join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712" y="1625964"/>
            <a:ext cx="3200400" cy="1269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entist-joint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475222"/>
            <a:ext cx="3098596" cy="122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34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030A0"/>
                </a:solidFill>
              </a:rPr>
              <a:t>Normalisation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16865" y="1464756"/>
            <a:ext cx="8503920" cy="5088444"/>
          </a:xfrm>
        </p:spPr>
        <p:txBody>
          <a:bodyPr>
            <a:normAutofit/>
          </a:bodyPr>
          <a:lstStyle/>
          <a:p>
            <a:r>
              <a:rPr lang="fr-FR" sz="2400" noProof="0" dirty="0"/>
              <a:t>Dénominateur = </a:t>
            </a:r>
            <a:r>
              <a:rPr lang="fr-FR" sz="2400" noProof="0" dirty="0">
                <a:solidFill>
                  <a:srgbClr val="FF0000"/>
                </a:solidFill>
              </a:rPr>
              <a:t>constante de normalisation α</a:t>
            </a:r>
          </a:p>
          <a:p>
            <a:pPr lvl="1">
              <a:lnSpc>
                <a:spcPct val="80000"/>
              </a:lnSpc>
            </a:pPr>
            <a:r>
              <a:rPr lang="fr-FR" sz="1800" b="1" noProof="0" dirty="0"/>
              <a:t>P</a:t>
            </a:r>
            <a:r>
              <a:rPr lang="fr-FR" sz="1800" noProof="0" dirty="0"/>
              <a:t>(</a:t>
            </a:r>
            <a:r>
              <a:rPr lang="fr-FR" sz="1800" i="1" noProof="0" dirty="0"/>
              <a:t>Carie | </a:t>
            </a:r>
            <a:r>
              <a:rPr lang="fr-FR" sz="1800" i="1" noProof="0" dirty="0" err="1"/>
              <a:t>MalDeDents</a:t>
            </a:r>
            <a:r>
              <a:rPr lang="fr-FR" sz="1800" noProof="0" dirty="0"/>
              <a:t>) = α </a:t>
            </a:r>
            <a:r>
              <a:rPr lang="fr-FR" sz="1800" b="1" noProof="0" dirty="0"/>
              <a:t>P</a:t>
            </a:r>
            <a:r>
              <a:rPr lang="fr-FR" sz="1800" noProof="0" dirty="0"/>
              <a:t>(</a:t>
            </a:r>
            <a:r>
              <a:rPr lang="fr-FR" sz="1800" i="1" noProof="0" dirty="0" err="1"/>
              <a:t>Carie,MalDeDents</a:t>
            </a:r>
            <a:r>
              <a:rPr lang="fr-FR" sz="1800" noProof="0" dirty="0"/>
              <a:t>), α = 1/</a:t>
            </a:r>
            <a:r>
              <a:rPr lang="fr-FR" sz="1800" b="1" noProof="0" dirty="0"/>
              <a:t> P</a:t>
            </a:r>
            <a:r>
              <a:rPr lang="fr-FR" sz="1800" noProof="0" dirty="0"/>
              <a:t>(</a:t>
            </a:r>
            <a:r>
              <a:rPr lang="fr-FR" sz="1800" i="1" noProof="0" dirty="0" err="1"/>
              <a:t>MalDeDents</a:t>
            </a:r>
            <a:r>
              <a:rPr lang="fr-FR" sz="1800" i="1" noProof="0" dirty="0"/>
              <a:t>)</a:t>
            </a:r>
            <a:endParaRPr lang="fr-FR" sz="1800" noProof="0" dirty="0"/>
          </a:p>
          <a:p>
            <a:pPr lvl="2">
              <a:lnSpc>
                <a:spcPct val="80000"/>
              </a:lnSpc>
              <a:buFontTx/>
              <a:buNone/>
            </a:pPr>
            <a:r>
              <a:rPr lang="fr-FR" sz="1600" noProof="0" dirty="0"/>
              <a:t>= α [</a:t>
            </a:r>
            <a:r>
              <a:rPr lang="fr-FR" sz="1600" b="1" noProof="0" dirty="0"/>
              <a:t>P</a:t>
            </a:r>
            <a:r>
              <a:rPr lang="fr-FR" sz="1600" noProof="0" dirty="0"/>
              <a:t>(</a:t>
            </a:r>
            <a:r>
              <a:rPr lang="fr-FR" sz="1600" i="1" noProof="0" dirty="0" err="1"/>
              <a:t>Carie,MalDeDents,Croche</a:t>
            </a:r>
            <a:r>
              <a:rPr lang="fr-FR" sz="1600" noProof="0" dirty="0"/>
              <a:t>) + </a:t>
            </a:r>
            <a:r>
              <a:rPr lang="fr-FR" sz="1600" b="1" noProof="0" dirty="0"/>
              <a:t>P</a:t>
            </a:r>
            <a:r>
              <a:rPr lang="fr-FR" sz="1600" noProof="0" dirty="0"/>
              <a:t>(</a:t>
            </a:r>
            <a:r>
              <a:rPr lang="fr-FR" sz="1600" i="1" noProof="0" dirty="0" err="1"/>
              <a:t>Carie,MalDeDents</a:t>
            </a:r>
            <a:r>
              <a:rPr lang="fr-FR" sz="1600" noProof="0" dirty="0"/>
              <a:t>,</a:t>
            </a:r>
            <a:r>
              <a:rPr lang="fr-FR" sz="1600" noProof="0" dirty="0">
                <a:sym typeface="Symbol" pitchFamily="18" charset="2"/>
              </a:rPr>
              <a:t></a:t>
            </a:r>
            <a:r>
              <a:rPr lang="fr-FR" sz="1600" noProof="0" dirty="0"/>
              <a:t> </a:t>
            </a:r>
            <a:r>
              <a:rPr lang="fr-FR" sz="1600" i="1" noProof="0" dirty="0"/>
              <a:t>Croche</a:t>
            </a:r>
            <a:r>
              <a:rPr lang="fr-FR" sz="1600" noProof="0" dirty="0"/>
              <a:t>)]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fr-FR" sz="1600" noProof="0" dirty="0"/>
              <a:t>= </a:t>
            </a:r>
            <a:r>
              <a:rPr lang="fr-FR" sz="1600" noProof="0" dirty="0">
                <a:cs typeface="Arial" charset="0"/>
              </a:rPr>
              <a:t>α</a:t>
            </a:r>
            <a:r>
              <a:rPr lang="fr-FR" sz="1600" noProof="0" dirty="0"/>
              <a:t> [&lt;0.108,0.016&gt; + &lt;0.012,0.064&gt;] 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fr-FR" sz="1600" noProof="0" dirty="0"/>
              <a:t>= α &lt;0.12,0.08&gt; = &lt;0.6,0.4&gt;</a:t>
            </a:r>
          </a:p>
          <a:p>
            <a:pPr>
              <a:lnSpc>
                <a:spcPct val="80000"/>
              </a:lnSpc>
            </a:pPr>
            <a:r>
              <a:rPr lang="fr-FR" sz="2400" noProof="0" dirty="0"/>
              <a:t>Idée générale: calculer la distribution </a:t>
            </a:r>
          </a:p>
          <a:p>
            <a:pPr lvl="1">
              <a:lnSpc>
                <a:spcPct val="80000"/>
              </a:lnSpc>
            </a:pPr>
            <a:r>
              <a:rPr lang="fr-FR" sz="1800" noProof="0" dirty="0"/>
              <a:t>sur la </a:t>
            </a:r>
            <a:r>
              <a:rPr lang="fr-FR" sz="1800" noProof="0" dirty="0">
                <a:solidFill>
                  <a:srgbClr val="A03A86"/>
                </a:solidFill>
              </a:rPr>
              <a:t>variable de requête</a:t>
            </a:r>
            <a:r>
              <a:rPr lang="fr-FR" sz="1800" noProof="0" dirty="0"/>
              <a:t> Y </a:t>
            </a:r>
          </a:p>
          <a:p>
            <a:pPr lvl="1">
              <a:lnSpc>
                <a:spcPct val="80000"/>
              </a:lnSpc>
            </a:pPr>
            <a:r>
              <a:rPr lang="fr-FR" sz="1800" noProof="0" dirty="0"/>
              <a:t>en fixant les </a:t>
            </a:r>
            <a:r>
              <a:rPr lang="fr-FR" sz="1800" noProof="0" dirty="0">
                <a:solidFill>
                  <a:srgbClr val="A03A86"/>
                </a:solidFill>
              </a:rPr>
              <a:t>variables d’observations E</a:t>
            </a:r>
          </a:p>
          <a:p>
            <a:pPr lvl="1">
              <a:lnSpc>
                <a:spcPct val="80000"/>
              </a:lnSpc>
            </a:pPr>
            <a:r>
              <a:rPr lang="fr-FR" sz="1800" noProof="0" dirty="0"/>
              <a:t>en sommant sur les </a:t>
            </a:r>
            <a:r>
              <a:rPr lang="fr-FR" sz="1800" noProof="0" dirty="0">
                <a:solidFill>
                  <a:srgbClr val="A03A86"/>
                </a:solidFill>
              </a:rPr>
              <a:t>variables cachées H</a:t>
            </a:r>
          </a:p>
          <a:p>
            <a:pPr>
              <a:lnSpc>
                <a:spcPct val="80000"/>
              </a:lnSpc>
            </a:pPr>
            <a:r>
              <a:rPr lang="fr-FR" sz="2400" noProof="0" dirty="0"/>
              <a:t>Distribution a posteriori conjointe</a:t>
            </a:r>
          </a:p>
          <a:p>
            <a:pPr lvl="1">
              <a:lnSpc>
                <a:spcPct val="80000"/>
              </a:lnSpc>
            </a:pPr>
            <a:r>
              <a:rPr lang="fr-FR" sz="1800" b="1" noProof="0" dirty="0"/>
              <a:t>P</a:t>
            </a:r>
            <a:r>
              <a:rPr lang="fr-FR" sz="1800" noProof="0" dirty="0"/>
              <a:t>(</a:t>
            </a:r>
            <a:r>
              <a:rPr lang="fr-FR" sz="1800" b="1" noProof="0" dirty="0"/>
              <a:t>Y</a:t>
            </a:r>
            <a:r>
              <a:rPr lang="fr-FR" sz="1800" noProof="0" dirty="0"/>
              <a:t> | </a:t>
            </a:r>
            <a:r>
              <a:rPr lang="fr-FR" sz="1800" b="1" noProof="0" dirty="0"/>
              <a:t>E </a:t>
            </a:r>
            <a:r>
              <a:rPr lang="fr-FR" sz="1800" noProof="0" dirty="0"/>
              <a:t>= </a:t>
            </a:r>
            <a:r>
              <a:rPr lang="fr-FR" sz="1800" b="1" noProof="0" dirty="0"/>
              <a:t>e</a:t>
            </a:r>
            <a:r>
              <a:rPr lang="fr-FR" sz="1800" noProof="0" dirty="0"/>
              <a:t>) = α</a:t>
            </a:r>
            <a:r>
              <a:rPr lang="fr-FR" sz="1800" b="1" noProof="0" dirty="0"/>
              <a:t>P</a:t>
            </a:r>
            <a:r>
              <a:rPr lang="fr-FR" sz="1800" noProof="0" dirty="0"/>
              <a:t>(</a:t>
            </a:r>
            <a:r>
              <a:rPr lang="fr-FR" sz="1800" b="1" noProof="0" dirty="0"/>
              <a:t>Y</a:t>
            </a:r>
            <a:r>
              <a:rPr lang="fr-FR" sz="1800" noProof="0" dirty="0"/>
              <a:t>,</a:t>
            </a:r>
            <a:r>
              <a:rPr lang="fr-FR" sz="1800" b="1" noProof="0" dirty="0"/>
              <a:t>E</a:t>
            </a:r>
            <a:r>
              <a:rPr lang="fr-FR" sz="1800" noProof="0" dirty="0"/>
              <a:t> = </a:t>
            </a:r>
            <a:r>
              <a:rPr lang="fr-FR" sz="1800" b="1" noProof="0" dirty="0"/>
              <a:t>e</a:t>
            </a:r>
            <a:r>
              <a:rPr lang="fr-FR" sz="1800" noProof="0" dirty="0"/>
              <a:t>) = α</a:t>
            </a:r>
            <a:r>
              <a:rPr lang="fr-FR" sz="1800" noProof="0" dirty="0" err="1">
                <a:cs typeface="Arial" charset="0"/>
              </a:rPr>
              <a:t>Σ</a:t>
            </a:r>
            <a:r>
              <a:rPr lang="fr-FR" sz="1800" baseline="-25000" noProof="0" dirty="0" err="1"/>
              <a:t>h</a:t>
            </a:r>
            <a:r>
              <a:rPr lang="fr-FR" sz="1800" b="1" noProof="0" dirty="0" err="1"/>
              <a:t>P</a:t>
            </a:r>
            <a:r>
              <a:rPr lang="fr-FR" sz="1800" noProof="0" dirty="0"/>
              <a:t>(</a:t>
            </a:r>
            <a:r>
              <a:rPr lang="fr-FR" sz="1800" b="1" noProof="0" dirty="0"/>
              <a:t>Y</a:t>
            </a:r>
            <a:r>
              <a:rPr lang="fr-FR" sz="1800" noProof="0" dirty="0"/>
              <a:t>,</a:t>
            </a:r>
            <a:r>
              <a:rPr lang="fr-FR" sz="1800" b="1" noProof="0" dirty="0"/>
              <a:t>E</a:t>
            </a:r>
            <a:r>
              <a:rPr lang="fr-FR" sz="1800" noProof="0" dirty="0"/>
              <a:t>= </a:t>
            </a:r>
            <a:r>
              <a:rPr lang="fr-FR" sz="1800" b="1" noProof="0" dirty="0"/>
              <a:t>e</a:t>
            </a:r>
            <a:r>
              <a:rPr lang="fr-FR" sz="1800" noProof="0" dirty="0"/>
              <a:t>, </a:t>
            </a:r>
            <a:r>
              <a:rPr lang="fr-FR" sz="1800" b="1" noProof="0" dirty="0"/>
              <a:t>H</a:t>
            </a:r>
            <a:r>
              <a:rPr lang="fr-FR" sz="1800" noProof="0" dirty="0"/>
              <a:t> = </a:t>
            </a:r>
            <a:r>
              <a:rPr lang="fr-FR" sz="1800" b="1" noProof="0" dirty="0"/>
              <a:t>h</a:t>
            </a:r>
            <a:r>
              <a:rPr lang="fr-FR" sz="1800" noProof="0" dirty="0"/>
              <a:t>)</a:t>
            </a:r>
          </a:p>
          <a:p>
            <a:pPr>
              <a:lnSpc>
                <a:spcPct val="80000"/>
              </a:lnSpc>
            </a:pPr>
            <a:r>
              <a:rPr lang="fr-FR" sz="2400" noProof="0" dirty="0"/>
              <a:t>Problèmes:</a:t>
            </a:r>
          </a:p>
          <a:p>
            <a:pPr lvl="1">
              <a:lnSpc>
                <a:spcPct val="80000"/>
              </a:lnSpc>
            </a:pPr>
            <a:r>
              <a:rPr lang="fr-FR" sz="1800" noProof="0" dirty="0"/>
              <a:t>Complexité au pire en </a:t>
            </a:r>
            <a:r>
              <a:rPr lang="fr-FR" sz="1800" i="1" noProof="0" dirty="0"/>
              <a:t>O(</a:t>
            </a:r>
            <a:r>
              <a:rPr lang="fr-FR" sz="1800" i="1" noProof="0" dirty="0" err="1"/>
              <a:t>d</a:t>
            </a:r>
            <a:r>
              <a:rPr lang="fr-FR" sz="1800" i="1" baseline="30000" noProof="0" dirty="0" err="1"/>
              <a:t>n</a:t>
            </a:r>
            <a:r>
              <a:rPr lang="fr-FR" sz="1800" i="1" noProof="0" dirty="0"/>
              <a:t>)</a:t>
            </a:r>
            <a:r>
              <a:rPr lang="fr-FR" sz="1800" noProof="0" dirty="0"/>
              <a:t> où d est la plus grande </a:t>
            </a:r>
            <a:r>
              <a:rPr lang="fr-FR" sz="1800" noProof="0" dirty="0" err="1">
                <a:solidFill>
                  <a:srgbClr val="A03A86"/>
                </a:solidFill>
              </a:rPr>
              <a:t>arité</a:t>
            </a:r>
            <a:r>
              <a:rPr lang="fr-FR" sz="1800" noProof="0" dirty="0"/>
              <a:t> (nb d’arguments)</a:t>
            </a:r>
          </a:p>
          <a:p>
            <a:pPr lvl="1">
              <a:lnSpc>
                <a:spcPct val="80000"/>
              </a:lnSpc>
            </a:pPr>
            <a:r>
              <a:rPr lang="fr-FR" sz="1800" noProof="0" dirty="0"/>
              <a:t>Complexité en espace en </a:t>
            </a:r>
            <a:r>
              <a:rPr lang="fr-FR" sz="1800" i="1" noProof="0" dirty="0"/>
              <a:t>O(</a:t>
            </a:r>
            <a:r>
              <a:rPr lang="fr-FR" sz="1800" i="1" noProof="0" dirty="0" err="1"/>
              <a:t>d</a:t>
            </a:r>
            <a:r>
              <a:rPr lang="fr-FR" sz="1800" i="1" baseline="30000" noProof="0" dirty="0" err="1"/>
              <a:t>n</a:t>
            </a:r>
            <a:r>
              <a:rPr lang="fr-FR" sz="1800" i="1" noProof="0" dirty="0"/>
              <a:t>)</a:t>
            </a:r>
            <a:r>
              <a:rPr lang="fr-FR" sz="1800" noProof="0" dirty="0"/>
              <a:t> pour stocker la distribution conjointe</a:t>
            </a:r>
          </a:p>
          <a:p>
            <a:pPr lvl="1">
              <a:lnSpc>
                <a:spcPct val="80000"/>
              </a:lnSpc>
            </a:pPr>
            <a:r>
              <a:rPr lang="fr-FR" sz="1800" noProof="0" dirty="0"/>
              <a:t>Comment trouver les nombres pour </a:t>
            </a:r>
            <a:r>
              <a:rPr lang="fr-FR" sz="1800" i="1" noProof="0" dirty="0"/>
              <a:t>O(</a:t>
            </a:r>
            <a:r>
              <a:rPr lang="fr-FR" sz="1800" i="1" noProof="0" dirty="0" err="1"/>
              <a:t>d</a:t>
            </a:r>
            <a:r>
              <a:rPr lang="fr-FR" sz="1800" i="1" baseline="30000" noProof="0" dirty="0" err="1"/>
              <a:t>n</a:t>
            </a:r>
            <a:r>
              <a:rPr lang="fr-FR" sz="1800" i="1" noProof="0" dirty="0"/>
              <a:t>) </a:t>
            </a:r>
            <a:r>
              <a:rPr lang="fr-FR" sz="1800" noProof="0" dirty="0"/>
              <a:t>entrées?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7" name="Picture 6" descr="dentist-joint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590800"/>
            <a:ext cx="3124200" cy="157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40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030A0"/>
                </a:solidFill>
              </a:rPr>
              <a:t>Indépendance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625" y="1532510"/>
            <a:ext cx="8503920" cy="4572000"/>
          </a:xfrm>
        </p:spPr>
        <p:txBody>
          <a:bodyPr/>
          <a:lstStyle/>
          <a:p>
            <a:r>
              <a:rPr lang="fr-FR" noProof="0" dirty="0"/>
              <a:t>A et B sont indépendants si et seulement si</a:t>
            </a:r>
          </a:p>
          <a:p>
            <a:pPr lvl="1"/>
            <a:r>
              <a:rPr lang="fr-FR" noProof="0" dirty="0"/>
              <a:t>P(A|B) = P(A)    ou P(B|A) = P(B)     ou P(A, B) = P(A) P(B)</a:t>
            </a:r>
          </a:p>
          <a:p>
            <a:pPr lvl="1"/>
            <a:endParaRPr lang="fr-FR" noProof="0" dirty="0"/>
          </a:p>
          <a:p>
            <a:pPr lvl="1"/>
            <a:endParaRPr lang="fr-FR" noProof="0" dirty="0"/>
          </a:p>
          <a:p>
            <a:pPr lvl="1"/>
            <a:endParaRPr lang="fr-FR" noProof="0" dirty="0"/>
          </a:p>
          <a:p>
            <a:pPr lvl="1"/>
            <a:r>
              <a:rPr lang="fr-FR" noProof="0" dirty="0"/>
              <a:t>P(</a:t>
            </a:r>
            <a:r>
              <a:rPr lang="fr-FR" noProof="0" dirty="0" err="1"/>
              <a:t>MalDeDent</a:t>
            </a:r>
            <a:r>
              <a:rPr lang="fr-FR" noProof="0" dirty="0"/>
              <a:t>, Croche, Carie, Temps)</a:t>
            </a:r>
            <a:br>
              <a:rPr lang="fr-FR" noProof="0" dirty="0"/>
            </a:br>
            <a:r>
              <a:rPr lang="fr-FR" noProof="0" dirty="0"/>
              <a:t>= P(</a:t>
            </a:r>
            <a:r>
              <a:rPr lang="fr-FR" noProof="0" dirty="0" err="1"/>
              <a:t>MalDeDent</a:t>
            </a:r>
            <a:r>
              <a:rPr lang="fr-FR" noProof="0" dirty="0"/>
              <a:t>, Croche, Carie) P(Temps)</a:t>
            </a:r>
          </a:p>
          <a:p>
            <a:pPr lvl="1"/>
            <a:r>
              <a:rPr lang="fr-FR" noProof="0" dirty="0"/>
              <a:t>Pour n lancés de pièces indépendants : O(</a:t>
            </a:r>
            <a:r>
              <a:rPr lang="fr-FR" sz="2000" i="1" noProof="0" dirty="0"/>
              <a:t>2</a:t>
            </a:r>
            <a:r>
              <a:rPr lang="fr-FR" sz="2000" i="1" baseline="30000" noProof="0" dirty="0"/>
              <a:t>n</a:t>
            </a:r>
            <a:r>
              <a:rPr lang="fr-FR" noProof="0" dirty="0"/>
              <a:t>) →O(n)</a:t>
            </a:r>
          </a:p>
          <a:p>
            <a:r>
              <a:rPr lang="fr-FR" noProof="0" dirty="0"/>
              <a:t>Puissant mais rare</a:t>
            </a:r>
          </a:p>
          <a:p>
            <a:pPr lvl="1"/>
            <a:r>
              <a:rPr lang="fr-FR" noProof="0" dirty="0"/>
              <a:t>Ex du dentiste: des centaines de variables dépendantes</a:t>
            </a:r>
          </a:p>
          <a:p>
            <a:pPr lvl="1"/>
            <a:endParaRPr lang="fr-FR" noProof="0" dirty="0"/>
          </a:p>
          <a:p>
            <a:pPr lvl="1"/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6" name="Picture 4" descr="weather-independ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2514600"/>
            <a:ext cx="4343400" cy="108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90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030A0"/>
                </a:solidFill>
              </a:rPr>
              <a:t>Indépendance conditionnelle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92500" lnSpcReduction="20000"/>
          </a:bodyPr>
          <a:lstStyle/>
          <a:p>
            <a:r>
              <a:rPr lang="fr-FR" noProof="0" dirty="0"/>
              <a:t>Croche est </a:t>
            </a:r>
            <a:r>
              <a:rPr lang="fr-FR" noProof="0" dirty="0">
                <a:solidFill>
                  <a:srgbClr val="FF0000"/>
                </a:solidFill>
              </a:rPr>
              <a:t>conditionnellement indépendant </a:t>
            </a:r>
            <a:r>
              <a:rPr lang="fr-FR" noProof="0" dirty="0"/>
              <a:t>de Mal De Dents:</a:t>
            </a:r>
          </a:p>
          <a:p>
            <a:pPr lvl="1"/>
            <a:r>
              <a:rPr lang="fr-FR" sz="2400" noProof="0" dirty="0"/>
              <a:t>(1) P(Croche | </a:t>
            </a:r>
            <a:r>
              <a:rPr lang="fr-FR" sz="2400" noProof="0" dirty="0" err="1"/>
              <a:t>MalDeDent</a:t>
            </a:r>
            <a:r>
              <a:rPr lang="fr-FR" sz="2400" noProof="0" dirty="0"/>
              <a:t>, Carie) = P(Croche | Carie)</a:t>
            </a:r>
          </a:p>
          <a:p>
            <a:pPr lvl="1"/>
            <a:r>
              <a:rPr lang="fr-FR" sz="2400" noProof="0" dirty="0"/>
              <a:t>(2) </a:t>
            </a:r>
            <a:r>
              <a:rPr lang="fr-FR" sz="2400" b="1" noProof="0" dirty="0"/>
              <a:t>P</a:t>
            </a:r>
            <a:r>
              <a:rPr lang="fr-FR" sz="2400" noProof="0" dirty="0"/>
              <a:t>(</a:t>
            </a:r>
            <a:r>
              <a:rPr lang="fr-FR" sz="2400" i="1" noProof="0" dirty="0"/>
              <a:t>Croche | </a:t>
            </a:r>
            <a:r>
              <a:rPr lang="fr-FR" sz="2400" i="1" noProof="0" dirty="0" err="1"/>
              <a:t>MalDeDent</a:t>
            </a:r>
            <a:r>
              <a:rPr lang="fr-FR" sz="2400" i="1" noProof="0" dirty="0"/>
              <a:t>,</a:t>
            </a:r>
            <a:r>
              <a:rPr lang="fr-FR" sz="2400" noProof="0" dirty="0">
                <a:sym typeface="Symbol" pitchFamily="18" charset="2"/>
              </a:rPr>
              <a:t></a:t>
            </a:r>
            <a:r>
              <a:rPr lang="fr-FR" sz="2400" i="1" noProof="0" dirty="0"/>
              <a:t>Carie</a:t>
            </a:r>
            <a:r>
              <a:rPr lang="fr-FR" sz="2400" noProof="0" dirty="0"/>
              <a:t>) = </a:t>
            </a:r>
            <a:r>
              <a:rPr lang="fr-FR" sz="2400" b="1" noProof="0" dirty="0"/>
              <a:t>P</a:t>
            </a:r>
            <a:r>
              <a:rPr lang="fr-FR" sz="2400" noProof="0" dirty="0"/>
              <a:t>(</a:t>
            </a:r>
            <a:r>
              <a:rPr lang="fr-FR" sz="2400" i="1" noProof="0" dirty="0"/>
              <a:t>Croche </a:t>
            </a:r>
            <a:r>
              <a:rPr lang="fr-FR" sz="2400" noProof="0" dirty="0"/>
              <a:t>| </a:t>
            </a:r>
            <a:r>
              <a:rPr lang="fr-FR" sz="2400" noProof="0" dirty="0">
                <a:sym typeface="Symbol" pitchFamily="18" charset="2"/>
              </a:rPr>
              <a:t></a:t>
            </a:r>
            <a:r>
              <a:rPr lang="fr-FR" sz="2400" i="1" noProof="0" dirty="0"/>
              <a:t>Carie</a:t>
            </a:r>
            <a:r>
              <a:rPr lang="fr-FR" sz="2400" noProof="0" dirty="0"/>
              <a:t>)</a:t>
            </a:r>
            <a:endParaRPr lang="fr-FR" sz="1800" noProof="0" dirty="0"/>
          </a:p>
          <a:p>
            <a:pPr lvl="1"/>
            <a:r>
              <a:rPr lang="fr-FR" sz="2400" b="1" noProof="0" dirty="0"/>
              <a:t>P</a:t>
            </a:r>
            <a:r>
              <a:rPr lang="fr-FR" sz="2400" noProof="0" dirty="0"/>
              <a:t>(</a:t>
            </a:r>
            <a:r>
              <a:rPr lang="fr-FR" sz="2400" i="1" noProof="0" dirty="0"/>
              <a:t>Croche | </a:t>
            </a:r>
            <a:r>
              <a:rPr lang="fr-FR" sz="2400" i="1" noProof="0" dirty="0" err="1"/>
              <a:t>MalDeDent,Carie</a:t>
            </a:r>
            <a:r>
              <a:rPr lang="fr-FR" sz="2400" noProof="0" dirty="0"/>
              <a:t>) = </a:t>
            </a:r>
            <a:r>
              <a:rPr lang="fr-FR" sz="2400" b="1" noProof="0" dirty="0"/>
              <a:t>P</a:t>
            </a:r>
            <a:r>
              <a:rPr lang="fr-FR" sz="2400" noProof="0" dirty="0"/>
              <a:t>(</a:t>
            </a:r>
            <a:r>
              <a:rPr lang="fr-FR" sz="2400" i="1" noProof="0" dirty="0"/>
              <a:t>Croche | Carie</a:t>
            </a:r>
            <a:r>
              <a:rPr lang="fr-FR" sz="2400" noProof="0" dirty="0"/>
              <a:t>)</a:t>
            </a:r>
            <a:endParaRPr lang="fr-FR" sz="1800" noProof="0" dirty="0"/>
          </a:p>
          <a:p>
            <a:pPr lvl="1"/>
            <a:r>
              <a:rPr lang="fr-FR" sz="2400" b="1" noProof="0" dirty="0"/>
              <a:t>P</a:t>
            </a:r>
            <a:r>
              <a:rPr lang="fr-FR" sz="2400" noProof="0" dirty="0"/>
              <a:t>(</a:t>
            </a:r>
            <a:r>
              <a:rPr lang="fr-FR" sz="2400" i="1" noProof="0" dirty="0" err="1"/>
              <a:t>MalDeDent</a:t>
            </a:r>
            <a:r>
              <a:rPr lang="fr-FR" sz="2400" i="1" noProof="0" dirty="0"/>
              <a:t> | Croche, Carie</a:t>
            </a:r>
            <a:r>
              <a:rPr lang="fr-FR" sz="2400" noProof="0" dirty="0"/>
              <a:t>) = </a:t>
            </a:r>
            <a:r>
              <a:rPr lang="fr-FR" sz="2400" b="1" noProof="0" dirty="0"/>
              <a:t>P</a:t>
            </a:r>
            <a:r>
              <a:rPr lang="fr-FR" sz="2400" noProof="0" dirty="0"/>
              <a:t>(</a:t>
            </a:r>
            <a:r>
              <a:rPr lang="fr-FR" sz="2400" i="1" noProof="0" dirty="0" err="1"/>
              <a:t>MalDeDent</a:t>
            </a:r>
            <a:r>
              <a:rPr lang="fr-FR" sz="2400" i="1" noProof="0" dirty="0"/>
              <a:t> | Carie</a:t>
            </a:r>
            <a:r>
              <a:rPr lang="fr-FR" sz="2400" noProof="0" dirty="0"/>
              <a:t>)</a:t>
            </a:r>
          </a:p>
          <a:p>
            <a:pPr lvl="1"/>
            <a:r>
              <a:rPr lang="fr-FR" sz="2400" b="1" noProof="0" dirty="0"/>
              <a:t>P</a:t>
            </a:r>
            <a:r>
              <a:rPr lang="fr-FR" sz="2400" noProof="0" dirty="0"/>
              <a:t>(</a:t>
            </a:r>
            <a:r>
              <a:rPr lang="fr-FR" sz="2400" i="1" noProof="0" dirty="0" err="1"/>
              <a:t>MalDeDent</a:t>
            </a:r>
            <a:r>
              <a:rPr lang="fr-FR" sz="2400" i="1" noProof="0" dirty="0"/>
              <a:t>, Croche | Carie</a:t>
            </a:r>
            <a:r>
              <a:rPr lang="fr-FR" sz="2400" noProof="0" dirty="0"/>
              <a:t>) = </a:t>
            </a:r>
            <a:r>
              <a:rPr lang="fr-FR" sz="2400" b="1" noProof="0" dirty="0"/>
              <a:t>P</a:t>
            </a:r>
            <a:r>
              <a:rPr lang="fr-FR" sz="2400" noProof="0" dirty="0"/>
              <a:t>(</a:t>
            </a:r>
            <a:r>
              <a:rPr lang="fr-FR" sz="2400" i="1" noProof="0" dirty="0" err="1"/>
              <a:t>MalDeDent</a:t>
            </a:r>
            <a:r>
              <a:rPr lang="fr-FR" sz="2400" i="1" noProof="0" dirty="0"/>
              <a:t> | Carie</a:t>
            </a:r>
            <a:r>
              <a:rPr lang="fr-FR" sz="2400" noProof="0" dirty="0"/>
              <a:t>) *</a:t>
            </a:r>
            <a:r>
              <a:rPr lang="fr-FR" sz="2400" b="1" noProof="0" dirty="0"/>
              <a:t>P</a:t>
            </a:r>
            <a:r>
              <a:rPr lang="fr-FR" sz="2400" noProof="0" dirty="0"/>
              <a:t>(</a:t>
            </a:r>
            <a:r>
              <a:rPr lang="fr-FR" sz="2400" i="1" noProof="0" dirty="0"/>
              <a:t>Croche | Carie</a:t>
            </a:r>
            <a:r>
              <a:rPr lang="fr-FR" sz="2400" noProof="0" dirty="0"/>
              <a:t>)</a:t>
            </a:r>
          </a:p>
          <a:p>
            <a:r>
              <a:rPr lang="fr-FR" noProof="0" dirty="0"/>
              <a:t>Utilisation de la règle de chaînage:</a:t>
            </a:r>
          </a:p>
          <a:p>
            <a:pPr lvl="1"/>
            <a:r>
              <a:rPr lang="fr-FR" noProof="0" dirty="0"/>
              <a:t>P(</a:t>
            </a:r>
            <a:r>
              <a:rPr lang="fr-FR" noProof="0" dirty="0" err="1"/>
              <a:t>MalDeDent</a:t>
            </a:r>
            <a:r>
              <a:rPr lang="fr-FR" noProof="0" dirty="0"/>
              <a:t>, Croche, Carie)</a:t>
            </a:r>
            <a:br>
              <a:rPr lang="fr-FR" noProof="0" dirty="0"/>
            </a:br>
            <a:r>
              <a:rPr lang="fr-FR" noProof="0" dirty="0"/>
              <a:t>= P(</a:t>
            </a:r>
            <a:r>
              <a:rPr lang="fr-FR" noProof="0" dirty="0" err="1"/>
              <a:t>MalDeDent</a:t>
            </a:r>
            <a:r>
              <a:rPr lang="fr-FR" noProof="0" dirty="0"/>
              <a:t> | Carie) P(Croche | Carie) P(Carie)</a:t>
            </a:r>
          </a:p>
          <a:p>
            <a:r>
              <a:rPr lang="fr-FR" noProof="0" dirty="0"/>
              <a:t>Réduction de la complexité:</a:t>
            </a:r>
          </a:p>
          <a:p>
            <a:pPr lvl="1"/>
            <a:r>
              <a:rPr lang="fr-FR" noProof="0" dirty="0"/>
              <a:t>Peut réduire depuis la distribution conjointe de </a:t>
            </a:r>
            <a:r>
              <a:rPr lang="fr-FR" i="1" noProof="0" dirty="0"/>
              <a:t>O(</a:t>
            </a:r>
            <a:r>
              <a:rPr lang="fr-FR" sz="2000" i="1" noProof="0" dirty="0"/>
              <a:t>2</a:t>
            </a:r>
            <a:r>
              <a:rPr lang="fr-FR" sz="2000" i="1" baseline="30000" noProof="0" dirty="0"/>
              <a:t>n</a:t>
            </a:r>
            <a:r>
              <a:rPr lang="fr-FR" i="1" noProof="0" dirty="0"/>
              <a:t>) à O(n) </a:t>
            </a:r>
          </a:p>
          <a:p>
            <a:pPr lvl="1"/>
            <a:r>
              <a:rPr lang="fr-FR" noProof="0" dirty="0"/>
              <a:t>Notre connaissance la plus basique et robuste en environnement incertain.</a:t>
            </a:r>
          </a:p>
          <a:p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4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030A0"/>
                </a:solidFill>
              </a:rPr>
              <a:t>Règle de Bayes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noProof="0" dirty="0"/>
              <a:t>Règle du produit:</a:t>
            </a:r>
          </a:p>
          <a:p>
            <a:pPr lvl="1"/>
            <a:r>
              <a:rPr lang="fr-FR" noProof="0" dirty="0"/>
              <a:t> </a:t>
            </a:r>
            <a:r>
              <a:rPr lang="fr-FR" sz="2300" noProof="0" dirty="0"/>
              <a:t>P(</a:t>
            </a:r>
            <a:r>
              <a:rPr lang="fr-FR" sz="2300" noProof="0" dirty="0" err="1"/>
              <a:t>a</a:t>
            </a:r>
            <a:r>
              <a:rPr lang="fr-FR" sz="2300" noProof="0" dirty="0" err="1">
                <a:sym typeface="Symbol" pitchFamily="18" charset="2"/>
              </a:rPr>
              <a:t></a:t>
            </a:r>
            <a:r>
              <a:rPr lang="fr-FR" sz="2300" noProof="0" dirty="0" err="1"/>
              <a:t>b</a:t>
            </a:r>
            <a:r>
              <a:rPr lang="fr-FR" sz="2300" noProof="0" dirty="0"/>
              <a:t>) = P(a | b) P(b) = P(b | a) P(a)</a:t>
            </a:r>
          </a:p>
          <a:p>
            <a:r>
              <a:rPr lang="fr-FR" sz="2800" noProof="0" dirty="0">
                <a:sym typeface="Wingdings" panose="05000000000000000000" pitchFamily="2" charset="2"/>
              </a:rPr>
              <a:t> </a:t>
            </a:r>
            <a:r>
              <a:rPr lang="fr-FR" sz="2800" noProof="0" dirty="0">
                <a:solidFill>
                  <a:srgbClr val="FF0000"/>
                </a:solidFill>
                <a:sym typeface="Wingdings" panose="05000000000000000000" pitchFamily="2" charset="2"/>
              </a:rPr>
              <a:t>règle de Bayes</a:t>
            </a:r>
          </a:p>
          <a:p>
            <a:pPr lvl="1"/>
            <a:r>
              <a:rPr lang="fr-FR" sz="2300" noProof="0" dirty="0"/>
              <a:t>P(a | b) = P(b | a) P(a) / P(b)</a:t>
            </a:r>
          </a:p>
          <a:p>
            <a:r>
              <a:rPr lang="fr-FR" sz="2800" noProof="0" dirty="0"/>
              <a:t>Sous forme de distribution:</a:t>
            </a:r>
          </a:p>
          <a:p>
            <a:pPr lvl="1"/>
            <a:r>
              <a:rPr lang="fr-FR" sz="2300" noProof="0" dirty="0"/>
              <a:t>P(Y|X) = P(X|Y) P(Y) / P(X) = αP(X|Y) P(Y)</a:t>
            </a:r>
          </a:p>
          <a:p>
            <a:r>
              <a:rPr lang="fr-FR" sz="2800" noProof="0" dirty="0"/>
              <a:t>Utile pour déterminer les </a:t>
            </a:r>
            <a:r>
              <a:rPr lang="fr-FR" sz="2800" noProof="0" dirty="0">
                <a:solidFill>
                  <a:srgbClr val="A03A86"/>
                </a:solidFill>
              </a:rPr>
              <a:t>probabilités de diagnostic</a:t>
            </a:r>
            <a:r>
              <a:rPr lang="fr-FR" sz="2800" noProof="0" dirty="0"/>
              <a:t> depuis les </a:t>
            </a:r>
            <a:r>
              <a:rPr lang="fr-FR" sz="2800" noProof="0" dirty="0">
                <a:solidFill>
                  <a:srgbClr val="A03A86"/>
                </a:solidFill>
              </a:rPr>
              <a:t>probabilités causales</a:t>
            </a:r>
            <a:r>
              <a:rPr lang="fr-FR" sz="2800" noProof="0" dirty="0"/>
              <a:t>.</a:t>
            </a:r>
          </a:p>
          <a:p>
            <a:pPr lvl="1"/>
            <a:r>
              <a:rPr lang="fr-FR" sz="2400" noProof="0" dirty="0"/>
              <a:t>P(Cause | Effet) = P(Effet | Cause) P(Cause) / P(Effet)</a:t>
            </a:r>
          </a:p>
          <a:p>
            <a:pPr lvl="1"/>
            <a:r>
              <a:rPr lang="fr-FR" sz="2400" noProof="0" dirty="0"/>
              <a:t>Ex: méningite, nuque douloureuse:</a:t>
            </a:r>
          </a:p>
          <a:p>
            <a:pPr lvl="2"/>
            <a:r>
              <a:rPr lang="fr-FR" sz="2200" noProof="0" dirty="0"/>
              <a:t>P(</a:t>
            </a:r>
            <a:r>
              <a:rPr lang="fr-FR" sz="2200" noProof="0" dirty="0" err="1"/>
              <a:t>m|s</a:t>
            </a:r>
            <a:r>
              <a:rPr lang="fr-FR" sz="2200" noProof="0" dirty="0"/>
              <a:t>) = P(</a:t>
            </a:r>
            <a:r>
              <a:rPr lang="fr-FR" sz="2200" noProof="0" dirty="0" err="1"/>
              <a:t>s|m</a:t>
            </a:r>
            <a:r>
              <a:rPr lang="fr-FR" sz="2200" noProof="0" dirty="0"/>
              <a:t>) P(m) / P(s) = 0.8 </a:t>
            </a:r>
            <a:r>
              <a:rPr lang="fr-FR" sz="2200" noProof="0" dirty="0">
                <a:cs typeface="Arial" charset="0"/>
              </a:rPr>
              <a:t>× </a:t>
            </a:r>
            <a:r>
              <a:rPr lang="fr-FR" sz="2200" noProof="0" dirty="0"/>
              <a:t>0.0001 / 0.1 = 0.0008</a:t>
            </a:r>
          </a:p>
          <a:p>
            <a:pPr lvl="2"/>
            <a:r>
              <a:rPr lang="fr-FR" sz="2200" noProof="0" dirty="0"/>
              <a:t>La probabilité a postériori est encore très faible</a:t>
            </a:r>
          </a:p>
          <a:p>
            <a:pPr lvl="1"/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8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030A0"/>
                </a:solidFill>
              </a:rPr>
              <a:t>Bayes et indépendance conditionnelle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Exemple: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FR" sz="2400" b="1" noProof="0" dirty="0"/>
              <a:t>	P</a:t>
            </a:r>
            <a:r>
              <a:rPr lang="fr-FR" sz="2400" noProof="0" dirty="0"/>
              <a:t>(</a:t>
            </a:r>
            <a:r>
              <a:rPr lang="fr-FR" sz="2400" i="1" noProof="0" dirty="0"/>
              <a:t>Carie | </a:t>
            </a:r>
            <a:r>
              <a:rPr lang="fr-FR" sz="2400" i="1" noProof="0" dirty="0" err="1"/>
              <a:t>MalDeDents</a:t>
            </a:r>
            <a:r>
              <a:rPr lang="fr-FR" sz="2400" i="1" noProof="0" dirty="0"/>
              <a:t> </a:t>
            </a:r>
            <a:r>
              <a:rPr lang="fr-FR" sz="2400" i="1" noProof="0" dirty="0">
                <a:sym typeface="Symbol" pitchFamily="18" charset="2"/>
              </a:rPr>
              <a:t> </a:t>
            </a:r>
            <a:r>
              <a:rPr lang="fr-FR" sz="2400" i="1" noProof="0" dirty="0"/>
              <a:t>croche</a:t>
            </a:r>
            <a:r>
              <a:rPr lang="fr-FR" sz="2400" noProof="0" dirty="0"/>
              <a:t>)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000" noProof="0" dirty="0"/>
              <a:t>= α</a:t>
            </a:r>
            <a:r>
              <a:rPr lang="fr-FR" sz="2000" b="1" noProof="0" dirty="0"/>
              <a:t>P</a:t>
            </a:r>
            <a:r>
              <a:rPr lang="fr-FR" sz="2000" noProof="0" dirty="0"/>
              <a:t>(</a:t>
            </a:r>
            <a:r>
              <a:rPr lang="fr-FR" sz="2000" i="1" noProof="0" dirty="0" err="1"/>
              <a:t>MalDeDents</a:t>
            </a:r>
            <a:r>
              <a:rPr lang="fr-FR" sz="2000" i="1" noProof="0" dirty="0"/>
              <a:t> </a:t>
            </a:r>
            <a:r>
              <a:rPr lang="fr-FR" sz="2000" noProof="0" dirty="0">
                <a:sym typeface="Symbol" pitchFamily="18" charset="2"/>
              </a:rPr>
              <a:t></a:t>
            </a:r>
            <a:r>
              <a:rPr lang="fr-FR" sz="2000" i="1" noProof="0" dirty="0"/>
              <a:t> croche | Carie</a:t>
            </a:r>
            <a:r>
              <a:rPr lang="fr-FR" sz="2000" noProof="0" dirty="0"/>
              <a:t>) </a:t>
            </a:r>
            <a:r>
              <a:rPr lang="fr-FR" sz="2000" b="1" noProof="0" dirty="0"/>
              <a:t>P</a:t>
            </a:r>
            <a:r>
              <a:rPr lang="fr-FR" sz="2000" noProof="0" dirty="0"/>
              <a:t>(</a:t>
            </a:r>
            <a:r>
              <a:rPr lang="fr-FR" sz="2000" i="1" noProof="0" dirty="0"/>
              <a:t>Carie</a:t>
            </a:r>
            <a:r>
              <a:rPr lang="fr-FR" sz="2000" noProof="0" dirty="0"/>
              <a:t>)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000" noProof="0" dirty="0"/>
              <a:t>= α</a:t>
            </a:r>
            <a:r>
              <a:rPr lang="fr-FR" sz="2000" b="1" noProof="0" dirty="0"/>
              <a:t>P</a:t>
            </a:r>
            <a:r>
              <a:rPr lang="fr-FR" sz="2000" noProof="0" dirty="0"/>
              <a:t>(</a:t>
            </a:r>
            <a:r>
              <a:rPr lang="fr-FR" sz="2000" i="1" noProof="0" dirty="0" err="1"/>
              <a:t>MalDeDent</a:t>
            </a:r>
            <a:r>
              <a:rPr lang="fr-FR" sz="2000" i="1" noProof="0" dirty="0"/>
              <a:t> | Carie</a:t>
            </a:r>
            <a:r>
              <a:rPr lang="fr-FR" sz="2000" noProof="0" dirty="0"/>
              <a:t>) </a:t>
            </a:r>
            <a:r>
              <a:rPr lang="fr-FR" sz="2000" b="1" noProof="0" dirty="0"/>
              <a:t>P</a:t>
            </a:r>
            <a:r>
              <a:rPr lang="fr-FR" sz="2000" noProof="0" dirty="0"/>
              <a:t>(</a:t>
            </a:r>
            <a:r>
              <a:rPr lang="fr-FR" sz="2000" i="1" noProof="0" dirty="0"/>
              <a:t>Croche | Carie</a:t>
            </a:r>
            <a:r>
              <a:rPr lang="fr-FR" sz="2000" noProof="0" dirty="0"/>
              <a:t>) </a:t>
            </a:r>
            <a:r>
              <a:rPr lang="fr-FR" sz="2000" b="1" noProof="0" dirty="0"/>
              <a:t>P</a:t>
            </a:r>
            <a:r>
              <a:rPr lang="fr-FR" sz="2000" noProof="0" dirty="0"/>
              <a:t>(</a:t>
            </a:r>
            <a:r>
              <a:rPr lang="fr-FR" sz="2000" i="1" noProof="0" dirty="0"/>
              <a:t>Carie</a:t>
            </a:r>
            <a:r>
              <a:rPr lang="fr-FR" sz="2000" noProof="0" dirty="0"/>
              <a:t>) </a:t>
            </a:r>
          </a:p>
          <a:p>
            <a:r>
              <a:rPr lang="fr-FR" noProof="0" dirty="0"/>
              <a:t>C’est un exemple de </a:t>
            </a:r>
            <a:r>
              <a:rPr lang="fr-FR" noProof="0" dirty="0">
                <a:solidFill>
                  <a:srgbClr val="FF0000"/>
                </a:solidFill>
              </a:rPr>
              <a:t>modèle </a:t>
            </a:r>
            <a:r>
              <a:rPr lang="fr-FR" noProof="0" dirty="0" err="1">
                <a:solidFill>
                  <a:srgbClr val="FF0000"/>
                </a:solidFill>
              </a:rPr>
              <a:t>Bayesien</a:t>
            </a:r>
            <a:r>
              <a:rPr lang="fr-FR" noProof="0" dirty="0">
                <a:solidFill>
                  <a:srgbClr val="FF0000"/>
                </a:solidFill>
              </a:rPr>
              <a:t> naïf</a:t>
            </a:r>
          </a:p>
          <a:p>
            <a:pPr lvl="1"/>
            <a:r>
              <a:rPr lang="fr-FR" sz="2400" b="1" noProof="0" dirty="0"/>
              <a:t>P</a:t>
            </a:r>
            <a:r>
              <a:rPr lang="fr-FR" sz="2400" noProof="0" dirty="0"/>
              <a:t>(Cause,Effet</a:t>
            </a:r>
            <a:r>
              <a:rPr lang="fr-FR" sz="2400" baseline="-25000" noProof="0" dirty="0"/>
              <a:t>1</a:t>
            </a:r>
            <a:r>
              <a:rPr lang="fr-FR" sz="2400" noProof="0" dirty="0"/>
              <a:t>, … ,</a:t>
            </a:r>
            <a:r>
              <a:rPr lang="fr-FR" sz="2400" noProof="0" dirty="0" err="1"/>
              <a:t>Effet</a:t>
            </a:r>
            <a:r>
              <a:rPr lang="fr-FR" sz="2400" baseline="-25000" noProof="0" dirty="0" err="1"/>
              <a:t>n</a:t>
            </a:r>
            <a:r>
              <a:rPr lang="fr-FR" sz="2400" noProof="0" dirty="0"/>
              <a:t>) = </a:t>
            </a:r>
            <a:r>
              <a:rPr lang="fr-FR" sz="2400" b="1" noProof="0" dirty="0"/>
              <a:t>P</a:t>
            </a:r>
            <a:r>
              <a:rPr lang="fr-FR" sz="2400" noProof="0" dirty="0"/>
              <a:t>(Cause) </a:t>
            </a:r>
            <a:r>
              <a:rPr lang="fr-FR" sz="2400" noProof="0" dirty="0">
                <a:cs typeface="Arial" charset="0"/>
              </a:rPr>
              <a:t>π</a:t>
            </a:r>
            <a:r>
              <a:rPr lang="fr-FR" sz="2400" baseline="-25000" noProof="0" dirty="0" err="1"/>
              <a:t>i</a:t>
            </a:r>
            <a:r>
              <a:rPr lang="fr-FR" sz="2400" b="1" noProof="0" dirty="0" err="1"/>
              <a:t>P</a:t>
            </a:r>
            <a:r>
              <a:rPr lang="fr-FR" sz="2400" noProof="0" dirty="0"/>
              <a:t>(</a:t>
            </a:r>
            <a:r>
              <a:rPr lang="fr-FR" sz="2400" noProof="0" dirty="0" err="1"/>
              <a:t>Effet</a:t>
            </a:r>
            <a:r>
              <a:rPr lang="fr-FR" sz="2400" baseline="-25000" noProof="0" dirty="0" err="1"/>
              <a:t>i</a:t>
            </a:r>
            <a:r>
              <a:rPr lang="fr-FR" sz="2400" noProof="0" dirty="0" err="1"/>
              <a:t>|Cause</a:t>
            </a:r>
            <a:r>
              <a:rPr lang="fr-FR" sz="2400" noProof="0" dirty="0"/>
              <a:t>)</a:t>
            </a:r>
          </a:p>
          <a:p>
            <a:pPr lvl="1"/>
            <a:endParaRPr lang="fr-FR" sz="2400" noProof="0" dirty="0">
              <a:solidFill>
                <a:srgbClr val="FF0000"/>
              </a:solidFill>
            </a:endParaRPr>
          </a:p>
          <a:p>
            <a:pPr lvl="1"/>
            <a:endParaRPr lang="fr-FR" sz="2400" noProof="0" dirty="0">
              <a:solidFill>
                <a:srgbClr val="FF0000"/>
              </a:solidFill>
            </a:endParaRPr>
          </a:p>
          <a:p>
            <a:pPr lvl="1"/>
            <a:endParaRPr lang="fr-FR" sz="2400" noProof="0" dirty="0">
              <a:solidFill>
                <a:srgbClr val="FF0000"/>
              </a:solidFill>
            </a:endParaRPr>
          </a:p>
          <a:p>
            <a:r>
              <a:rPr lang="fr-FR" sz="2900" noProof="0" dirty="0"/>
              <a:t>Le nombre de paramètres est </a:t>
            </a:r>
            <a:r>
              <a:rPr lang="fr-FR" sz="2900" noProof="0" dirty="0">
                <a:solidFill>
                  <a:srgbClr val="FF0000"/>
                </a:solidFill>
              </a:rPr>
              <a:t>linéaire</a:t>
            </a:r>
            <a:r>
              <a:rPr lang="fr-FR" sz="2900" noProof="0" dirty="0"/>
              <a:t> en 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6" name="Picture 4" descr="naive-bay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191000"/>
            <a:ext cx="484822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46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Résumé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Les probabilités sont un formalisme rigoureux pour la connaissance incertaine</a:t>
            </a:r>
          </a:p>
          <a:p>
            <a:r>
              <a:rPr lang="fr-FR" noProof="0" dirty="0"/>
              <a:t>La </a:t>
            </a:r>
            <a:r>
              <a:rPr lang="fr-FR" noProof="0" dirty="0">
                <a:solidFill>
                  <a:srgbClr val="A03A86"/>
                </a:solidFill>
              </a:rPr>
              <a:t>distribution conjointe de probabilité</a:t>
            </a:r>
            <a:r>
              <a:rPr lang="fr-FR" noProof="0" dirty="0"/>
              <a:t> spécifie la probabilité de chaque </a:t>
            </a:r>
            <a:r>
              <a:rPr lang="fr-FR" noProof="0" dirty="0">
                <a:solidFill>
                  <a:srgbClr val="A03A86"/>
                </a:solidFill>
              </a:rPr>
              <a:t>évènement atomique</a:t>
            </a:r>
          </a:p>
          <a:p>
            <a:pPr lvl="1"/>
            <a:r>
              <a:rPr lang="fr-FR" noProof="0" dirty="0"/>
              <a:t>Les questions peuvent être répondues en sommant sur les évènements atomiques</a:t>
            </a:r>
          </a:p>
          <a:p>
            <a:r>
              <a:rPr lang="fr-FR" noProof="0" dirty="0"/>
              <a:t>Pour des domaines non triviaux, on doit trouver un moyen de réduire la taille conjointe</a:t>
            </a:r>
          </a:p>
          <a:p>
            <a:pPr lvl="1"/>
            <a:r>
              <a:rPr lang="fr-FR" noProof="0" dirty="0"/>
              <a:t>L’</a:t>
            </a:r>
            <a:r>
              <a:rPr lang="fr-FR" noProof="0" dirty="0">
                <a:solidFill>
                  <a:srgbClr val="A03A86"/>
                </a:solidFill>
              </a:rPr>
              <a:t>indépendance</a:t>
            </a:r>
            <a:r>
              <a:rPr lang="fr-FR" noProof="0" dirty="0"/>
              <a:t> et l’</a:t>
            </a:r>
            <a:r>
              <a:rPr lang="fr-FR" noProof="0" dirty="0">
                <a:solidFill>
                  <a:srgbClr val="A03A86"/>
                </a:solidFill>
              </a:rPr>
              <a:t>indépendance conditionnelle</a:t>
            </a:r>
            <a:r>
              <a:rPr lang="fr-FR" noProof="0" dirty="0"/>
              <a:t> fournissent de bons outils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94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Questions?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1726036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Sommaire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35B01F-2079-4428-897D-278E5C9D0E54}" type="slidenum">
              <a:rPr lang="fr-FR" smtClean="0"/>
              <a:pPr>
                <a:defRPr/>
              </a:pPr>
              <a:t>21</a:t>
            </a:fld>
            <a:endParaRPr lang="fr-FR" dirty="0"/>
          </a:p>
        </p:txBody>
      </p:sp>
      <p:sp>
        <p:nvSpPr>
          <p:cNvPr id="1434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883150"/>
          </a:xfrm>
        </p:spPr>
        <p:txBody>
          <a:bodyPr>
            <a:normAutofit/>
          </a:bodyPr>
          <a:lstStyle/>
          <a:p>
            <a:r>
              <a:rPr lang="fr-FR" noProof="0" dirty="0"/>
              <a:t>Quantification de l’incertitude</a:t>
            </a:r>
          </a:p>
          <a:p>
            <a:r>
              <a:rPr lang="fr-FR" noProof="0" dirty="0"/>
              <a:t>Raisonnement probabiliste</a:t>
            </a:r>
          </a:p>
          <a:p>
            <a:pPr lvl="1"/>
            <a:r>
              <a:rPr lang="fr-FR" noProof="0" dirty="0"/>
              <a:t>Réseaux Bayésiens</a:t>
            </a:r>
          </a:p>
          <a:p>
            <a:pPr lvl="1"/>
            <a:r>
              <a:rPr lang="fr-FR" noProof="0" dirty="0"/>
              <a:t>Domaines experts simples</a:t>
            </a:r>
          </a:p>
          <a:p>
            <a:r>
              <a:rPr lang="fr-FR" noProof="0" dirty="0"/>
              <a:t>Raisonnement probabiliste temporel</a:t>
            </a:r>
          </a:p>
          <a:p>
            <a:r>
              <a:rPr lang="fr-FR" noProof="0" dirty="0"/>
              <a:t>Prise de décision simple</a:t>
            </a:r>
          </a:p>
          <a:p>
            <a:r>
              <a:rPr lang="fr-FR" noProof="0" dirty="0"/>
              <a:t>Prise de décision complexe</a:t>
            </a:r>
          </a:p>
          <a:p>
            <a:r>
              <a:rPr lang="fr-FR" noProof="0" dirty="0"/>
              <a:t>TP: Inférence avec des modèles probabilistes simples et temporels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482875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Réseaux </a:t>
            </a:r>
            <a:r>
              <a:rPr lang="fr-FR" noProof="0" dirty="0" err="1"/>
              <a:t>Bayesiens</a:t>
            </a:r>
            <a:endParaRPr lang="fr-FR" noProof="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752" y="1527048"/>
            <a:ext cx="8503920" cy="487375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fr-FR" sz="2400" noProof="0" dirty="0"/>
              <a:t>Une notation simple, graphique </a:t>
            </a:r>
          </a:p>
          <a:p>
            <a:pPr lvl="1">
              <a:lnSpc>
                <a:spcPct val="80000"/>
              </a:lnSpc>
            </a:pPr>
            <a:r>
              <a:rPr lang="fr-FR" sz="1900" noProof="0" dirty="0"/>
              <a:t>pour les assertions d’’indépendance conditionnelle, </a:t>
            </a:r>
          </a:p>
          <a:p>
            <a:pPr lvl="1">
              <a:lnSpc>
                <a:spcPct val="80000"/>
              </a:lnSpc>
            </a:pPr>
            <a:r>
              <a:rPr lang="fr-FR" sz="1900" noProof="0" dirty="0"/>
              <a:t>et pour la spécification compacte d’une distribution conjointe complète.</a:t>
            </a:r>
          </a:p>
          <a:p>
            <a:pPr>
              <a:lnSpc>
                <a:spcPct val="80000"/>
              </a:lnSpc>
            </a:pPr>
            <a:r>
              <a:rPr lang="fr-FR" sz="2400" noProof="0" dirty="0"/>
              <a:t>Syntaxe:</a:t>
            </a:r>
          </a:p>
          <a:p>
            <a:pPr lvl="1">
              <a:lnSpc>
                <a:spcPct val="80000"/>
              </a:lnSpc>
            </a:pPr>
            <a:r>
              <a:rPr lang="fr-FR" sz="2000" noProof="0" dirty="0"/>
              <a:t>Un ensemble de nœuds, un par variable</a:t>
            </a:r>
          </a:p>
          <a:p>
            <a:pPr lvl="1">
              <a:lnSpc>
                <a:spcPct val="80000"/>
              </a:lnSpc>
            </a:pPr>
            <a:r>
              <a:rPr lang="fr-FR" sz="2000" noProof="0" dirty="0"/>
              <a:t>Un graphe dirigé acyclique (lien </a:t>
            </a:r>
            <a:r>
              <a:rPr lang="fr-FR" sz="2000" noProof="0" dirty="0">
                <a:cs typeface="Arial" charset="0"/>
              </a:rPr>
              <a:t>≈ </a:t>
            </a:r>
            <a:r>
              <a:rPr lang="fr-FR" sz="2000" noProof="0" dirty="0"/>
              <a:t>“influences directes")</a:t>
            </a:r>
          </a:p>
          <a:p>
            <a:pPr lvl="1">
              <a:lnSpc>
                <a:spcPct val="80000"/>
              </a:lnSpc>
            </a:pPr>
            <a:r>
              <a:rPr lang="fr-FR" sz="2000" noProof="0" dirty="0"/>
              <a:t>Une distribution conditionnelle pour chaque nœud, étant donné ces parents:</a:t>
            </a:r>
          </a:p>
          <a:p>
            <a:pPr lvl="2" algn="ctr">
              <a:lnSpc>
                <a:spcPct val="80000"/>
              </a:lnSpc>
              <a:buFontTx/>
              <a:buNone/>
            </a:pPr>
            <a:r>
              <a:rPr lang="fr-FR" sz="1800" b="1" noProof="0" dirty="0"/>
              <a:t>P </a:t>
            </a:r>
            <a:r>
              <a:rPr lang="fr-FR" sz="1800" noProof="0" dirty="0"/>
              <a:t>(X</a:t>
            </a:r>
            <a:r>
              <a:rPr lang="fr-FR" sz="1800" baseline="-25000" noProof="0" dirty="0"/>
              <a:t>i </a:t>
            </a:r>
            <a:r>
              <a:rPr lang="fr-FR" sz="1800" noProof="0" dirty="0"/>
              <a:t>| Parents (X</a:t>
            </a:r>
            <a:r>
              <a:rPr lang="fr-FR" sz="1800" baseline="-25000" noProof="0" dirty="0"/>
              <a:t>i</a:t>
            </a:r>
            <a:r>
              <a:rPr lang="fr-FR" sz="1800" noProof="0" dirty="0"/>
              <a:t>))</a:t>
            </a:r>
          </a:p>
          <a:p>
            <a:pPr lvl="2" algn="ctr">
              <a:lnSpc>
                <a:spcPct val="80000"/>
              </a:lnSpc>
              <a:buFontTx/>
              <a:buNone/>
            </a:pPr>
            <a:endParaRPr lang="fr-FR" sz="1800" noProof="0" dirty="0"/>
          </a:p>
          <a:p>
            <a:pPr>
              <a:lnSpc>
                <a:spcPct val="80000"/>
              </a:lnSpc>
            </a:pPr>
            <a:r>
              <a:rPr lang="fr-FR" sz="2400" noProof="0" dirty="0"/>
              <a:t>Dans la cas le plus simple, une distribution conditionnelle est représentée par:</a:t>
            </a:r>
          </a:p>
          <a:p>
            <a:pPr lvl="1">
              <a:lnSpc>
                <a:spcPct val="80000"/>
              </a:lnSpc>
            </a:pPr>
            <a:r>
              <a:rPr lang="fr-FR" sz="1900" noProof="0" dirty="0"/>
              <a:t>une table de probabilités conditionnelles (CPT) </a:t>
            </a:r>
          </a:p>
          <a:p>
            <a:pPr lvl="1">
              <a:lnSpc>
                <a:spcPct val="80000"/>
              </a:lnSpc>
            </a:pPr>
            <a:r>
              <a:rPr lang="fr-FR" sz="1900" noProof="0" dirty="0"/>
              <a:t>donnant la distribution en </a:t>
            </a:r>
            <a:r>
              <a:rPr lang="fr-FR" sz="1900" i="1" noProof="0" dirty="0"/>
              <a:t>X</a:t>
            </a:r>
            <a:r>
              <a:rPr lang="fr-FR" sz="1900" i="1" baseline="-25000" noProof="0" dirty="0"/>
              <a:t>i</a:t>
            </a:r>
            <a:r>
              <a:rPr lang="fr-FR" sz="1900" noProof="0" dirty="0"/>
              <a:t> pour chaque combinaison de valeur parente</a:t>
            </a: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8ECEA4A4-5327-4AEE-AF16-821C6C2F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22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Example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fr-FR" sz="2400" noProof="0" dirty="0"/>
              <a:t>La topologie du réseau encode les assertions d’indépendance conditionnelle:</a:t>
            </a:r>
          </a:p>
          <a:p>
            <a:pPr>
              <a:lnSpc>
                <a:spcPct val="90000"/>
              </a:lnSpc>
              <a:buFontTx/>
              <a:buNone/>
            </a:pPr>
            <a:endParaRPr lang="fr-FR" sz="2400" noProof="0" dirty="0"/>
          </a:p>
          <a:p>
            <a:pPr>
              <a:lnSpc>
                <a:spcPct val="90000"/>
              </a:lnSpc>
              <a:buFontTx/>
              <a:buNone/>
            </a:pPr>
            <a:endParaRPr lang="fr-FR" sz="2400" noProof="0" dirty="0"/>
          </a:p>
          <a:p>
            <a:pPr>
              <a:lnSpc>
                <a:spcPct val="90000"/>
              </a:lnSpc>
              <a:buFontTx/>
              <a:buNone/>
            </a:pPr>
            <a:endParaRPr lang="fr-FR" sz="2400" noProof="0" dirty="0"/>
          </a:p>
          <a:p>
            <a:pPr>
              <a:lnSpc>
                <a:spcPct val="90000"/>
              </a:lnSpc>
              <a:buFontTx/>
              <a:buNone/>
            </a:pPr>
            <a:endParaRPr lang="fr-FR" sz="2400" noProof="0" dirty="0"/>
          </a:p>
          <a:p>
            <a:pPr>
              <a:lnSpc>
                <a:spcPct val="90000"/>
              </a:lnSpc>
              <a:buFontTx/>
              <a:buNone/>
            </a:pPr>
            <a:endParaRPr lang="fr-FR" sz="2400" noProof="0" dirty="0"/>
          </a:p>
          <a:p>
            <a:pPr>
              <a:lnSpc>
                <a:spcPct val="90000"/>
              </a:lnSpc>
              <a:buFontTx/>
              <a:buNone/>
            </a:pPr>
            <a:endParaRPr lang="fr-FR" sz="2400" noProof="0" dirty="0"/>
          </a:p>
          <a:p>
            <a:pPr>
              <a:lnSpc>
                <a:spcPct val="90000"/>
              </a:lnSpc>
            </a:pPr>
            <a:r>
              <a:rPr lang="fr-FR" sz="2400" i="1" noProof="0" dirty="0" err="1"/>
              <a:t>Weather</a:t>
            </a:r>
            <a:r>
              <a:rPr lang="fr-FR" sz="2400" noProof="0" dirty="0"/>
              <a:t> est indépendant des autres variables</a:t>
            </a:r>
          </a:p>
          <a:p>
            <a:pPr>
              <a:lnSpc>
                <a:spcPct val="90000"/>
              </a:lnSpc>
            </a:pPr>
            <a:r>
              <a:rPr lang="fr-FR" sz="2400" i="1" noProof="0" dirty="0" err="1"/>
              <a:t>Toothache</a:t>
            </a:r>
            <a:r>
              <a:rPr lang="fr-FR" sz="2400" noProof="0" dirty="0"/>
              <a:t> et </a:t>
            </a:r>
            <a:r>
              <a:rPr lang="fr-FR" sz="2400" i="1" noProof="0" dirty="0"/>
              <a:t>Catch</a:t>
            </a:r>
            <a:r>
              <a:rPr lang="fr-FR" sz="2400" noProof="0" dirty="0"/>
              <a:t> sont conditionnellement indépendants, étant donné </a:t>
            </a:r>
            <a:r>
              <a:rPr lang="fr-FR" sz="2400" i="1" noProof="0" dirty="0" err="1"/>
              <a:t>Cavity</a:t>
            </a:r>
            <a:endParaRPr lang="fr-FR" sz="2400" noProof="0" dirty="0"/>
          </a:p>
        </p:txBody>
      </p:sp>
      <p:pic>
        <p:nvPicPr>
          <p:cNvPr id="6148" name="Picture 4" descr="dentist-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286000"/>
            <a:ext cx="4419600" cy="2182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76181F5-5688-4A58-BE1D-0305F630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82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Exemple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400" noProof="0" dirty="0"/>
              <a:t>Mise en situation:</a:t>
            </a:r>
          </a:p>
          <a:p>
            <a:pPr lvl="1">
              <a:lnSpc>
                <a:spcPct val="90000"/>
              </a:lnSpc>
            </a:pPr>
            <a:r>
              <a:rPr lang="fr-FR" sz="1900" i="1" noProof="0" dirty="0"/>
              <a:t>« Au travail, mon voisin John m’appelle pour me prévenir que mon alarme sonne, mais ma voisine Marie n’appelle pas. Parfois elle est </a:t>
            </a:r>
            <a:r>
              <a:rPr lang="fr-FR" sz="1900" i="1" noProof="0" dirty="0" err="1"/>
              <a:t>déclanchée</a:t>
            </a:r>
            <a:r>
              <a:rPr lang="fr-FR" sz="1900" i="1" noProof="0" dirty="0"/>
              <a:t> par de petits tremblements de terre. Y </a:t>
            </a:r>
            <a:r>
              <a:rPr lang="fr-FR" sz="1900" i="1" noProof="0" dirty="0" err="1"/>
              <a:t>a-t’il</a:t>
            </a:r>
            <a:r>
              <a:rPr lang="fr-FR" sz="1900" i="1" noProof="0" dirty="0"/>
              <a:t> un voleur? »</a:t>
            </a:r>
          </a:p>
          <a:p>
            <a:pPr>
              <a:lnSpc>
                <a:spcPct val="90000"/>
              </a:lnSpc>
            </a:pPr>
            <a:r>
              <a:rPr lang="fr-FR" sz="2400" noProof="0" dirty="0"/>
              <a:t>Variables: </a:t>
            </a:r>
            <a:r>
              <a:rPr lang="fr-FR" sz="2400" i="1" noProof="0" dirty="0" err="1"/>
              <a:t>Burglary</a:t>
            </a:r>
            <a:r>
              <a:rPr lang="fr-FR" sz="2400" noProof="0" dirty="0"/>
              <a:t>, </a:t>
            </a:r>
            <a:r>
              <a:rPr lang="fr-FR" sz="2400" i="1" noProof="0" dirty="0" err="1"/>
              <a:t>Earthquake</a:t>
            </a:r>
            <a:r>
              <a:rPr lang="fr-FR" sz="2400" noProof="0" dirty="0"/>
              <a:t>, </a:t>
            </a:r>
            <a:r>
              <a:rPr lang="fr-FR" sz="2400" i="1" noProof="0" dirty="0" err="1"/>
              <a:t>Alarm</a:t>
            </a:r>
            <a:r>
              <a:rPr lang="fr-FR" sz="2400" noProof="0" dirty="0"/>
              <a:t>, </a:t>
            </a:r>
            <a:r>
              <a:rPr lang="fr-FR" sz="2400" i="1" noProof="0" dirty="0" err="1"/>
              <a:t>JohnCalls</a:t>
            </a:r>
            <a:r>
              <a:rPr lang="fr-FR" sz="2400" noProof="0" dirty="0"/>
              <a:t>, </a:t>
            </a:r>
            <a:r>
              <a:rPr lang="fr-FR" sz="2400" i="1" noProof="0" dirty="0" err="1"/>
              <a:t>MaryCalls</a:t>
            </a:r>
            <a:endParaRPr lang="fr-FR" sz="2400" noProof="0" dirty="0"/>
          </a:p>
          <a:p>
            <a:pPr>
              <a:lnSpc>
                <a:spcPct val="90000"/>
              </a:lnSpc>
            </a:pPr>
            <a:endParaRPr lang="fr-FR" sz="2400" noProof="0" dirty="0"/>
          </a:p>
          <a:p>
            <a:pPr>
              <a:lnSpc>
                <a:spcPct val="90000"/>
              </a:lnSpc>
            </a:pPr>
            <a:r>
              <a:rPr lang="fr-FR" sz="2400" noProof="0" dirty="0"/>
              <a:t>La topologie de réseau </a:t>
            </a:r>
            <a:r>
              <a:rPr lang="fr-FR" sz="2400" noProof="0" dirty="0" err="1"/>
              <a:t>reflate</a:t>
            </a:r>
            <a:r>
              <a:rPr lang="fr-FR" sz="2400" noProof="0" dirty="0"/>
              <a:t> la connaissance "causale" :</a:t>
            </a:r>
          </a:p>
          <a:p>
            <a:pPr lvl="1">
              <a:lnSpc>
                <a:spcPct val="90000"/>
              </a:lnSpc>
            </a:pPr>
            <a:r>
              <a:rPr lang="fr-FR" sz="2000" noProof="0" dirty="0"/>
              <a:t>A </a:t>
            </a:r>
            <a:r>
              <a:rPr lang="fr-FR" sz="2000" noProof="0" dirty="0" err="1"/>
              <a:t>burglar</a:t>
            </a:r>
            <a:r>
              <a:rPr lang="fr-FR" sz="2000" noProof="0" dirty="0"/>
              <a:t> can set the </a:t>
            </a:r>
            <a:r>
              <a:rPr lang="fr-FR" sz="2000" noProof="0" dirty="0" err="1"/>
              <a:t>alarm</a:t>
            </a:r>
            <a:r>
              <a:rPr lang="fr-FR" sz="2000" noProof="0" dirty="0"/>
              <a:t> off</a:t>
            </a:r>
          </a:p>
          <a:p>
            <a:pPr lvl="1">
              <a:lnSpc>
                <a:spcPct val="90000"/>
              </a:lnSpc>
            </a:pPr>
            <a:r>
              <a:rPr lang="fr-FR" sz="2000" noProof="0" dirty="0"/>
              <a:t>An </a:t>
            </a:r>
            <a:r>
              <a:rPr lang="fr-FR" sz="2000" noProof="0" dirty="0" err="1"/>
              <a:t>earthquake</a:t>
            </a:r>
            <a:r>
              <a:rPr lang="fr-FR" sz="2000" noProof="0" dirty="0"/>
              <a:t> can set the </a:t>
            </a:r>
            <a:r>
              <a:rPr lang="fr-FR" sz="2000" noProof="0" dirty="0" err="1"/>
              <a:t>alarm</a:t>
            </a:r>
            <a:r>
              <a:rPr lang="fr-FR" sz="2000" noProof="0" dirty="0"/>
              <a:t> off</a:t>
            </a:r>
          </a:p>
          <a:p>
            <a:pPr lvl="1">
              <a:lnSpc>
                <a:spcPct val="90000"/>
              </a:lnSpc>
            </a:pPr>
            <a:r>
              <a:rPr lang="fr-FR" sz="2000" noProof="0" dirty="0"/>
              <a:t>The </a:t>
            </a:r>
            <a:r>
              <a:rPr lang="fr-FR" sz="2000" noProof="0" dirty="0" err="1"/>
              <a:t>alarm</a:t>
            </a:r>
            <a:r>
              <a:rPr lang="fr-FR" sz="2000" noProof="0" dirty="0"/>
              <a:t> can cause Mary to call</a:t>
            </a:r>
          </a:p>
          <a:p>
            <a:pPr lvl="1">
              <a:lnSpc>
                <a:spcPct val="90000"/>
              </a:lnSpc>
            </a:pPr>
            <a:r>
              <a:rPr lang="fr-FR" sz="2000" noProof="0" dirty="0"/>
              <a:t>The </a:t>
            </a:r>
            <a:r>
              <a:rPr lang="fr-FR" sz="2000" noProof="0" dirty="0" err="1"/>
              <a:t>alarm</a:t>
            </a:r>
            <a:r>
              <a:rPr lang="fr-FR" sz="2000" noProof="0" dirty="0"/>
              <a:t> can cause John to call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7D719A15-AB7C-456C-948E-DE6C8293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057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Example (suite)</a:t>
            </a:r>
          </a:p>
        </p:txBody>
      </p:sp>
      <p:pic>
        <p:nvPicPr>
          <p:cNvPr id="8196" name="Picture 4" descr="burglary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7772400" cy="423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0E3C0C17-159C-466F-AA8C-AEA61589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404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Compacité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000" noProof="0" dirty="0"/>
              <a:t>Un CPT pour les booléens  </a:t>
            </a:r>
            <a:r>
              <a:rPr lang="fr-FR" sz="2000" i="1" noProof="0" dirty="0"/>
              <a:t>X</a:t>
            </a:r>
            <a:r>
              <a:rPr lang="fr-FR" sz="2000" i="1" baseline="-25000" noProof="0" dirty="0"/>
              <a:t>i</a:t>
            </a:r>
            <a:r>
              <a:rPr lang="fr-FR" sz="2000" noProof="0" dirty="0"/>
              <a:t> avec </a:t>
            </a:r>
            <a:r>
              <a:rPr lang="fr-FR" sz="2000" i="1" noProof="0" dirty="0"/>
              <a:t>k</a:t>
            </a:r>
            <a:r>
              <a:rPr lang="fr-FR" sz="2000" noProof="0" dirty="0"/>
              <a:t> </a:t>
            </a:r>
            <a:r>
              <a:rPr lang="fr-FR" sz="2000" noProof="0" dirty="0" err="1"/>
              <a:t>Booleéns</a:t>
            </a:r>
            <a:r>
              <a:rPr lang="fr-FR" sz="2000" noProof="0" dirty="0"/>
              <a:t> parents a </a:t>
            </a:r>
            <a:r>
              <a:rPr lang="fr-FR" sz="2000" i="1" noProof="0" dirty="0"/>
              <a:t>2</a:t>
            </a:r>
            <a:r>
              <a:rPr lang="fr-FR" sz="2000" i="1" baseline="30000" noProof="0" dirty="0"/>
              <a:t>k</a:t>
            </a:r>
            <a:r>
              <a:rPr lang="fr-FR" sz="2000" noProof="0" dirty="0"/>
              <a:t> lignes pour les combinaisons de valeurs parents</a:t>
            </a:r>
          </a:p>
          <a:p>
            <a:pPr>
              <a:lnSpc>
                <a:spcPct val="90000"/>
              </a:lnSpc>
            </a:pPr>
            <a:endParaRPr lang="fr-FR" sz="2000" noProof="0" dirty="0"/>
          </a:p>
          <a:p>
            <a:pPr>
              <a:lnSpc>
                <a:spcPct val="90000"/>
              </a:lnSpc>
            </a:pPr>
            <a:r>
              <a:rPr lang="fr-FR" sz="2000" noProof="0" dirty="0"/>
              <a:t>Chaque ligne nécessite un nombre </a:t>
            </a:r>
            <a:r>
              <a:rPr lang="fr-FR" sz="2000" i="1" noProof="0" dirty="0"/>
              <a:t>p</a:t>
            </a:r>
            <a:r>
              <a:rPr lang="fr-FR" sz="2000" noProof="0" dirty="0"/>
              <a:t> pour </a:t>
            </a:r>
            <a:r>
              <a:rPr lang="fr-FR" sz="2000" i="1" noProof="0" dirty="0"/>
              <a:t>X</a:t>
            </a:r>
            <a:r>
              <a:rPr lang="fr-FR" sz="2000" i="1" baseline="-25000" noProof="0" dirty="0"/>
              <a:t>i</a:t>
            </a:r>
            <a:r>
              <a:rPr lang="fr-FR" sz="2000" i="1" noProof="0" dirty="0"/>
              <a:t> = </a:t>
            </a:r>
            <a:r>
              <a:rPr lang="fr-FR" sz="2000" i="1" noProof="0" dirty="0" err="1"/>
              <a:t>true</a:t>
            </a:r>
            <a:br>
              <a:rPr lang="fr-FR" sz="2000" i="1" noProof="0" dirty="0"/>
            </a:br>
            <a:r>
              <a:rPr lang="fr-FR" sz="2000" noProof="0" dirty="0"/>
              <a:t>(le nombre pour </a:t>
            </a:r>
            <a:r>
              <a:rPr lang="fr-FR" sz="2000" i="1" noProof="0" dirty="0"/>
              <a:t>X</a:t>
            </a:r>
            <a:r>
              <a:rPr lang="fr-FR" sz="2000" i="1" baseline="-25000" noProof="0" dirty="0"/>
              <a:t>i</a:t>
            </a:r>
            <a:r>
              <a:rPr lang="fr-FR" sz="2000" noProof="0" dirty="0"/>
              <a:t> = </a:t>
            </a:r>
            <a:r>
              <a:rPr lang="fr-FR" sz="2000" i="1" noProof="0" dirty="0"/>
              <a:t>false</a:t>
            </a:r>
            <a:r>
              <a:rPr lang="fr-FR" sz="2000" noProof="0" dirty="0"/>
              <a:t> est juste </a:t>
            </a:r>
            <a:r>
              <a:rPr lang="fr-FR" sz="2000" i="1" noProof="0" dirty="0"/>
              <a:t>1-p</a:t>
            </a:r>
            <a:r>
              <a:rPr lang="fr-FR" sz="2000" noProof="0" dirty="0"/>
              <a:t>)</a:t>
            </a:r>
          </a:p>
          <a:p>
            <a:pPr>
              <a:lnSpc>
                <a:spcPct val="90000"/>
              </a:lnSpc>
            </a:pPr>
            <a:endParaRPr lang="fr-FR" sz="2000" noProof="0" dirty="0"/>
          </a:p>
          <a:p>
            <a:pPr>
              <a:lnSpc>
                <a:spcPct val="90000"/>
              </a:lnSpc>
            </a:pPr>
            <a:r>
              <a:rPr lang="fr-FR" sz="2000" noProof="0" dirty="0"/>
              <a:t>Si chaque variable n’a pas plus de k parents, le réseau complet nécessite </a:t>
            </a:r>
            <a:r>
              <a:rPr lang="fr-FR" sz="2000" i="1" noProof="0" dirty="0">
                <a:solidFill>
                  <a:schemeClr val="accent2"/>
                </a:solidFill>
              </a:rPr>
              <a:t>O(n </a:t>
            </a:r>
            <a:r>
              <a:rPr lang="fr-FR" sz="2000" i="1" noProof="0" dirty="0">
                <a:solidFill>
                  <a:schemeClr val="accent2"/>
                </a:solidFill>
                <a:cs typeface="Arial" charset="0"/>
              </a:rPr>
              <a:t>·</a:t>
            </a:r>
            <a:r>
              <a:rPr lang="fr-FR" sz="2000" noProof="0" dirty="0">
                <a:solidFill>
                  <a:schemeClr val="accent2"/>
                </a:solidFill>
              </a:rPr>
              <a:t> 2</a:t>
            </a:r>
            <a:r>
              <a:rPr lang="fr-FR" sz="2000" baseline="30000" noProof="0" dirty="0">
                <a:solidFill>
                  <a:schemeClr val="accent2"/>
                </a:solidFill>
              </a:rPr>
              <a:t>k</a:t>
            </a:r>
            <a:r>
              <a:rPr lang="fr-FR" sz="2000" noProof="0" dirty="0">
                <a:solidFill>
                  <a:schemeClr val="accent2"/>
                </a:solidFill>
              </a:rPr>
              <a:t>)</a:t>
            </a:r>
            <a:r>
              <a:rPr lang="fr-FR" sz="2000" noProof="0" dirty="0"/>
              <a:t> nombres</a:t>
            </a:r>
          </a:p>
          <a:p>
            <a:pPr>
              <a:lnSpc>
                <a:spcPct val="90000"/>
              </a:lnSpc>
            </a:pPr>
            <a:endParaRPr lang="fr-FR" sz="2000" noProof="0" dirty="0"/>
          </a:p>
          <a:p>
            <a:pPr>
              <a:lnSpc>
                <a:spcPct val="90000"/>
              </a:lnSpc>
            </a:pPr>
            <a:r>
              <a:rPr lang="fr-FR" sz="2000" noProof="0" dirty="0"/>
              <a:t>I.e., croit linéairement en </a:t>
            </a:r>
            <a:r>
              <a:rPr lang="fr-FR" sz="2000" i="1" noProof="0" dirty="0"/>
              <a:t>n</a:t>
            </a:r>
            <a:r>
              <a:rPr lang="fr-FR" sz="2000" noProof="0" dirty="0"/>
              <a:t>, vs. </a:t>
            </a:r>
            <a:r>
              <a:rPr lang="fr-FR" sz="2000" i="1" noProof="0" dirty="0">
                <a:solidFill>
                  <a:schemeClr val="accent2"/>
                </a:solidFill>
              </a:rPr>
              <a:t>O(2</a:t>
            </a:r>
            <a:r>
              <a:rPr lang="fr-FR" sz="2000" i="1" baseline="30000" noProof="0" dirty="0">
                <a:solidFill>
                  <a:schemeClr val="accent2"/>
                </a:solidFill>
              </a:rPr>
              <a:t>n</a:t>
            </a:r>
            <a:r>
              <a:rPr lang="fr-FR" sz="2000" i="1" noProof="0" dirty="0">
                <a:solidFill>
                  <a:schemeClr val="accent2"/>
                </a:solidFill>
              </a:rPr>
              <a:t>)</a:t>
            </a:r>
            <a:r>
              <a:rPr lang="fr-FR" sz="2000" i="1" noProof="0" dirty="0"/>
              <a:t> pour la distribution conjointe complète</a:t>
            </a:r>
            <a:endParaRPr lang="fr-FR" sz="2000" noProof="0" dirty="0"/>
          </a:p>
          <a:p>
            <a:pPr>
              <a:lnSpc>
                <a:spcPct val="90000"/>
              </a:lnSpc>
            </a:pPr>
            <a:endParaRPr lang="fr-FR" sz="2000" noProof="0" dirty="0"/>
          </a:p>
          <a:p>
            <a:pPr>
              <a:lnSpc>
                <a:spcPct val="90000"/>
              </a:lnSpc>
            </a:pPr>
            <a:r>
              <a:rPr lang="fr-FR" sz="2000" noProof="0" dirty="0"/>
              <a:t>Pour le réseau </a:t>
            </a:r>
            <a:r>
              <a:rPr lang="fr-FR" sz="2000" noProof="0" dirty="0" err="1"/>
              <a:t>burglary</a:t>
            </a:r>
            <a:r>
              <a:rPr lang="fr-FR" sz="2000" noProof="0" dirty="0"/>
              <a:t>, 1 + 1 + 4 + 2 + 2 = 10 nombres (vs. 2</a:t>
            </a:r>
            <a:r>
              <a:rPr lang="fr-FR" sz="2000" baseline="30000" noProof="0" dirty="0"/>
              <a:t>5</a:t>
            </a:r>
            <a:r>
              <a:rPr lang="fr-FR" sz="2000" noProof="0" dirty="0"/>
              <a:t>-1 = 31)</a:t>
            </a:r>
          </a:p>
        </p:txBody>
      </p:sp>
      <p:pic>
        <p:nvPicPr>
          <p:cNvPr id="9220" name="Picture 4" descr="burglary-sm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981200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8BB075-81F8-47ED-B8FB-0E2E1A44C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714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Sémantiques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FontTx/>
              <a:buNone/>
            </a:pPr>
            <a:r>
              <a:rPr lang="fr-FR" sz="2400" noProof="0" dirty="0"/>
              <a:t>La distribution conjointe complète est définie par la produit des distributions conditionnelles locales:
</a:t>
            </a:r>
          </a:p>
          <a:p>
            <a:pPr>
              <a:buFontTx/>
              <a:buNone/>
            </a:pPr>
            <a:r>
              <a:rPr lang="fr-FR" sz="2400" b="1" noProof="0" dirty="0"/>
              <a:t>		</a:t>
            </a:r>
            <a:r>
              <a:rPr lang="fr-FR" sz="2400" b="1" i="1" noProof="0" dirty="0"/>
              <a:t>P </a:t>
            </a:r>
            <a:r>
              <a:rPr lang="fr-FR" sz="2400" i="1" noProof="0" dirty="0"/>
              <a:t>(X</a:t>
            </a:r>
            <a:r>
              <a:rPr lang="fr-FR" sz="2400" i="1" baseline="-25000" noProof="0" dirty="0"/>
              <a:t>1</a:t>
            </a:r>
            <a:r>
              <a:rPr lang="fr-FR" sz="2400" i="1" noProof="0" dirty="0"/>
              <a:t>, … ,X</a:t>
            </a:r>
            <a:r>
              <a:rPr lang="fr-FR" sz="2400" i="1" baseline="-25000" noProof="0" dirty="0"/>
              <a:t>n</a:t>
            </a:r>
            <a:r>
              <a:rPr lang="fr-FR" sz="2400" i="1" noProof="0" dirty="0"/>
              <a:t>) = </a:t>
            </a:r>
            <a:r>
              <a:rPr lang="fr-FR" sz="2400" i="1" noProof="0" dirty="0">
                <a:cs typeface="Arial" charset="0"/>
              </a:rPr>
              <a:t>π</a:t>
            </a:r>
            <a:r>
              <a:rPr lang="fr-FR" sz="2400" i="1" baseline="-25000" noProof="0" dirty="0"/>
              <a:t>i = 1</a:t>
            </a:r>
            <a:r>
              <a:rPr lang="fr-FR" sz="2400" i="1" noProof="0" dirty="0"/>
              <a:t>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 (X</a:t>
            </a:r>
            <a:r>
              <a:rPr lang="fr-FR" sz="2400" i="1" baseline="-25000" noProof="0" dirty="0"/>
              <a:t>i </a:t>
            </a:r>
            <a:r>
              <a:rPr lang="fr-FR" sz="2400" i="1" noProof="0" dirty="0"/>
              <a:t>| Parents(X</a:t>
            </a:r>
            <a:r>
              <a:rPr lang="fr-FR" sz="2400" i="1" baseline="-25000" noProof="0" dirty="0"/>
              <a:t>i</a:t>
            </a:r>
            <a:r>
              <a:rPr lang="fr-FR" sz="2400" i="1" noProof="0" dirty="0"/>
              <a:t>))
</a:t>
            </a:r>
          </a:p>
          <a:p>
            <a:pPr lvl="4"/>
            <a:endParaRPr lang="fr-FR" sz="1600" noProof="0" dirty="0"/>
          </a:p>
          <a:p>
            <a:pPr>
              <a:buFontTx/>
              <a:buNone/>
            </a:pPr>
            <a:r>
              <a:rPr lang="fr-FR" sz="2400" noProof="0" dirty="0"/>
              <a:t>e.g.,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(j </a:t>
            </a:r>
            <a:r>
              <a:rPr lang="fr-FR" sz="2400" i="1" noProof="0" dirty="0">
                <a:sym typeface="Symbol" pitchFamily="18" charset="2"/>
              </a:rPr>
              <a:t></a:t>
            </a:r>
            <a:r>
              <a:rPr lang="fr-FR" sz="2400" i="1" noProof="0" dirty="0"/>
              <a:t> m </a:t>
            </a:r>
            <a:r>
              <a:rPr lang="fr-FR" sz="2400" i="1" noProof="0" dirty="0">
                <a:sym typeface="Symbol" pitchFamily="18" charset="2"/>
              </a:rPr>
              <a:t></a:t>
            </a:r>
            <a:r>
              <a:rPr lang="fr-FR" sz="2400" i="1" noProof="0" dirty="0"/>
              <a:t> a </a:t>
            </a:r>
            <a:r>
              <a:rPr lang="fr-FR" sz="2400" i="1" noProof="0" dirty="0">
                <a:sym typeface="Symbol" pitchFamily="18" charset="2"/>
              </a:rPr>
              <a:t></a:t>
            </a:r>
            <a:r>
              <a:rPr lang="fr-FR" sz="2400" i="1" noProof="0" dirty="0"/>
              <a:t> </a:t>
            </a:r>
            <a:r>
              <a:rPr lang="fr-FR" sz="2400" i="1" noProof="0" dirty="0">
                <a:sym typeface="Symbol" pitchFamily="18" charset="2"/>
              </a:rPr>
              <a:t></a:t>
            </a:r>
            <a:r>
              <a:rPr lang="fr-FR" sz="2400" i="1" noProof="0" dirty="0"/>
              <a:t>b </a:t>
            </a:r>
            <a:r>
              <a:rPr lang="fr-FR" sz="2400" i="1" noProof="0" dirty="0">
                <a:sym typeface="Symbol" pitchFamily="18" charset="2"/>
              </a:rPr>
              <a:t></a:t>
            </a:r>
            <a:r>
              <a:rPr lang="fr-FR" sz="2400" i="1" noProof="0" dirty="0"/>
              <a:t> </a:t>
            </a:r>
            <a:r>
              <a:rPr lang="fr-FR" sz="2400" i="1" noProof="0" dirty="0">
                <a:sym typeface="Symbol" pitchFamily="18" charset="2"/>
              </a:rPr>
              <a:t></a:t>
            </a:r>
            <a:r>
              <a:rPr lang="fr-FR" sz="2400" i="1" noProof="0" dirty="0"/>
              <a:t>e)
</a:t>
            </a:r>
          </a:p>
          <a:p>
            <a:pPr>
              <a:buFontTx/>
              <a:buNone/>
            </a:pPr>
            <a:r>
              <a:rPr lang="fr-FR" sz="2400" i="1" noProof="0" dirty="0"/>
              <a:t>	= </a:t>
            </a:r>
            <a:r>
              <a:rPr lang="fr-FR" sz="2400" b="1" i="1" noProof="0" dirty="0"/>
              <a:t>P </a:t>
            </a:r>
            <a:r>
              <a:rPr lang="fr-FR" sz="2400" i="1" noProof="0" dirty="0"/>
              <a:t>(j | a) </a:t>
            </a:r>
            <a:r>
              <a:rPr lang="fr-FR" sz="2400" b="1" i="1" noProof="0" dirty="0"/>
              <a:t>P </a:t>
            </a:r>
            <a:r>
              <a:rPr lang="fr-FR" sz="2400" i="1" noProof="0" dirty="0"/>
              <a:t>(m | a) </a:t>
            </a:r>
            <a:r>
              <a:rPr lang="fr-FR" sz="2400" b="1" i="1" noProof="0" dirty="0"/>
              <a:t>P </a:t>
            </a:r>
            <a:r>
              <a:rPr lang="fr-FR" sz="2400" i="1" noProof="0" dirty="0"/>
              <a:t>(a | </a:t>
            </a:r>
            <a:r>
              <a:rPr lang="fr-FR" sz="2400" i="1" noProof="0" dirty="0">
                <a:sym typeface="Symbol" pitchFamily="18" charset="2"/>
              </a:rPr>
              <a:t></a:t>
            </a:r>
            <a:r>
              <a:rPr lang="fr-FR" sz="2400" i="1" noProof="0" dirty="0"/>
              <a:t>b, </a:t>
            </a:r>
            <a:r>
              <a:rPr lang="fr-FR" sz="2400" i="1" noProof="0" dirty="0">
                <a:sym typeface="Symbol" pitchFamily="18" charset="2"/>
              </a:rPr>
              <a:t></a:t>
            </a:r>
            <a:r>
              <a:rPr lang="fr-FR" sz="2400" i="1" noProof="0" dirty="0"/>
              <a:t>e) </a:t>
            </a:r>
            <a:r>
              <a:rPr lang="fr-FR" sz="2400" b="1" i="1" noProof="0" dirty="0"/>
              <a:t>P </a:t>
            </a:r>
            <a:r>
              <a:rPr lang="fr-FR" sz="2400" i="1" noProof="0" dirty="0"/>
              <a:t>(</a:t>
            </a:r>
            <a:r>
              <a:rPr lang="fr-FR" sz="2400" i="1" noProof="0" dirty="0">
                <a:sym typeface="Symbol" pitchFamily="18" charset="2"/>
              </a:rPr>
              <a:t></a:t>
            </a:r>
            <a:r>
              <a:rPr lang="fr-FR" sz="2400" i="1" noProof="0" dirty="0"/>
              <a:t>b) </a:t>
            </a:r>
            <a:r>
              <a:rPr lang="fr-FR" sz="2400" b="1" i="1" noProof="0" dirty="0"/>
              <a:t>P </a:t>
            </a:r>
            <a:r>
              <a:rPr lang="fr-FR" sz="2400" i="1" noProof="0" dirty="0"/>
              <a:t>(</a:t>
            </a:r>
            <a:r>
              <a:rPr lang="fr-FR" sz="2400" i="1" noProof="0" dirty="0">
                <a:sym typeface="Symbol" pitchFamily="18" charset="2"/>
              </a:rPr>
              <a:t></a:t>
            </a:r>
            <a:r>
              <a:rPr lang="fr-FR" sz="2400" i="1" noProof="0" dirty="0"/>
              <a:t>e)
</a:t>
            </a:r>
          </a:p>
          <a:p>
            <a:pPr>
              <a:buFontTx/>
              <a:buNone/>
            </a:pPr>
            <a:r>
              <a:rPr lang="fr-FR" sz="2400" noProof="0" dirty="0"/>
              <a:t>
</a:t>
            </a:r>
          </a:p>
        </p:txBody>
      </p:sp>
      <p:pic>
        <p:nvPicPr>
          <p:cNvPr id="10244" name="Picture 4" descr="burglary-sm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09800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3527425" y="2743200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n</a:t>
            </a: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D3AA9194-F5B3-43B0-B0A2-5F61E192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25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Construction de réseaux Bayésiens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fr-FR" sz="2400" noProof="0" dirty="0"/>
              <a:t>1. On choisit un ordre de variables </a:t>
            </a:r>
            <a:r>
              <a:rPr lang="fr-FR" sz="2400" i="1" noProof="0" dirty="0"/>
              <a:t>X</a:t>
            </a:r>
            <a:r>
              <a:rPr lang="fr-FR" sz="2400" i="1" baseline="-25000" noProof="0" dirty="0"/>
              <a:t>1</a:t>
            </a:r>
            <a:r>
              <a:rPr lang="fr-FR" sz="2400" noProof="0" dirty="0"/>
              <a:t>, … ,</a:t>
            </a:r>
            <a:r>
              <a:rPr lang="fr-FR" sz="2400" i="1" noProof="0" dirty="0"/>
              <a:t>X</a:t>
            </a:r>
            <a:r>
              <a:rPr lang="fr-FR" sz="2400" i="1" baseline="-25000" noProof="0" dirty="0"/>
              <a:t>n</a:t>
            </a:r>
            <a:endParaRPr lang="fr-FR" sz="2400" noProof="0" dirty="0"/>
          </a:p>
          <a:p>
            <a:pPr>
              <a:lnSpc>
                <a:spcPct val="90000"/>
              </a:lnSpc>
            </a:pPr>
            <a:r>
              <a:rPr lang="fr-FR" sz="2400" noProof="0" dirty="0"/>
              <a:t>2. De </a:t>
            </a:r>
            <a:r>
              <a:rPr lang="fr-FR" sz="2400" i="1" noProof="0" dirty="0"/>
              <a:t>i</a:t>
            </a:r>
            <a:r>
              <a:rPr lang="fr-FR" sz="2400" noProof="0" dirty="0"/>
              <a:t> = 1 à </a:t>
            </a:r>
            <a:r>
              <a:rPr lang="fr-FR" sz="2400" i="1" noProof="0" dirty="0"/>
              <a:t>n</a:t>
            </a:r>
            <a:endParaRPr lang="fr-FR" sz="2400" noProof="0" dirty="0"/>
          </a:p>
          <a:p>
            <a:pPr lvl="1">
              <a:lnSpc>
                <a:spcPct val="90000"/>
              </a:lnSpc>
            </a:pPr>
            <a:r>
              <a:rPr lang="fr-FR" sz="2000" noProof="0" dirty="0"/>
              <a:t>On ajoute </a:t>
            </a:r>
            <a:r>
              <a:rPr lang="fr-FR" sz="2000" i="1" noProof="0" dirty="0"/>
              <a:t>X</a:t>
            </a:r>
            <a:r>
              <a:rPr lang="fr-FR" sz="2000" i="1" baseline="-25000" noProof="0" dirty="0"/>
              <a:t>i</a:t>
            </a:r>
            <a:r>
              <a:rPr lang="fr-FR" sz="2000" noProof="0" dirty="0"/>
              <a:t> au réseau</a:t>
            </a:r>
          </a:p>
          <a:p>
            <a:pPr lvl="1">
              <a:lnSpc>
                <a:spcPct val="90000"/>
              </a:lnSpc>
            </a:pPr>
            <a:r>
              <a:rPr lang="fr-FR" sz="2000" noProof="0" dirty="0"/>
              <a:t>On sélectionne les parents de </a:t>
            </a:r>
            <a:r>
              <a:rPr lang="fr-FR" sz="2000" i="1" noProof="0" dirty="0"/>
              <a:t>X</a:t>
            </a:r>
            <a:r>
              <a:rPr lang="fr-FR" sz="2000" i="1" baseline="-25000" noProof="0" dirty="0"/>
              <a:t>1</a:t>
            </a:r>
            <a:r>
              <a:rPr lang="fr-FR" sz="2000" i="1" noProof="0" dirty="0"/>
              <a:t>, … ,X</a:t>
            </a:r>
            <a:r>
              <a:rPr lang="fr-FR" sz="2000" i="1" baseline="-25000" noProof="0" dirty="0"/>
              <a:t>i-1</a:t>
            </a:r>
            <a:r>
              <a:rPr lang="fr-FR" sz="2000" noProof="0" dirty="0"/>
              <a:t> tells que</a:t>
            </a:r>
          </a:p>
          <a:p>
            <a:pPr lvl="1" algn="ctr">
              <a:lnSpc>
                <a:spcPct val="90000"/>
              </a:lnSpc>
              <a:buFontTx/>
              <a:buNone/>
            </a:pPr>
            <a:r>
              <a:rPr lang="fr-FR" sz="2000" noProof="0" dirty="0"/>
              <a:t>	</a:t>
            </a:r>
            <a:r>
              <a:rPr lang="fr-FR" sz="2000" b="1" i="1" noProof="0" dirty="0"/>
              <a:t>P</a:t>
            </a:r>
            <a:r>
              <a:rPr lang="fr-FR" sz="2000" i="1" noProof="0" dirty="0"/>
              <a:t> (X</a:t>
            </a:r>
            <a:r>
              <a:rPr lang="fr-FR" sz="2000" i="1" baseline="-25000" noProof="0" dirty="0"/>
              <a:t>i</a:t>
            </a:r>
            <a:r>
              <a:rPr lang="fr-FR" sz="2000" i="1" noProof="0" dirty="0"/>
              <a:t> | Parents(X</a:t>
            </a:r>
            <a:r>
              <a:rPr lang="fr-FR" sz="2000" i="1" baseline="-25000" noProof="0" dirty="0"/>
              <a:t>i</a:t>
            </a:r>
            <a:r>
              <a:rPr lang="fr-FR" sz="2000" i="1" noProof="0" dirty="0"/>
              <a:t>)) = </a:t>
            </a:r>
            <a:r>
              <a:rPr lang="fr-FR" sz="2000" b="1" i="1" noProof="0" dirty="0"/>
              <a:t>P</a:t>
            </a:r>
            <a:r>
              <a:rPr lang="fr-FR" sz="2000" i="1" noProof="0" dirty="0"/>
              <a:t> (X</a:t>
            </a:r>
            <a:r>
              <a:rPr lang="fr-FR" sz="2000" i="1" baseline="-25000" noProof="0" dirty="0"/>
              <a:t>i</a:t>
            </a:r>
            <a:r>
              <a:rPr lang="fr-FR" sz="2000" i="1" noProof="0" dirty="0"/>
              <a:t> | X</a:t>
            </a:r>
            <a:r>
              <a:rPr lang="fr-FR" sz="2000" i="1" baseline="-25000" noProof="0" dirty="0"/>
              <a:t>1</a:t>
            </a:r>
            <a:r>
              <a:rPr lang="fr-FR" sz="2000" i="1" noProof="0" dirty="0"/>
              <a:t>, ... X</a:t>
            </a:r>
            <a:r>
              <a:rPr lang="fr-FR" sz="2000" i="1" baseline="-25000" noProof="0" dirty="0"/>
              <a:t>i-1</a:t>
            </a:r>
            <a:r>
              <a:rPr lang="fr-FR" sz="2000" i="1" noProof="0" dirty="0"/>
              <a:t>)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fr-FR" sz="2000" i="1" noProof="0" dirty="0"/>
          </a:p>
          <a:p>
            <a:pPr>
              <a:lnSpc>
                <a:spcPct val="90000"/>
              </a:lnSpc>
              <a:buFontTx/>
              <a:buNone/>
            </a:pPr>
            <a:r>
              <a:rPr lang="fr-FR" sz="2400" noProof="0" dirty="0"/>
              <a:t>Ce choix de parents garantit:
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 (X</a:t>
            </a:r>
            <a:r>
              <a:rPr lang="fr-FR" sz="2400" i="1" baseline="-25000" noProof="0" dirty="0"/>
              <a:t>1</a:t>
            </a:r>
            <a:r>
              <a:rPr lang="fr-FR" sz="2400" i="1" noProof="0" dirty="0"/>
              <a:t>, … ,X</a:t>
            </a:r>
            <a:r>
              <a:rPr lang="fr-FR" sz="2400" i="1" baseline="-25000" noProof="0" dirty="0"/>
              <a:t>n</a:t>
            </a:r>
            <a:r>
              <a:rPr lang="fr-FR" sz="2400" i="1" noProof="0" dirty="0"/>
              <a:t>) 	= </a:t>
            </a:r>
            <a:r>
              <a:rPr lang="fr-FR" sz="2400" i="1" noProof="0" dirty="0">
                <a:cs typeface="Arial" charset="0"/>
              </a:rPr>
              <a:t>π</a:t>
            </a:r>
            <a:r>
              <a:rPr lang="fr-FR" sz="2400" i="1" baseline="-25000" noProof="0" dirty="0"/>
              <a:t>i =1</a:t>
            </a:r>
            <a:r>
              <a:rPr lang="fr-FR" sz="2400" i="1" noProof="0" dirty="0"/>
              <a:t>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 (X</a:t>
            </a:r>
            <a:r>
              <a:rPr lang="fr-FR" sz="2400" i="1" baseline="-25000" noProof="0" dirty="0"/>
              <a:t>i</a:t>
            </a:r>
            <a:r>
              <a:rPr lang="fr-FR" sz="2400" i="1" noProof="0" dirty="0"/>
              <a:t> | X</a:t>
            </a:r>
            <a:r>
              <a:rPr lang="fr-FR" sz="2400" i="1" baseline="-25000" noProof="0" dirty="0"/>
              <a:t>1</a:t>
            </a:r>
            <a:r>
              <a:rPr lang="fr-FR" sz="2400" i="1" noProof="0" dirty="0"/>
              <a:t>, … , X</a:t>
            </a:r>
            <a:r>
              <a:rPr lang="fr-FR" sz="2400" i="1" baseline="-25000" noProof="0" dirty="0"/>
              <a:t>i-1</a:t>
            </a:r>
            <a:r>
              <a:rPr lang="fr-FR" sz="2400" i="1" noProof="0" dirty="0"/>
              <a:t>)</a:t>
            </a:r>
            <a:r>
              <a:rPr lang="fr-FR" sz="2400" noProof="0" dirty="0"/>
              <a:t>
(règle de chaine)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FR" sz="2400" baseline="-25000" noProof="0" dirty="0"/>
              <a:t>			</a:t>
            </a:r>
            <a:r>
              <a:rPr lang="fr-FR" sz="2400" i="1" noProof="0" dirty="0"/>
              <a:t>= </a:t>
            </a:r>
            <a:r>
              <a:rPr lang="fr-FR" sz="2400" i="1" noProof="0" dirty="0">
                <a:cs typeface="Arial" charset="0"/>
              </a:rPr>
              <a:t>π</a:t>
            </a:r>
            <a:r>
              <a:rPr lang="fr-FR" sz="2400" i="1" baseline="-25000" noProof="0" dirty="0"/>
              <a:t>i =1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 (X</a:t>
            </a:r>
            <a:r>
              <a:rPr lang="fr-FR" sz="2400" i="1" baseline="-25000" noProof="0" dirty="0"/>
              <a:t>i </a:t>
            </a:r>
            <a:r>
              <a:rPr lang="fr-FR" sz="2400" i="1" noProof="0" dirty="0"/>
              <a:t>| Parents(X</a:t>
            </a:r>
            <a:r>
              <a:rPr lang="fr-FR" sz="2400" i="1" baseline="-25000" noProof="0" dirty="0"/>
              <a:t>i</a:t>
            </a:r>
            <a:r>
              <a:rPr lang="fr-FR" sz="2400" i="1" noProof="0" dirty="0"/>
              <a:t>))</a:t>
            </a:r>
            <a:r>
              <a:rPr lang="fr-FR" sz="2400" noProof="0" dirty="0"/>
              <a:t>
(par construction)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618927" y="52578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 i="1" dirty="0"/>
              <a:t>n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667000" y="44196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 i="1" dirty="0"/>
              <a:t>n</a:t>
            </a: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99B580E3-F54B-4298-A729-7FD1FAB4B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713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Exemple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noProof="0" dirty="0"/>
              <a:t>Supposons qu’on choisisse l’ordre </a:t>
            </a:r>
            <a:r>
              <a:rPr lang="fr-FR" sz="2400" i="1" noProof="0" dirty="0"/>
              <a:t>M, J, A, B, E</a:t>
            </a:r>
          </a:p>
          <a:p>
            <a:endParaRPr lang="fr-FR" sz="2400" i="1" noProof="0" dirty="0"/>
          </a:p>
          <a:p>
            <a:endParaRPr lang="fr-FR" sz="2400" noProof="0" dirty="0"/>
          </a:p>
          <a:p>
            <a:endParaRPr lang="fr-FR" sz="2400" noProof="0" dirty="0"/>
          </a:p>
          <a:p>
            <a:endParaRPr lang="fr-FR" sz="2400" noProof="0" dirty="0"/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(J |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(J)?
</a:t>
            </a:r>
          </a:p>
          <a:p>
            <a:endParaRPr lang="fr-FR" sz="2400" i="1" noProof="0" dirty="0"/>
          </a:p>
        </p:txBody>
      </p:sp>
      <p:pic>
        <p:nvPicPr>
          <p:cNvPr id="20486" name="Picture 6" descr="burglary-make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133600"/>
            <a:ext cx="2438400" cy="21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C7C5DA-966C-4437-8568-1E8582CC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70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Exemple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noProof="0" dirty="0"/>
              <a:t>Supposons qu’on choisisse l’ordre </a:t>
            </a:r>
            <a:r>
              <a:rPr lang="fr-FR" sz="2400" i="1" noProof="0" dirty="0"/>
              <a:t>M, J, A, B, E</a:t>
            </a:r>
            <a:endParaRPr lang="fr-FR" sz="2400" noProof="0" dirty="0"/>
          </a:p>
          <a:p>
            <a:endParaRPr lang="fr-FR" sz="2400" noProof="0" dirty="0"/>
          </a:p>
          <a:p>
            <a:endParaRPr lang="fr-FR" sz="2400" noProof="0" dirty="0"/>
          </a:p>
          <a:p>
            <a:endParaRPr lang="fr-FR" sz="2400" noProof="0" dirty="0"/>
          </a:p>
          <a:p>
            <a:endParaRPr lang="fr-FR" sz="2400" noProof="0" dirty="0"/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(J |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(J)? </a:t>
            </a:r>
          </a:p>
          <a:p>
            <a:pPr>
              <a:buFontTx/>
              <a:buNone/>
            </a:pPr>
            <a:r>
              <a:rPr lang="fr-FR" sz="2400" b="1" noProof="0" dirty="0"/>
              <a:t>Non</a:t>
            </a:r>
            <a:endParaRPr lang="fr-FR" sz="2400" b="1" i="1" noProof="0" dirty="0"/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(A |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 | J)</a:t>
            </a:r>
            <a:r>
              <a:rPr lang="fr-FR" sz="2400" noProof="0" dirty="0"/>
              <a:t>?</a:t>
            </a:r>
            <a:r>
              <a:rPr lang="fr-FR" sz="2400" i="1" noProof="0" dirty="0"/>
              <a:t>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 |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(A)</a:t>
            </a:r>
            <a:r>
              <a:rPr lang="fr-FR" sz="2400" noProof="0" dirty="0"/>
              <a:t>?</a:t>
            </a:r>
            <a:endParaRPr lang="fr-FR" noProof="0" dirty="0"/>
          </a:p>
          <a:p>
            <a:pPr>
              <a:buFontTx/>
              <a:buNone/>
            </a:pPr>
            <a:endParaRPr lang="fr-FR" sz="2400" i="1" noProof="0" dirty="0"/>
          </a:p>
          <a:p>
            <a:endParaRPr lang="fr-FR" sz="2400" i="1" noProof="0" dirty="0"/>
          </a:p>
        </p:txBody>
      </p:sp>
      <p:pic>
        <p:nvPicPr>
          <p:cNvPr id="12294" name="Picture 6" descr="burglary-make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057400"/>
            <a:ext cx="2438400" cy="21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B62353-CF9B-4986-8225-E9153FA40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510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Exemple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400" noProof="0" dirty="0"/>
              <a:t>Supposons qu’on choisisse l’ordre </a:t>
            </a:r>
            <a:r>
              <a:rPr lang="fr-FR" sz="2400" i="1" noProof="0" dirty="0"/>
              <a:t>M, J, A, B, E</a:t>
            </a:r>
          </a:p>
          <a:p>
            <a:endParaRPr lang="fr-FR" sz="2400" i="1" noProof="0" dirty="0"/>
          </a:p>
          <a:p>
            <a:endParaRPr lang="fr-FR" sz="2400" noProof="0" dirty="0"/>
          </a:p>
          <a:p>
            <a:endParaRPr lang="fr-FR" sz="2400" noProof="0" dirty="0"/>
          </a:p>
          <a:p>
            <a:endParaRPr lang="fr-FR" sz="2400" noProof="0" dirty="0"/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(J |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(J)?
</a:t>
            </a:r>
            <a:r>
              <a:rPr lang="fr-FR" sz="2400" b="1" noProof="0" dirty="0"/>
              <a:t>Non</a:t>
            </a:r>
            <a:endParaRPr lang="fr-FR" sz="2400" b="1" i="1" noProof="0" dirty="0"/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(A |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 | J)</a:t>
            </a:r>
            <a:r>
              <a:rPr lang="fr-FR" sz="2400" noProof="0" dirty="0"/>
              <a:t>?</a:t>
            </a:r>
            <a:r>
              <a:rPr lang="fr-FR" sz="2400" i="1" noProof="0" dirty="0"/>
              <a:t>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 |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(A)</a:t>
            </a:r>
            <a:r>
              <a:rPr lang="fr-FR" sz="2400" noProof="0" dirty="0"/>
              <a:t>? </a:t>
            </a:r>
            <a:r>
              <a:rPr lang="fr-FR" sz="2400" b="1" noProof="0" dirty="0"/>
              <a:t>Non</a:t>
            </a:r>
            <a:endParaRPr lang="fr-FR" noProof="0" dirty="0"/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(B | A,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(B | A)</a:t>
            </a:r>
            <a:r>
              <a:rPr lang="fr-FR" sz="2400" noProof="0" dirty="0"/>
              <a:t>? </a:t>
            </a:r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(B | A,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(B)</a:t>
            </a:r>
            <a:r>
              <a:rPr lang="fr-FR" sz="2400" noProof="0" dirty="0"/>
              <a:t>?</a:t>
            </a:r>
            <a:endParaRPr lang="fr-FR" sz="2400" i="1" noProof="0" dirty="0"/>
          </a:p>
        </p:txBody>
      </p:sp>
      <p:pic>
        <p:nvPicPr>
          <p:cNvPr id="17414" name="Picture 6" descr="burglary-make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133600"/>
            <a:ext cx="2438400" cy="21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2C2E02-28EE-47B4-8777-AFB9492D4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3456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Exemple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2400" noProof="0" dirty="0"/>
              <a:t>Supposons qu’on choisisse l’ordre M, J, A, B, E</a:t>
            </a:r>
          </a:p>
          <a:p>
            <a:endParaRPr lang="fr-FR" sz="2400" noProof="0" dirty="0"/>
          </a:p>
          <a:p>
            <a:pPr marL="0" indent="0">
              <a:buNone/>
            </a:pPr>
            <a:endParaRPr lang="fr-FR" sz="2400" noProof="0" dirty="0"/>
          </a:p>
          <a:p>
            <a:endParaRPr lang="fr-FR" sz="2400" noProof="0" dirty="0"/>
          </a:p>
          <a:p>
            <a:endParaRPr lang="fr-FR" sz="2400" noProof="0" dirty="0"/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(J |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(J)?
</a:t>
            </a:r>
            <a:r>
              <a:rPr lang="fr-FR" sz="2400" b="1" noProof="0" dirty="0"/>
              <a:t>No</a:t>
            </a:r>
            <a:endParaRPr lang="fr-FR" sz="2400" b="1" i="1" noProof="0" dirty="0"/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(A |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 | J)</a:t>
            </a:r>
            <a:r>
              <a:rPr lang="fr-FR" sz="2400" noProof="0" dirty="0"/>
              <a:t>?</a:t>
            </a:r>
            <a:r>
              <a:rPr lang="fr-FR" sz="2400" i="1" noProof="0" dirty="0"/>
              <a:t>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 |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(A)</a:t>
            </a:r>
            <a:r>
              <a:rPr lang="fr-FR" sz="2400" noProof="0" dirty="0"/>
              <a:t>? </a:t>
            </a:r>
            <a:r>
              <a:rPr lang="fr-FR" sz="2400" b="1" noProof="0" dirty="0"/>
              <a:t>No</a:t>
            </a:r>
            <a:endParaRPr lang="fr-FR" noProof="0" dirty="0"/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(B | A,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(B | A)</a:t>
            </a:r>
            <a:r>
              <a:rPr lang="fr-FR" sz="2400" noProof="0" dirty="0"/>
              <a:t>? </a:t>
            </a:r>
            <a:r>
              <a:rPr lang="fr-FR" sz="2400" b="1" noProof="0" dirty="0"/>
              <a:t>Yes</a:t>
            </a:r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(B | A,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(B)</a:t>
            </a:r>
            <a:r>
              <a:rPr lang="fr-FR" sz="2400" noProof="0" dirty="0"/>
              <a:t>? </a:t>
            </a:r>
            <a:r>
              <a:rPr lang="fr-FR" sz="2400" b="1" noProof="0" dirty="0"/>
              <a:t>No</a:t>
            </a:r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(E | B, A ,J,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(E | A)</a:t>
            </a:r>
            <a:r>
              <a:rPr lang="fr-FR" sz="2400" noProof="0" dirty="0"/>
              <a:t>?</a:t>
            </a:r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(E | B, A,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(E | A, B)</a:t>
            </a:r>
            <a:r>
              <a:rPr lang="fr-FR" sz="2400" noProof="0" dirty="0"/>
              <a:t>?</a:t>
            </a:r>
            <a:endParaRPr lang="fr-FR" noProof="0" dirty="0"/>
          </a:p>
        </p:txBody>
      </p:sp>
      <p:pic>
        <p:nvPicPr>
          <p:cNvPr id="18438" name="Picture 6" descr="burglary-make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905000"/>
            <a:ext cx="2438400" cy="21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5B49650-0A58-429A-B18A-5D8010A4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871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Exemple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2400" noProof="0" dirty="0"/>
              <a:t>Supposons que nous choisissons l’ordre M, J, A, B, E</a:t>
            </a:r>
          </a:p>
          <a:p>
            <a:endParaRPr lang="fr-FR" sz="2400" noProof="0" dirty="0"/>
          </a:p>
          <a:p>
            <a:endParaRPr lang="fr-FR" sz="2400" noProof="0" dirty="0"/>
          </a:p>
          <a:p>
            <a:endParaRPr lang="fr-FR" sz="2400" noProof="0" dirty="0"/>
          </a:p>
          <a:p>
            <a:endParaRPr lang="fr-FR" sz="2400" noProof="0" dirty="0"/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(J |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(J)?
</a:t>
            </a:r>
            <a:r>
              <a:rPr lang="fr-FR" sz="2400" b="1" noProof="0" dirty="0"/>
              <a:t>No</a:t>
            </a:r>
            <a:r>
              <a:rPr lang="fr-FR" sz="2400" b="1" i="1" noProof="0" dirty="0"/>
              <a:t> </a:t>
            </a:r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(A |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 | J)</a:t>
            </a:r>
            <a:r>
              <a:rPr lang="fr-FR" sz="2400" noProof="0" dirty="0"/>
              <a:t>?</a:t>
            </a:r>
            <a:r>
              <a:rPr lang="fr-FR" sz="2400" i="1" noProof="0" dirty="0"/>
              <a:t>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 |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(A)</a:t>
            </a:r>
            <a:r>
              <a:rPr lang="fr-FR" sz="2400" noProof="0" dirty="0"/>
              <a:t>? </a:t>
            </a:r>
            <a:r>
              <a:rPr lang="fr-FR" sz="2400" b="1" noProof="0" dirty="0"/>
              <a:t>No</a:t>
            </a:r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(B | A,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(B | A)</a:t>
            </a:r>
            <a:r>
              <a:rPr lang="fr-FR" sz="2400" noProof="0" dirty="0"/>
              <a:t>? </a:t>
            </a:r>
            <a:r>
              <a:rPr lang="fr-FR" sz="2400" b="1" noProof="0" dirty="0"/>
              <a:t>Yes</a:t>
            </a:r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(B | A,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(B)</a:t>
            </a:r>
            <a:r>
              <a:rPr lang="fr-FR" sz="2400" noProof="0" dirty="0"/>
              <a:t>? </a:t>
            </a:r>
            <a:r>
              <a:rPr lang="fr-FR" sz="2400" b="1" noProof="0" dirty="0"/>
              <a:t>No</a:t>
            </a:r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(E | B, A ,J,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(E | A)</a:t>
            </a:r>
            <a:r>
              <a:rPr lang="fr-FR" sz="2400" noProof="0" dirty="0"/>
              <a:t>? </a:t>
            </a:r>
            <a:r>
              <a:rPr lang="fr-FR" sz="2400" b="1" noProof="0" dirty="0"/>
              <a:t>No</a:t>
            </a:r>
          </a:p>
          <a:p>
            <a:pPr>
              <a:buFontTx/>
              <a:buNone/>
            </a:pPr>
            <a:r>
              <a:rPr lang="fr-FR" sz="2400" b="1" i="1" noProof="0" dirty="0"/>
              <a:t>P</a:t>
            </a:r>
            <a:r>
              <a:rPr lang="fr-FR" sz="2400" i="1" noProof="0" dirty="0"/>
              <a:t>(E | B, A, J, M) = </a:t>
            </a:r>
            <a:r>
              <a:rPr lang="fr-FR" sz="2400" b="1" i="1" noProof="0" dirty="0"/>
              <a:t>P</a:t>
            </a:r>
            <a:r>
              <a:rPr lang="fr-FR" sz="2400" i="1" noProof="0" dirty="0"/>
              <a:t>(E | A, B)</a:t>
            </a:r>
            <a:r>
              <a:rPr lang="fr-FR" sz="2400" noProof="0" dirty="0"/>
              <a:t>? </a:t>
            </a:r>
            <a:r>
              <a:rPr lang="fr-FR" sz="2400" b="1" noProof="0" dirty="0"/>
              <a:t>Yes</a:t>
            </a:r>
            <a:endParaRPr lang="fr-FR" sz="2400" i="1" noProof="0" dirty="0"/>
          </a:p>
        </p:txBody>
      </p:sp>
      <p:pic>
        <p:nvPicPr>
          <p:cNvPr id="19462" name="Picture 6" descr="burglary-make5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905000"/>
            <a:ext cx="2438400" cy="21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D31012-5839-496C-BB98-51643E27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058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Example </a:t>
            </a:r>
            <a:r>
              <a:rPr lang="fr-FR" noProof="0" dirty="0" err="1"/>
              <a:t>contd</a:t>
            </a:r>
            <a:r>
              <a:rPr lang="fr-FR" noProof="0" dirty="0"/>
              <a:t>.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endParaRPr lang="fr-FR" sz="2000" noProof="0" dirty="0"/>
          </a:p>
          <a:p>
            <a:endParaRPr lang="fr-FR" sz="2000" noProof="0" dirty="0"/>
          </a:p>
          <a:p>
            <a:endParaRPr lang="fr-FR" sz="2000" noProof="0" dirty="0"/>
          </a:p>
          <a:p>
            <a:endParaRPr lang="fr-FR" sz="2000" noProof="0" dirty="0"/>
          </a:p>
          <a:p>
            <a:endParaRPr lang="fr-FR" sz="2000" noProof="0" dirty="0"/>
          </a:p>
          <a:p>
            <a:endParaRPr lang="fr-FR" sz="2000" noProof="0" dirty="0"/>
          </a:p>
          <a:p>
            <a:endParaRPr lang="fr-FR" sz="2000" noProof="0" dirty="0"/>
          </a:p>
          <a:p>
            <a:endParaRPr lang="fr-FR" sz="2000" noProof="0" dirty="0"/>
          </a:p>
          <a:p>
            <a:r>
              <a:rPr lang="fr-FR" sz="2000" noProof="0" dirty="0"/>
              <a:t>Décider de l’indépendance conditionnelle est difficile dans les directions non causales</a:t>
            </a:r>
          </a:p>
          <a:p>
            <a:r>
              <a:rPr lang="fr-FR" sz="2000" noProof="0" dirty="0"/>
              <a:t>(Les modèles causaux et d’indépendance conditionnelle semble </a:t>
            </a:r>
            <a:r>
              <a:rPr lang="fr-FR" sz="2000" noProof="0" dirty="0" err="1"/>
              <a:t>cablés</a:t>
            </a:r>
            <a:r>
              <a:rPr lang="fr-FR" sz="2000" noProof="0" dirty="0"/>
              <a:t> pour les humains!)</a:t>
            </a:r>
          </a:p>
          <a:p>
            <a:r>
              <a:rPr lang="fr-FR" sz="2000" noProof="0" dirty="0"/>
              <a:t>Le réseau est moins compacte : 1 + 2 + 4 + 2 + 4 = 13 nombres nécessaires</a:t>
            </a:r>
          </a:p>
        </p:txBody>
      </p:sp>
      <p:pic>
        <p:nvPicPr>
          <p:cNvPr id="16389" name="Picture 5" descr="burglary-make5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752600"/>
            <a:ext cx="27432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6F2CD6-4718-425A-BC11-C9CF8D2A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633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8A317F-2635-46D1-A128-C068E59E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Représentation efficace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0CCE79-EF16-4935-9759-12CC81A302B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949953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Relations d’</a:t>
            </a:r>
            <a:r>
              <a:rPr lang="fr-FR" b="1" dirty="0"/>
              <a:t>indépendance conditionnelle</a:t>
            </a:r>
          </a:p>
          <a:p>
            <a:pPr lvl="1"/>
            <a:r>
              <a:rPr lang="fr-FR" dirty="0"/>
              <a:t>Indépendante conditionnelle aux non-descendants, étant donné les parents (a)</a:t>
            </a:r>
          </a:p>
          <a:p>
            <a:pPr lvl="1"/>
            <a:r>
              <a:rPr lang="fr-FR" b="1" dirty="0"/>
              <a:t>Couverture de Markov</a:t>
            </a:r>
            <a:r>
              <a:rPr lang="fr-FR" dirty="0"/>
              <a:t>: Indépendance au reste du réseau (b)</a:t>
            </a:r>
          </a:p>
          <a:p>
            <a:pPr lvl="2"/>
            <a:r>
              <a:rPr lang="fr-FR" dirty="0"/>
              <a:t>Etant données parents, enfants et parents des enfants</a:t>
            </a:r>
          </a:p>
          <a:p>
            <a:r>
              <a:rPr lang="fr-FR" b="1" dirty="0"/>
              <a:t>Distribution canonique</a:t>
            </a:r>
          </a:p>
          <a:p>
            <a:pPr lvl="1"/>
            <a:r>
              <a:rPr lang="fr-FR" dirty="0"/>
              <a:t>Tables de probabilités conditionnelles fastidieux</a:t>
            </a:r>
          </a:p>
          <a:p>
            <a:pPr lvl="2"/>
            <a:r>
              <a:rPr lang="fr-FR" dirty="0"/>
              <a:t>O(2^k) nombres dans le cas pessimiste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 Schéma standard plus simple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Ex simple: Nœuds </a:t>
            </a:r>
            <a:r>
              <a:rPr lang="fr-FR" b="1" dirty="0">
                <a:sym typeface="Wingdings" panose="05000000000000000000" pitchFamily="2" charset="2"/>
              </a:rPr>
              <a:t>déterministes</a:t>
            </a:r>
            <a:r>
              <a:rPr lang="fr-FR" dirty="0">
                <a:sym typeface="Wingdings" panose="05000000000000000000" pitchFamily="2" charset="2"/>
              </a:rPr>
              <a:t>: Enfants spécifiés par parents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Ex: Canadien vs US &amp; Mexico  Nord Américain (disjonction)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Ex: Concessionnaires  Meilleur prix (Min)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Ex: débits entrant et sortant  Niveau d’un lac (différence)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Relation « </a:t>
            </a:r>
            <a:r>
              <a:rPr lang="fr-FR" b="1" dirty="0">
                <a:sym typeface="Wingdings" panose="05000000000000000000" pitchFamily="2" charset="2"/>
              </a:rPr>
              <a:t>OU-bruité</a:t>
            </a:r>
            <a:r>
              <a:rPr lang="fr-FR" dirty="0">
                <a:sym typeface="Wingdings" panose="05000000000000000000" pitchFamily="2" charset="2"/>
              </a:rPr>
              <a:t> »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+</a:t>
            </a:r>
            <a:r>
              <a:rPr lang="fr-FR" b="1" dirty="0">
                <a:sym typeface="Wingdings" panose="05000000000000000000" pitchFamily="2" charset="2"/>
              </a:rPr>
              <a:t>Incertitude causale</a:t>
            </a:r>
            <a:r>
              <a:rPr lang="fr-FR" dirty="0">
                <a:sym typeface="Wingdings" panose="05000000000000000000" pitchFamily="2" charset="2"/>
              </a:rPr>
              <a:t> Parents/Enfants  Relation </a:t>
            </a:r>
            <a:r>
              <a:rPr lang="fr-FR" b="1" dirty="0">
                <a:sym typeface="Wingdings" panose="05000000000000000000" pitchFamily="2" charset="2"/>
              </a:rPr>
              <a:t>inhibée</a:t>
            </a:r>
            <a:r>
              <a:rPr lang="fr-FR" dirty="0">
                <a:sym typeface="Wingdings" panose="05000000000000000000" pitchFamily="2" charset="2"/>
              </a:rPr>
              <a:t> par un </a:t>
            </a:r>
            <a:r>
              <a:rPr lang="fr-FR" b="1" dirty="0">
                <a:sym typeface="Wingdings" panose="05000000000000000000" pitchFamily="2" charset="2"/>
              </a:rPr>
              <a:t>bruit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Couverture des clauses de la disjonction  ajout d’un </a:t>
            </a:r>
            <a:r>
              <a:rPr lang="fr-FR" b="1" dirty="0">
                <a:sym typeface="Wingdings" panose="05000000000000000000" pitchFamily="2" charset="2"/>
              </a:rPr>
              <a:t>nœud de fuite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Hypothèse d’indépendance causale des bruits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Formulation générale:</a:t>
            </a:r>
          </a:p>
          <a:p>
            <a:pPr lvl="3"/>
            <a:endParaRPr lang="fr-FR" dirty="0">
              <a:sym typeface="Wingdings" panose="05000000000000000000" pitchFamily="2" charset="2"/>
            </a:endParaRPr>
          </a:p>
          <a:p>
            <a:pPr lvl="1"/>
            <a:r>
              <a:rPr lang="fr-FR" dirty="0">
                <a:sym typeface="Wingdings" panose="05000000000000000000" pitchFamily="2" charset="2"/>
              </a:rPr>
              <a:t>Ex: Fièvre vs Maladies  3 chiffres suffisent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173464-CA03-4A2D-AC8B-64725537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3D9480-EAC6-4232-ADF3-FCBB6B4C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0F08EFD-AB14-465B-861A-64B5539DF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2362200"/>
            <a:ext cx="2800350" cy="126418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B454D40-BA27-42A1-AA3E-C58709404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1" y="5585114"/>
            <a:ext cx="2800349" cy="127288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E31C813-157B-43DB-B094-EC674B451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784" y="5724031"/>
            <a:ext cx="2396539" cy="38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4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405938-270F-4233-9D3C-78201C4DB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Variables </a:t>
            </a:r>
            <a:r>
              <a:rPr lang="fr-FR" b="1" dirty="0"/>
              <a:t>continues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993EF8-A86B-43D8-9D4B-7FBE30A2DE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949952"/>
          </a:xfrm>
        </p:spPr>
        <p:txBody>
          <a:bodyPr>
            <a:normAutofit fontScale="47500" lnSpcReduction="20000"/>
          </a:bodyPr>
          <a:lstStyle/>
          <a:p>
            <a:r>
              <a:rPr lang="fr-FR" dirty="0"/>
              <a:t>Concerne de nombreux problèmes (hauteur, masse, devise, température etc.)</a:t>
            </a:r>
          </a:p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possibilité: Discrétisation </a:t>
            </a:r>
            <a:r>
              <a:rPr lang="fr-FR" dirty="0">
                <a:sym typeface="Wingdings" panose="05000000000000000000" pitchFamily="2" charset="2"/>
              </a:rPr>
              <a:t> intervalles fixes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Mais parfois peu précis</a:t>
            </a:r>
          </a:p>
          <a:p>
            <a:r>
              <a:rPr lang="fr-FR" dirty="0">
                <a:sym typeface="Wingdings" panose="05000000000000000000" pitchFamily="2" charset="2"/>
              </a:rPr>
              <a:t>Meilleur: définition d’une </a:t>
            </a:r>
            <a:r>
              <a:rPr lang="fr-FR" b="1" dirty="0">
                <a:sym typeface="Wingdings" panose="05000000000000000000" pitchFamily="2" charset="2"/>
              </a:rPr>
              <a:t>distribution de probabilités</a:t>
            </a:r>
          </a:p>
          <a:p>
            <a:pPr lvl="1"/>
            <a:r>
              <a:rPr lang="fr-FR" b="1" dirty="0">
                <a:sym typeface="Wingdings" panose="05000000000000000000" pitchFamily="2" charset="2"/>
              </a:rPr>
              <a:t>Paramétrique</a:t>
            </a:r>
            <a:r>
              <a:rPr lang="fr-FR" dirty="0">
                <a:sym typeface="Wingdings" panose="05000000000000000000" pitchFamily="2" charset="2"/>
              </a:rPr>
              <a:t>: ex: Gaussienne  moyenne et variance</a:t>
            </a:r>
          </a:p>
          <a:p>
            <a:pPr lvl="1"/>
            <a:r>
              <a:rPr lang="fr-FR" b="1" dirty="0">
                <a:sym typeface="Wingdings" panose="05000000000000000000" pitchFamily="2" charset="2"/>
              </a:rPr>
              <a:t>Non paramétrique</a:t>
            </a:r>
            <a:r>
              <a:rPr lang="fr-FR" dirty="0">
                <a:sym typeface="Wingdings" panose="05000000000000000000" pitchFamily="2" charset="2"/>
              </a:rPr>
              <a:t>: Définition implicite par l’exemple</a:t>
            </a:r>
          </a:p>
          <a:p>
            <a:r>
              <a:rPr lang="fr-FR" dirty="0">
                <a:sym typeface="Wingdings" panose="05000000000000000000" pitchFamily="2" charset="2"/>
              </a:rPr>
              <a:t>Réseau bayésien hybride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Paramètres discrets + continus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Variables continues: Probabilité </a:t>
            </a:r>
            <a:r>
              <a:rPr lang="fr-FR" b="1" dirty="0">
                <a:sym typeface="Wingdings" panose="05000000000000000000" pitchFamily="2" charset="2"/>
              </a:rPr>
              <a:t>linéaire Gaussienne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Ex: Coût  Q récolte (h) + subventions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2 distributions sommées</a:t>
            </a:r>
          </a:p>
          <a:p>
            <a:pPr lvl="3"/>
            <a:endParaRPr lang="fr-FR" dirty="0">
              <a:sym typeface="Wingdings" panose="05000000000000000000" pitchFamily="2" charset="2"/>
            </a:endParaRPr>
          </a:p>
          <a:p>
            <a:pPr lvl="3"/>
            <a:endParaRPr lang="fr-FR" dirty="0">
              <a:sym typeface="Wingdings" panose="05000000000000000000" pitchFamily="2" charset="2"/>
            </a:endParaRPr>
          </a:p>
          <a:p>
            <a:pPr lvl="3"/>
            <a:endParaRPr lang="fr-FR" dirty="0">
              <a:sym typeface="Wingdings" panose="05000000000000000000" pitchFamily="2" charset="2"/>
            </a:endParaRPr>
          </a:p>
          <a:p>
            <a:pPr marL="868363" lvl="3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lvl="1"/>
            <a:r>
              <a:rPr lang="fr-FR" dirty="0">
                <a:sym typeface="Wingdings" panose="05000000000000000000" pitchFamily="2" charset="2"/>
              </a:rPr>
              <a:t>Somme de distributions linéaires gaussienne 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distribution conjointe = Distribution gaussienne multivariée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Distribution a posteriori = </a:t>
            </a:r>
            <a:r>
              <a:rPr lang="fr-FR" b="1" dirty="0">
                <a:sym typeface="Wingdings" panose="05000000000000000000" pitchFamily="2" charset="2"/>
              </a:rPr>
              <a:t>distribution gaussienne conditionnelle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Variables discrètes avec parents continus</a:t>
            </a:r>
          </a:p>
          <a:p>
            <a:pPr lvl="2"/>
            <a:r>
              <a:rPr lang="fr-FR" b="1" dirty="0">
                <a:sym typeface="Wingdings" panose="05000000000000000000" pitchFamily="2" charset="2"/>
              </a:rPr>
              <a:t>Seuil doux </a:t>
            </a:r>
            <a:r>
              <a:rPr lang="fr-FR" dirty="0">
                <a:sym typeface="Wingdings" panose="05000000000000000000" pitchFamily="2" charset="2"/>
              </a:rPr>
              <a:t>: Ex: acheter / coût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Possibilité = intégrale de la distribution normale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= </a:t>
            </a:r>
            <a:r>
              <a:rPr lang="fr-FR" b="1" dirty="0">
                <a:sym typeface="Wingdings" panose="05000000000000000000" pitchFamily="2" charset="2"/>
              </a:rPr>
              <a:t>Distribution </a:t>
            </a:r>
            <a:r>
              <a:rPr lang="fr-FR" b="1" dirty="0" err="1">
                <a:sym typeface="Wingdings" panose="05000000000000000000" pitchFamily="2" charset="2"/>
              </a:rPr>
              <a:t>Probit</a:t>
            </a:r>
            <a:endParaRPr lang="fr-FR" b="1" dirty="0">
              <a:sym typeface="Wingdings" panose="05000000000000000000" pitchFamily="2" charset="2"/>
            </a:endParaRPr>
          </a:p>
          <a:p>
            <a:pPr lvl="2"/>
            <a:r>
              <a:rPr lang="fr-FR" dirty="0">
                <a:sym typeface="Wingdings" panose="05000000000000000000" pitchFamily="2" charset="2"/>
              </a:rPr>
              <a:t>Alternative = fonction sigmoïde = </a:t>
            </a:r>
            <a:r>
              <a:rPr lang="fr-FR" b="1" dirty="0">
                <a:sym typeface="Wingdings" panose="05000000000000000000" pitchFamily="2" charset="2"/>
              </a:rPr>
              <a:t>distribution </a:t>
            </a:r>
            <a:r>
              <a:rPr lang="fr-FR" b="1" dirty="0" err="1">
                <a:sym typeface="Wingdings" panose="05000000000000000000" pitchFamily="2" charset="2"/>
              </a:rPr>
              <a:t>logit</a:t>
            </a:r>
            <a:endParaRPr lang="fr-FR" b="1" dirty="0">
              <a:sym typeface="Wingdings" panose="05000000000000000000" pitchFamily="2" charset="2"/>
            </a:endParaRPr>
          </a:p>
          <a:p>
            <a:r>
              <a:rPr lang="fr-FR" b="1" dirty="0">
                <a:sym typeface="Wingdings" panose="05000000000000000000" pitchFamily="2" charset="2"/>
              </a:rPr>
              <a:t>Distribution Apriori conjuguée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Quelle distribution utiliser?</a:t>
            </a:r>
          </a:p>
          <a:p>
            <a:pPr lvl="2"/>
            <a:r>
              <a:rPr lang="fr-FR" dirty="0" err="1">
                <a:sym typeface="Wingdings" panose="05000000000000000000" pitchFamily="2" charset="2"/>
              </a:rPr>
              <a:t>Posterieur</a:t>
            </a:r>
            <a:r>
              <a:rPr lang="fr-FR" dirty="0">
                <a:sym typeface="Wingdings" panose="05000000000000000000" pitchFamily="2" charset="2"/>
              </a:rPr>
              <a:t> = même famille de distribution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Exemples: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Gaussienne: moyenne  Gaussienne, précision  Gamma</a:t>
            </a:r>
          </a:p>
          <a:p>
            <a:pPr lvl="2"/>
            <a:r>
              <a:rPr lang="fr-FR" dirty="0">
                <a:sym typeface="Wingdings" panose="05000000000000000000" pitchFamily="2" charset="2"/>
                <a:hlinkClick r:id="rId2"/>
              </a:rPr>
              <a:t>https://en.wikipedia.org/wiki/Conjugate_prior</a:t>
            </a:r>
            <a:r>
              <a:rPr lang="fr-FR" dirty="0">
                <a:sym typeface="Wingdings" panose="05000000000000000000" pitchFamily="2" charset="2"/>
              </a:rPr>
              <a:t> </a:t>
            </a:r>
          </a:p>
          <a:p>
            <a:pPr lvl="2"/>
            <a:endParaRPr lang="fr-FR" dirty="0">
              <a:sym typeface="Wingdings" panose="05000000000000000000" pitchFamily="2" charset="2"/>
            </a:endParaRPr>
          </a:p>
          <a:p>
            <a:pPr lvl="1"/>
            <a:endParaRPr lang="fr-FR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45CCFB-E9A9-40A9-8465-6AA9EF0F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F10578C-CC4D-4ED9-B592-A5705BFC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ADC7FD1-D28E-44AE-BE87-8B0CA0E70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378900"/>
            <a:ext cx="2927451" cy="61532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EA09877-94DE-4E1C-A71A-4D760B078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282" y="3064136"/>
            <a:ext cx="4191000" cy="93008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F2CE00D-5D11-4541-9220-8A5BE3B07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0" y="4052834"/>
            <a:ext cx="2819400" cy="101135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FA484E5-2655-4471-9BAC-530134C440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969" y="6007821"/>
            <a:ext cx="1402741" cy="67087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AB0B2E3-C825-4008-8D37-EF3833CD31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890" y="5157859"/>
            <a:ext cx="1075509" cy="1520837"/>
          </a:xfrm>
          <a:prstGeom prst="rect">
            <a:avLst/>
          </a:prstGeom>
        </p:spPr>
      </p:pic>
      <p:pic>
        <p:nvPicPr>
          <p:cNvPr id="13" name="Image 12" descr="Une image contenant tasse, orange, table&#10;&#10;Description générée automatiquement">
            <a:extLst>
              <a:ext uri="{FF2B5EF4-FFF2-40B4-BE49-F238E27FC236}">
                <a16:creationId xmlns:a16="http://schemas.microsoft.com/office/drawing/2014/main" id="{3A864F1E-9F48-4D00-AA4F-996B18F49B4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969" y="5205692"/>
            <a:ext cx="1691432" cy="79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8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121C32-38CC-45CA-A6CD-5FD98C9B7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Inférence exacte dans les réseaux Bayésiens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E41E768-5E47-47CC-B7E6-46BFB94A8C2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fr-FR" dirty="0"/>
                  <a:t>Objectif = distribution a posteriori d’une variable de requête</a:t>
                </a:r>
              </a:p>
              <a:p>
                <a:pPr lvl="1"/>
                <a:r>
                  <a:rPr lang="fr-FR" dirty="0"/>
                  <a:t>Requête X, Observation E, Variables cachées Y </a:t>
                </a:r>
                <a:r>
                  <a:rPr lang="fr-FR" dirty="0">
                    <a:sym typeface="Wingdings" panose="05000000000000000000" pitchFamily="2" charset="2"/>
                  </a:rPr>
                  <a:t> </a:t>
                </a:r>
                <a:r>
                  <a:rPr lang="fr-FR" i="1" dirty="0">
                    <a:sym typeface="Wingdings" panose="05000000000000000000" pitchFamily="2" charset="2"/>
                  </a:rPr>
                  <a:t>P(</a:t>
                </a:r>
                <a:r>
                  <a:rPr lang="fr-FR" i="1" dirty="0" err="1">
                    <a:sym typeface="Wingdings" panose="05000000000000000000" pitchFamily="2" charset="2"/>
                  </a:rPr>
                  <a:t>X|e</a:t>
                </a:r>
                <a:r>
                  <a:rPr lang="fr-FR" i="1" dirty="0">
                    <a:sym typeface="Wingdings" panose="05000000000000000000" pitchFamily="2" charset="2"/>
                  </a:rPr>
                  <a:t>) </a:t>
                </a:r>
                <a:r>
                  <a:rPr lang="fr-FR" dirty="0">
                    <a:sym typeface="Wingdings" panose="05000000000000000000" pitchFamily="2" charset="2"/>
                  </a:rPr>
                  <a:t>?</a:t>
                </a:r>
                <a:endParaRPr lang="fr-FR" i="1" dirty="0"/>
              </a:p>
              <a:p>
                <a:r>
                  <a:rPr lang="fr-FR" dirty="0"/>
                  <a:t>Inférence par énumération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e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sub>
                      <m:sup/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nary>
                  </m:oMath>
                </a14:m>
                <a:endParaRPr lang="fr-FR" dirty="0"/>
              </a:p>
              <a:p>
                <a:r>
                  <a:rPr lang="fr-FR" dirty="0"/>
                  <a:t>Elimination des variables</a:t>
                </a:r>
              </a:p>
              <a:p>
                <a:pPr lvl="1"/>
                <a:r>
                  <a:rPr lang="fr-FR" dirty="0"/>
                  <a:t>Objectif = simplifier la sommation</a:t>
                </a:r>
              </a:p>
              <a:p>
                <a:pPr lvl="1"/>
                <a:r>
                  <a:rPr lang="fr-FR" dirty="0"/>
                  <a:t>Ex cambriolage: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 Multiplication termes à termes de droite à gauche</a:t>
                </a:r>
              </a:p>
              <a:p>
                <a:pPr lvl="1"/>
                <a:r>
                  <a:rPr lang="fr-FR" dirty="0"/>
                  <a:t>Ordre des variables important: minimise la taille du facteur produit</a:t>
                </a:r>
              </a:p>
              <a:p>
                <a:pPr lvl="1"/>
                <a:r>
                  <a:rPr lang="fr-FR" dirty="0"/>
                  <a:t>+ élimination de toute variable pas ancêtre d’un X ou d’un E</a:t>
                </a:r>
              </a:p>
              <a:p>
                <a:r>
                  <a:rPr lang="fr-FR" dirty="0"/>
                  <a:t>Complexité de l’inférence exacte</a:t>
                </a:r>
              </a:p>
              <a:p>
                <a:pPr lvl="1"/>
                <a:r>
                  <a:rPr lang="fr-FR" dirty="0"/>
                  <a:t>Dépend de la topologie: </a:t>
                </a:r>
              </a:p>
              <a:p>
                <a:pPr lvl="2"/>
                <a:r>
                  <a:rPr lang="fr-FR" dirty="0"/>
                  <a:t>ex: </a:t>
                </a:r>
                <a:r>
                  <a:rPr lang="fr-FR" b="1" dirty="0" err="1"/>
                  <a:t>polyarbre</a:t>
                </a:r>
                <a:r>
                  <a:rPr lang="fr-FR" dirty="0"/>
                  <a:t>: linéaire vs taille</a:t>
                </a:r>
              </a:p>
              <a:p>
                <a:pPr lvl="2"/>
                <a:r>
                  <a:rPr lang="fr-FR" b="1" dirty="0"/>
                  <a:t>Multiplement connectés</a:t>
                </a:r>
                <a:r>
                  <a:rPr lang="fr-FR" dirty="0"/>
                  <a:t>: au pire exponentiel (#P-difficile&gt;NP-complet)</a:t>
                </a:r>
              </a:p>
              <a:p>
                <a:pPr lvl="3"/>
                <a:r>
                  <a:rPr lang="fr-FR" dirty="0"/>
                  <a:t>Cf techniques </a:t>
                </a:r>
                <a:r>
                  <a:rPr lang="fr-FR" dirty="0" err="1"/>
                  <a:t>CSPs</a:t>
                </a:r>
                <a:r>
                  <a:rPr lang="fr-FR" dirty="0"/>
                  <a:t> (largeur d’arbre)</a:t>
                </a:r>
              </a:p>
              <a:p>
                <a:r>
                  <a:rPr lang="fr-FR" dirty="0"/>
                  <a:t>Algorithmes de groupement (clustering)</a:t>
                </a:r>
              </a:p>
              <a:p>
                <a:pPr lvl="1"/>
                <a:r>
                  <a:rPr lang="fr-FR" dirty="0"/>
                  <a:t>Requêtes sur toutes les variables </a:t>
                </a:r>
                <a:r>
                  <a:rPr lang="fr-FR" dirty="0">
                    <a:sym typeface="Wingdings" panose="05000000000000000000" pitchFamily="2" charset="2"/>
                  </a:rPr>
                  <a:t> O(n²)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Objectif = simplification en O(n)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 groupement des nœuds 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 </a:t>
                </a:r>
                <a:r>
                  <a:rPr lang="fr-FR" dirty="0" err="1">
                    <a:sym typeface="Wingdings" panose="05000000000000000000" pitchFamily="2" charset="2"/>
                  </a:rPr>
                  <a:t>polyarbres</a:t>
                </a:r>
                <a:r>
                  <a:rPr lang="fr-FR" dirty="0">
                    <a:sym typeface="Wingdings" panose="05000000000000000000" pitchFamily="2" charset="2"/>
                  </a:rPr>
                  <a:t> de « </a:t>
                </a:r>
                <a:r>
                  <a:rPr lang="fr-FR" dirty="0" err="1">
                    <a:sym typeface="Wingdings" panose="05000000000000000000" pitchFamily="2" charset="2"/>
                  </a:rPr>
                  <a:t>méganoeuds</a:t>
                </a:r>
                <a:r>
                  <a:rPr lang="fr-FR" dirty="0">
                    <a:sym typeface="Wingdings" panose="05000000000000000000" pitchFamily="2" charset="2"/>
                  </a:rPr>
                  <a:t> »</a:t>
                </a:r>
                <a:endParaRPr lang="fr-FR" dirty="0"/>
              </a:p>
              <a:p>
                <a:pPr lvl="2"/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E41E768-5E47-47CC-B7E6-46BFB94A8C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  <a:blipFill>
                <a:blip r:embed="rId2"/>
                <a:stretch>
                  <a:fillRect l="-287" t="-1746" b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EB61CC-8968-4F0D-AC55-75D1E650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340708E-DFD1-4213-8445-12CDDAD4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2B07346-4606-4DFE-AA76-9AD1AA060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12" y="2819400"/>
            <a:ext cx="3862388" cy="48824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88B06BD-7CD7-4953-ABE6-AB1BEF8A1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5089027"/>
            <a:ext cx="3862388" cy="146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0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20A972-4265-41BA-8F54-DA385C9F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28600"/>
            <a:ext cx="8991600" cy="758825"/>
          </a:xfrm>
        </p:spPr>
        <p:txBody>
          <a:bodyPr/>
          <a:lstStyle/>
          <a:p>
            <a:r>
              <a:rPr lang="fr-FR" dirty="0"/>
              <a:t>Inférence approchée dans les RB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DDD805F-6B03-4399-863E-B28D613290F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371600"/>
                <a:ext cx="8503920" cy="503872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fr-FR" dirty="0"/>
                  <a:t>Inférence exacte impraticable dans grands réseaux 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 </a:t>
                </a:r>
                <a:r>
                  <a:rPr lang="fr-FR" dirty="0"/>
                  <a:t>Recours à </a:t>
                </a:r>
                <a:r>
                  <a:rPr lang="fr-FR" b="1" dirty="0"/>
                  <a:t>l’échantillonnage</a:t>
                </a:r>
                <a:r>
                  <a:rPr lang="fr-FR" dirty="0"/>
                  <a:t> (méthodes de </a:t>
                </a:r>
                <a:r>
                  <a:rPr lang="fr-FR" b="1" dirty="0"/>
                  <a:t>Monte-Carlo</a:t>
                </a:r>
                <a:r>
                  <a:rPr lang="fr-FR" dirty="0"/>
                  <a:t>)</a:t>
                </a:r>
              </a:p>
              <a:p>
                <a:r>
                  <a:rPr lang="fr-FR" dirty="0"/>
                  <a:t>Echantillonnage direct</a:t>
                </a:r>
              </a:p>
              <a:p>
                <a:pPr lvl="1"/>
                <a:r>
                  <a:rPr lang="fr-FR" dirty="0"/>
                  <a:t>Echantillonnage </a:t>
                </a:r>
                <a:r>
                  <a:rPr lang="fr-FR" b="1" dirty="0"/>
                  <a:t>a priori</a:t>
                </a:r>
              </a:p>
              <a:p>
                <a:pPr lvl="2"/>
                <a:r>
                  <a:rPr lang="fr-FR" dirty="0"/>
                  <a:t>Pas d’observation e </a:t>
                </a:r>
                <a:r>
                  <a:rPr lang="fr-FR" dirty="0">
                    <a:sym typeface="Wingdings" panose="05000000000000000000" pitchFamily="2" charset="2"/>
                  </a:rPr>
                  <a:t> on suit l’ordre topologique</a:t>
                </a:r>
              </a:p>
              <a:p>
                <a:pPr lvl="2"/>
                <a:r>
                  <a:rPr lang="fr-FR" dirty="0"/>
                  <a:t>P(x</a:t>
                </a:r>
                <a:r>
                  <a:rPr lang="fr-FR" baseline="-25000" dirty="0"/>
                  <a:t>1</a:t>
                </a:r>
                <a:r>
                  <a:rPr lang="fr-FR" dirty="0"/>
                  <a:t>,…</a:t>
                </a:r>
                <a:r>
                  <a:rPr lang="fr-FR" dirty="0" err="1"/>
                  <a:t>x</a:t>
                </a:r>
                <a:r>
                  <a:rPr lang="fr-FR" baseline="-25000" dirty="0" err="1"/>
                  <a:t>m</a:t>
                </a:r>
                <a:r>
                  <a:rPr lang="fr-FR" dirty="0"/>
                  <a:t>)≈</a:t>
                </a:r>
                <a:r>
                  <a:rPr lang="fr-FR" dirty="0" err="1"/>
                  <a:t>N</a:t>
                </a:r>
                <a:r>
                  <a:rPr lang="fr-FR" baseline="-25000" dirty="0" err="1"/>
                  <a:t>ps</a:t>
                </a:r>
                <a:r>
                  <a:rPr lang="fr-FR" dirty="0"/>
                  <a:t>(x</a:t>
                </a:r>
                <a:r>
                  <a:rPr lang="fr-FR" baseline="-25000" dirty="0"/>
                  <a:t>1</a:t>
                </a:r>
                <a:r>
                  <a:rPr lang="fr-FR" dirty="0"/>
                  <a:t>,…</a:t>
                </a:r>
                <a:r>
                  <a:rPr lang="fr-FR" dirty="0" err="1"/>
                  <a:t>x</a:t>
                </a:r>
                <a:r>
                  <a:rPr lang="fr-FR" baseline="-25000" dirty="0" err="1"/>
                  <a:t>m</a:t>
                </a:r>
                <a:r>
                  <a:rPr lang="fr-FR" dirty="0"/>
                  <a:t>)/N</a:t>
                </a:r>
                <a:endParaRPr lang="fr-FR" baseline="-25000" dirty="0"/>
              </a:p>
              <a:p>
                <a:pPr lvl="1"/>
                <a:r>
                  <a:rPr lang="fr-FR" dirty="0"/>
                  <a:t>Echantillonnage </a:t>
                </a:r>
                <a:r>
                  <a:rPr lang="fr-FR" b="1" dirty="0"/>
                  <a:t>par rejet</a:t>
                </a:r>
              </a:p>
              <a:p>
                <a:pPr lvl="2"/>
                <a:r>
                  <a:rPr lang="fr-FR" dirty="0"/>
                  <a:t>Elimination des échantillons non conformes à l’observation </a:t>
                </a:r>
                <a:r>
                  <a:rPr lang="fr-FR" i="1" dirty="0"/>
                  <a:t>e</a:t>
                </a:r>
              </a:p>
              <a:p>
                <a:pPr lvl="2"/>
                <a:r>
                  <a:rPr lang="fr-FR" dirty="0"/>
                  <a:t>Pb: écart type proportionnel à 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1/</m:t>
                    </m:r>
                    <m:rad>
                      <m:radPr>
                        <m:degHide m:val="o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fr-FR" dirty="0"/>
                  <a:t> avec n échantillons utilisés</a:t>
                </a:r>
              </a:p>
              <a:p>
                <a:pPr lvl="3"/>
                <a:r>
                  <a:rPr lang="fr-FR" dirty="0"/>
                  <a:t>Si e rare, peu d’échantillons utilisés</a:t>
                </a:r>
              </a:p>
              <a:p>
                <a:r>
                  <a:rPr lang="fr-FR" dirty="0"/>
                  <a:t>Pondération par </a:t>
                </a:r>
                <a:r>
                  <a:rPr lang="fr-FR" b="1" dirty="0"/>
                  <a:t>vraisemblance</a:t>
                </a:r>
                <a:r>
                  <a:rPr lang="fr-FR" dirty="0"/>
                  <a:t> (</a:t>
                </a:r>
                <a:r>
                  <a:rPr lang="fr-FR" dirty="0" err="1"/>
                  <a:t>Likelihood-Weighting</a:t>
                </a:r>
                <a:r>
                  <a:rPr lang="fr-FR" dirty="0"/>
                  <a:t>)</a:t>
                </a:r>
              </a:p>
              <a:p>
                <a:pPr lvl="1"/>
                <a:r>
                  <a:rPr lang="fr-FR" dirty="0"/>
                  <a:t>Evite le problème de représentativité</a:t>
                </a:r>
              </a:p>
              <a:p>
                <a:pPr lvl="2"/>
                <a:r>
                  <a:rPr lang="fr-FR" dirty="0"/>
                  <a:t>Ne génère que des exemples conformes à l’observation (E est fixé)</a:t>
                </a:r>
              </a:p>
              <a:p>
                <a:pPr lvl="1"/>
                <a:r>
                  <a:rPr lang="fr-FR" dirty="0"/>
                  <a:t>Nécessite de pondérer les observations par vraisemblance</a:t>
                </a:r>
              </a:p>
              <a:p>
                <a:pPr lvl="2"/>
                <a:r>
                  <a:rPr lang="fr-FR" dirty="0"/>
                  <a:t>Poids de l’échantillon: </a:t>
                </a:r>
              </a:p>
              <a:p>
                <a:pPr lvl="1"/>
                <a:r>
                  <a:rPr lang="fr-FR" dirty="0"/>
                  <a:t>Retourne des estimations consistantes</a:t>
                </a:r>
              </a:p>
              <a:p>
                <a:pPr lvl="2"/>
                <a:r>
                  <a:rPr lang="fr-FR" dirty="0"/>
                  <a:t>Mais performances diminuent ave nombre de </a:t>
                </a:r>
                <a:r>
                  <a:rPr lang="fr-FR" b="1" i="1" dirty="0"/>
                  <a:t>e </a:t>
                </a:r>
                <a:r>
                  <a:rPr lang="fr-FR" dirty="0"/>
                  <a:t>(faibles vraisemblances)</a:t>
                </a:r>
              </a:p>
              <a:p>
                <a:r>
                  <a:rPr lang="fr-FR" dirty="0"/>
                  <a:t>Simulation de chaînes de Markov Monte-Carlo</a:t>
                </a:r>
              </a:p>
              <a:p>
                <a:pPr lvl="1"/>
                <a:r>
                  <a:rPr lang="fr-FR" dirty="0"/>
                  <a:t>Modification d’un état courant (</a:t>
                </a:r>
                <a:r>
                  <a:rPr lang="fr-FR" dirty="0" err="1"/>
                  <a:t>cf</a:t>
                </a:r>
                <a:r>
                  <a:rPr lang="fr-FR" dirty="0"/>
                  <a:t> Recuit, </a:t>
                </a:r>
                <a:r>
                  <a:rPr lang="fr-FR" dirty="0" err="1"/>
                  <a:t>Walksat</a:t>
                </a:r>
                <a:r>
                  <a:rPr lang="fr-FR" dirty="0"/>
                  <a:t> etc. = </a:t>
                </a:r>
                <a:r>
                  <a:rPr lang="fr-FR" b="1" dirty="0"/>
                  <a:t>MCMC</a:t>
                </a:r>
                <a:r>
                  <a:rPr lang="fr-FR" dirty="0"/>
                  <a:t>)</a:t>
                </a:r>
              </a:p>
              <a:p>
                <a:pPr lvl="1"/>
                <a:r>
                  <a:rPr lang="fr-FR" dirty="0"/>
                  <a:t>Ex: </a:t>
                </a:r>
                <a:r>
                  <a:rPr lang="fr-FR" b="1" dirty="0"/>
                  <a:t>Echantillonnage de Gibbs</a:t>
                </a:r>
              </a:p>
              <a:p>
                <a:pPr lvl="2"/>
                <a:r>
                  <a:rPr lang="fr-FR" dirty="0"/>
                  <a:t>Parcours de l’espace des états en utilisant la </a:t>
                </a:r>
                <a:r>
                  <a:rPr lang="fr-FR" b="1" dirty="0"/>
                  <a:t>couverture de Markov</a:t>
                </a:r>
              </a:p>
              <a:p>
                <a:pPr lvl="2"/>
                <a:r>
                  <a:rPr lang="fr-FR" dirty="0"/>
                  <a:t>Fonctionne grâce aux probabilités de transition  </a:t>
                </a:r>
                <a:r>
                  <a:rPr lang="fr-FR" b="1" dirty="0" err="1"/>
                  <a:t>ergotique</a:t>
                </a:r>
                <a:r>
                  <a:rPr lang="fr-FR" b="1" dirty="0"/>
                  <a:t> </a:t>
                </a:r>
                <a:r>
                  <a:rPr lang="fr-FR" dirty="0"/>
                  <a:t>= </a:t>
                </a:r>
                <a:r>
                  <a:rPr lang="fr-FR" b="1" dirty="0"/>
                  <a:t>chaîne de Markov</a:t>
                </a:r>
              </a:p>
              <a:p>
                <a:r>
                  <a:rPr lang="fr-FR" dirty="0"/>
                  <a:t>Autres méthodes</a:t>
                </a:r>
              </a:p>
              <a:p>
                <a:pPr lvl="1"/>
                <a:r>
                  <a:rPr lang="fr-FR" dirty="0"/>
                  <a:t>Méthodes </a:t>
                </a:r>
                <a:r>
                  <a:rPr lang="fr-FR" dirty="0" err="1"/>
                  <a:t>variationnelles</a:t>
                </a:r>
                <a:endParaRPr lang="fr-FR" dirty="0"/>
              </a:p>
              <a:p>
                <a:pPr lvl="2"/>
                <a:r>
                  <a:rPr lang="fr-FR" dirty="0"/>
                  <a:t>Version réduite du problème, décrite par un paramètre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fr-FR" dirty="0"/>
                  <a:t> à optimiser </a:t>
                </a:r>
                <a:r>
                  <a:rPr lang="fr-FR" dirty="0">
                    <a:sym typeface="Wingdings" panose="05000000000000000000" pitchFamily="2" charset="2"/>
                  </a:rPr>
                  <a:t> borne </a:t>
                </a:r>
                <a:r>
                  <a:rPr lang="fr-FR" dirty="0" err="1">
                    <a:sym typeface="Wingdings" panose="05000000000000000000" pitchFamily="2" charset="2"/>
                  </a:rPr>
                  <a:t>inf</a:t>
                </a:r>
                <a:r>
                  <a:rPr lang="fr-FR" dirty="0">
                    <a:sym typeface="Wingdings" panose="05000000000000000000" pitchFamily="2" charset="2"/>
                  </a:rPr>
                  <a:t> et sup. Cf </a:t>
                </a:r>
                <a:r>
                  <a:rPr lang="fr-FR" dirty="0">
                    <a:sym typeface="Wingdings" panose="05000000000000000000" pitchFamily="2" charset="2"/>
                    <a:hlinkClick r:id="rId2"/>
                  </a:rPr>
                  <a:t>Introduction</a:t>
                </a:r>
                <a:endParaRPr lang="fr-FR" dirty="0"/>
              </a:p>
              <a:p>
                <a:pPr lvl="1"/>
                <a:r>
                  <a:rPr lang="fr-FR" dirty="0"/>
                  <a:t>Propagation bouclée</a:t>
                </a:r>
              </a:p>
              <a:p>
                <a:pPr lvl="2"/>
                <a:r>
                  <a:rPr lang="fr-FR" dirty="0"/>
                  <a:t>Propagation de message dans des réseaux Bayésiens = </a:t>
                </a:r>
                <a:r>
                  <a:rPr lang="fr-FR" dirty="0" err="1"/>
                  <a:t>Turbocodes</a:t>
                </a:r>
                <a:r>
                  <a:rPr lang="fr-FR" dirty="0"/>
                  <a:t>: correction d’erreur Cf </a:t>
                </a:r>
                <a:r>
                  <a:rPr lang="fr-FR" dirty="0" err="1">
                    <a:hlinkClick r:id="rId3"/>
                  </a:rPr>
                  <a:t>Wikipedia</a:t>
                </a: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DDD805F-6B03-4399-863E-B28D61329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371600"/>
                <a:ext cx="8503920" cy="5038725"/>
              </a:xfrm>
              <a:blipFill>
                <a:blip r:embed="rId4"/>
                <a:stretch>
                  <a:fillRect t="-1088" b="-6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118B01B-9175-4B47-A1EF-8A2BFC8F7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B805AD-BE6B-43E0-999E-7BDF30B4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856FD40-6A54-408F-9398-8DA2509B1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2837" y="3977418"/>
            <a:ext cx="1604963" cy="35813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E6EADA8-7316-4B09-8231-90B6283621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293" y="5181600"/>
            <a:ext cx="23431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7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E185A0-33F7-48F0-A79A-A281A3C78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Modèles relationnels du premier ordre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0EF8D1-F7F0-476A-945C-DD19D448CF7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Modèles bayésiens = propositionnel</a:t>
            </a:r>
          </a:p>
          <a:p>
            <a:r>
              <a:rPr lang="fr-FR" dirty="0"/>
              <a:t>FOL </a:t>
            </a:r>
            <a:r>
              <a:rPr lang="fr-FR" dirty="0">
                <a:sym typeface="Wingdings" panose="05000000000000000000" pitchFamily="2" charset="2"/>
              </a:rPr>
              <a:t> relations entre objets</a:t>
            </a:r>
          </a:p>
          <a:p>
            <a:pPr lvl="1"/>
            <a:r>
              <a:rPr lang="fr-FR" dirty="0"/>
              <a:t>Ex: évaluations livres: pb de partialité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 Impartial(c), Indulgent(c), Mérite(l) prédicats du premier ordre</a:t>
            </a:r>
            <a:endParaRPr lang="fr-FR" dirty="0"/>
          </a:p>
          <a:p>
            <a:r>
              <a:rPr lang="fr-FR" dirty="0"/>
              <a:t>Mondes possibles</a:t>
            </a:r>
          </a:p>
          <a:p>
            <a:pPr lvl="1"/>
            <a:r>
              <a:rPr lang="fr-FR" dirty="0"/>
              <a:t>Assignations de variables </a:t>
            </a:r>
            <a:r>
              <a:rPr lang="fr-FR" dirty="0">
                <a:sym typeface="Wingdings" panose="05000000000000000000" pitchFamily="2" charset="2"/>
              </a:rPr>
              <a:t> mondes possibles</a:t>
            </a:r>
            <a:endParaRPr lang="fr-FR" dirty="0"/>
          </a:p>
          <a:p>
            <a:pPr lvl="1"/>
            <a:r>
              <a:rPr lang="fr-FR" dirty="0"/>
              <a:t>Sémantique de base de données (limite la taille du problème)</a:t>
            </a:r>
          </a:p>
          <a:p>
            <a:r>
              <a:rPr lang="fr-FR" dirty="0"/>
              <a:t>Modèles probabilistes relationnels</a:t>
            </a:r>
          </a:p>
          <a:p>
            <a:pPr lvl="1"/>
            <a:r>
              <a:rPr lang="fr-FR" dirty="0"/>
              <a:t>Syntaxe de FOL </a:t>
            </a:r>
            <a:r>
              <a:rPr lang="fr-FR" dirty="0">
                <a:sym typeface="Wingdings" panose="05000000000000000000" pitchFamily="2" charset="2"/>
              </a:rPr>
              <a:t> Variables aléatoires = assignations possibles</a:t>
            </a:r>
          </a:p>
          <a:p>
            <a:pPr lvl="1"/>
            <a:r>
              <a:rPr lang="fr-FR" dirty="0"/>
              <a:t>Distributions et dépendances (Tables de Pr Cond.)</a:t>
            </a:r>
          </a:p>
          <a:p>
            <a:pPr lvl="1"/>
            <a:r>
              <a:rPr lang="fr-FR" dirty="0"/>
              <a:t>Indépendance contextuelle </a:t>
            </a:r>
          </a:p>
          <a:p>
            <a:pPr lvl="2"/>
            <a:r>
              <a:rPr lang="fr-FR" dirty="0"/>
              <a:t>= branchement ex: si Impartial(c), si Fan(c, Auteur(l))</a:t>
            </a:r>
          </a:p>
          <a:p>
            <a:pPr lvl="1"/>
            <a:r>
              <a:rPr lang="fr-FR" dirty="0"/>
              <a:t>Inférence: ex dépliement </a:t>
            </a:r>
            <a:r>
              <a:rPr lang="fr-FR" dirty="0">
                <a:sym typeface="Wingdings" panose="05000000000000000000" pitchFamily="2" charset="2"/>
              </a:rPr>
              <a:t> Assemblage complet 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 grand réseau + variables inconnues </a:t>
            </a:r>
            <a:br>
              <a:rPr lang="fr-FR" dirty="0">
                <a:sym typeface="Wingdings" panose="05000000000000000000" pitchFamily="2" charset="2"/>
              </a:rPr>
            </a:br>
            <a:r>
              <a:rPr lang="fr-FR" dirty="0">
                <a:sym typeface="Wingdings" panose="05000000000000000000" pitchFamily="2" charset="2"/>
              </a:rPr>
              <a:t> nombreux nœuds parents: ex auteur?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Mais si sémantique de DB: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mise en cache + indépendance contextuelle + techniques MCMC efficaces</a:t>
            </a:r>
          </a:p>
          <a:p>
            <a:pPr lvl="3"/>
            <a:r>
              <a:rPr lang="fr-FR" dirty="0"/>
              <a:t>= </a:t>
            </a:r>
            <a:r>
              <a:rPr lang="fr-FR" dirty="0" err="1"/>
              <a:t>propositionnalisation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améliorée en FOL par lifting  De même lifting ici</a:t>
            </a:r>
            <a:endParaRPr lang="fr-FR" dirty="0"/>
          </a:p>
          <a:p>
            <a:r>
              <a:rPr lang="fr-FR" dirty="0"/>
              <a:t>Modèles relativistes en univers ouvert</a:t>
            </a:r>
          </a:p>
          <a:p>
            <a:pPr lvl="1"/>
            <a:r>
              <a:rPr lang="fr-FR" dirty="0"/>
              <a:t>Sémantique standard </a:t>
            </a:r>
            <a:r>
              <a:rPr lang="fr-FR" dirty="0">
                <a:sym typeface="Wingdings" panose="05000000000000000000" pitchFamily="2" charset="2"/>
              </a:rPr>
              <a:t> incertitude d’existence et d’identité des objets (e.g. IDs: Sibyl </a:t>
            </a:r>
            <a:r>
              <a:rPr lang="fr-FR" dirty="0" err="1">
                <a:sym typeface="Wingdings" panose="05000000000000000000" pitchFamily="2" charset="2"/>
              </a:rPr>
              <a:t>attacks</a:t>
            </a:r>
            <a:r>
              <a:rPr lang="fr-F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MPUOs</a:t>
            </a:r>
            <a:endParaRPr lang="fr-FR" dirty="0">
              <a:sym typeface="Wingdings" panose="05000000000000000000" pitchFamily="2" charset="2"/>
            </a:endParaRPr>
          </a:p>
          <a:p>
            <a:pPr lvl="1"/>
            <a:r>
              <a:rPr lang="fr-FR" dirty="0">
                <a:sym typeface="Wingdings" panose="05000000000000000000" pitchFamily="2" charset="2"/>
              </a:rPr>
              <a:t>Ex: </a:t>
            </a:r>
            <a:r>
              <a:rPr lang="fr-FR" dirty="0" err="1">
                <a:sym typeface="Wingdings" panose="05000000000000000000" pitchFamily="2" charset="2"/>
              </a:rPr>
              <a:t>NbClient</a:t>
            </a:r>
            <a:r>
              <a:rPr lang="fr-FR" dirty="0">
                <a:sym typeface="Wingdings" panose="05000000000000000000" pitchFamily="2" charset="2"/>
              </a:rPr>
              <a:t>: Si </a:t>
            </a:r>
            <a:r>
              <a:rPr lang="fr-FR" dirty="0" err="1">
                <a:sym typeface="Wingdings" panose="05000000000000000000" pitchFamily="2" charset="2"/>
              </a:rPr>
              <a:t>honête</a:t>
            </a:r>
            <a:r>
              <a:rPr lang="fr-FR" dirty="0">
                <a:sym typeface="Wingdings" panose="05000000000000000000" pitchFamily="2" charset="2"/>
              </a:rPr>
              <a:t>, exactement 1, sinon distribution </a:t>
            </a:r>
            <a:r>
              <a:rPr lang="fr-FR" dirty="0" err="1">
                <a:sym typeface="Wingdings" panose="05000000000000000000" pitchFamily="2" charset="2"/>
              </a:rPr>
              <a:t>LogNormal</a:t>
            </a:r>
            <a:r>
              <a:rPr lang="fr-FR" dirty="0">
                <a:sym typeface="Wingdings" panose="05000000000000000000" pitchFamily="2" charset="2"/>
              </a:rPr>
              <a:t>[6,9,2,3]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D6A4E0-1867-48A2-AD70-E54CF21C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CDBB96-E87A-4A55-9F9B-F9F479F37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37E88D-799A-47C5-99FE-D7A562511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886200"/>
            <a:ext cx="2962416" cy="10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9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Résumé réseaux bayésiens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752" y="1527048"/>
            <a:ext cx="8503920" cy="4873752"/>
          </a:xfrm>
        </p:spPr>
        <p:txBody>
          <a:bodyPr>
            <a:normAutofit fontScale="77500" lnSpcReduction="20000"/>
          </a:bodyPr>
          <a:lstStyle/>
          <a:p>
            <a:r>
              <a:rPr lang="fr-FR" noProof="0" dirty="0"/>
              <a:t>Les réseaux Bayésiens fournissent une représentation naturelle pour les indépendance conditionnelles (induites par causalité)</a:t>
            </a:r>
          </a:p>
          <a:p>
            <a:r>
              <a:rPr lang="fr-FR" noProof="0" dirty="0"/>
              <a:t>Topologie + </a:t>
            </a:r>
            <a:r>
              <a:rPr lang="fr-FR" noProof="0" dirty="0" err="1"/>
              <a:t>CPTs</a:t>
            </a:r>
            <a:r>
              <a:rPr lang="fr-FR" noProof="0" dirty="0"/>
              <a:t> = représentation compacte d’une distribution jointe</a:t>
            </a:r>
          </a:p>
          <a:p>
            <a:pPr lvl="1"/>
            <a:r>
              <a:rPr lang="fr-FR" noProof="0" dirty="0"/>
              <a:t>Généralement facile à construire pour un expert d’un domaine</a:t>
            </a:r>
          </a:p>
          <a:p>
            <a:r>
              <a:rPr lang="fr-FR" dirty="0"/>
              <a:t>Représentation efficace/compacte:</a:t>
            </a:r>
          </a:p>
          <a:p>
            <a:pPr lvl="1"/>
            <a:r>
              <a:rPr lang="fr-FR" dirty="0"/>
              <a:t>Distributions canonique, distributions paramétriques (Gaussiennes etc.)</a:t>
            </a:r>
          </a:p>
          <a:p>
            <a:r>
              <a:rPr lang="fr-FR" dirty="0"/>
              <a:t>Inférence = calcul de variables de requêtes</a:t>
            </a:r>
          </a:p>
          <a:p>
            <a:pPr lvl="1"/>
            <a:r>
              <a:rPr lang="fr-FR" noProof="0" dirty="0"/>
              <a:t>Exacte: énumération, élimination, clustering</a:t>
            </a:r>
          </a:p>
          <a:p>
            <a:pPr lvl="2"/>
            <a:r>
              <a:rPr lang="fr-FR" noProof="0" dirty="0">
                <a:sym typeface="Wingdings" panose="05000000000000000000" pitchFamily="2" charset="2"/>
              </a:rPr>
              <a:t> Efficace dans les </a:t>
            </a:r>
            <a:r>
              <a:rPr lang="fr-FR" noProof="0" dirty="0" err="1">
                <a:sym typeface="Wingdings" panose="05000000000000000000" pitchFamily="2" charset="2"/>
              </a:rPr>
              <a:t>polyarbres</a:t>
            </a:r>
            <a:endParaRPr lang="fr-FR" noProof="0" dirty="0"/>
          </a:p>
          <a:p>
            <a:pPr lvl="1"/>
            <a:r>
              <a:rPr lang="fr-FR" dirty="0"/>
              <a:t>Approximée: </a:t>
            </a:r>
          </a:p>
          <a:p>
            <a:pPr lvl="2"/>
            <a:r>
              <a:rPr lang="fr-FR" dirty="0" err="1"/>
              <a:t>Echantillonage</a:t>
            </a:r>
            <a:r>
              <a:rPr lang="fr-FR" dirty="0"/>
              <a:t> a priori, par rejet, par </a:t>
            </a:r>
            <a:r>
              <a:rPr lang="fr-FR" dirty="0" err="1"/>
              <a:t>vraissemblence</a:t>
            </a:r>
            <a:endParaRPr lang="fr-FR" dirty="0"/>
          </a:p>
          <a:p>
            <a:pPr lvl="2"/>
            <a:r>
              <a:rPr lang="fr-FR" noProof="0" dirty="0"/>
              <a:t>Méthodes de Monte-Carlo</a:t>
            </a:r>
            <a:r>
              <a:rPr lang="fr-FR" dirty="0"/>
              <a:t>(Gibbs)</a:t>
            </a:r>
          </a:p>
          <a:p>
            <a:r>
              <a:rPr lang="fr-FR" noProof="0" dirty="0"/>
              <a:t>Modèles relationnels </a:t>
            </a:r>
          </a:p>
          <a:p>
            <a:pPr lvl="1"/>
            <a:r>
              <a:rPr lang="fr-FR" dirty="0"/>
              <a:t>Combinaison avec FOL = </a:t>
            </a:r>
            <a:r>
              <a:rPr lang="fr-FR" noProof="0" dirty="0"/>
              <a:t>Modèles probabilistes relationnels (MPR)</a:t>
            </a:r>
          </a:p>
          <a:p>
            <a:pPr lvl="1"/>
            <a:r>
              <a:rPr lang="fr-FR" dirty="0"/>
              <a:t>+ Incertitude d’existence et d’identité = MP en Univers Ouvert</a:t>
            </a:r>
            <a:endParaRPr lang="fr-FR" noProof="0" dirty="0"/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BE57FDD5-4011-4D55-B46A-1A505095D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0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Questions?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41724551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Sommaire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35B01F-2079-4428-897D-278E5C9D0E54}" type="slidenum">
              <a:rPr lang="fr-FR" smtClean="0"/>
              <a:pPr>
                <a:defRPr/>
              </a:pPr>
              <a:t>42</a:t>
            </a:fld>
            <a:endParaRPr lang="fr-FR" dirty="0"/>
          </a:p>
        </p:txBody>
      </p:sp>
      <p:sp>
        <p:nvSpPr>
          <p:cNvPr id="1434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883150"/>
          </a:xfrm>
        </p:spPr>
        <p:txBody>
          <a:bodyPr>
            <a:normAutofit lnSpcReduction="10000"/>
          </a:bodyPr>
          <a:lstStyle/>
          <a:p>
            <a:r>
              <a:rPr lang="fr-FR" noProof="0" dirty="0"/>
              <a:t>Quantification de l’incertitude</a:t>
            </a:r>
          </a:p>
          <a:p>
            <a:r>
              <a:rPr lang="fr-FR" noProof="0" dirty="0"/>
              <a:t>Raisonnement probabiliste</a:t>
            </a:r>
          </a:p>
          <a:p>
            <a:r>
              <a:rPr lang="fr-FR" noProof="0" dirty="0"/>
              <a:t>Raisonnement probabiliste temporel</a:t>
            </a:r>
          </a:p>
          <a:p>
            <a:pPr lvl="1"/>
            <a:r>
              <a:rPr lang="fr-FR" dirty="0"/>
              <a:t>Chaînes de Markov</a:t>
            </a:r>
          </a:p>
          <a:p>
            <a:pPr lvl="1"/>
            <a:r>
              <a:rPr lang="fr-FR" noProof="0" dirty="0"/>
              <a:t>Modèles de Markov Cachés</a:t>
            </a:r>
          </a:p>
          <a:p>
            <a:pPr lvl="1"/>
            <a:r>
              <a:rPr lang="fr-FR" noProof="0" dirty="0"/>
              <a:t>Réseaux Bayésiens dynamiques</a:t>
            </a:r>
          </a:p>
          <a:p>
            <a:pPr lvl="1"/>
            <a:r>
              <a:rPr lang="fr-FR" noProof="0" dirty="0"/>
              <a:t>Filtrage particulaire</a:t>
            </a:r>
          </a:p>
          <a:p>
            <a:r>
              <a:rPr lang="fr-FR" noProof="0" dirty="0"/>
              <a:t>Prise de décision simple</a:t>
            </a:r>
          </a:p>
          <a:p>
            <a:r>
              <a:rPr lang="fr-FR" noProof="0" dirty="0"/>
              <a:t>Prise de décision complexe</a:t>
            </a:r>
          </a:p>
          <a:p>
            <a:r>
              <a:rPr lang="fr-FR" noProof="0" dirty="0"/>
              <a:t>TP: Inférence avec des modèles probabilistes simples et temporels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40465933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Raisonner dans le temps ou l’espace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Souvent, nous souhaitons raisonner à propos d’une séquence d’observations</a:t>
            </a:r>
          </a:p>
          <a:p>
            <a:pPr lvl="1"/>
            <a:r>
              <a:rPr lang="fr-FR" noProof="0" dirty="0"/>
              <a:t>Reconnaissance de la parole</a:t>
            </a:r>
          </a:p>
          <a:p>
            <a:pPr lvl="1"/>
            <a:r>
              <a:rPr lang="fr-FR" noProof="0" dirty="0"/>
              <a:t>Localisation d’un robot</a:t>
            </a:r>
          </a:p>
          <a:p>
            <a:pPr lvl="1"/>
            <a:r>
              <a:rPr lang="fr-FR" noProof="0" dirty="0"/>
              <a:t>Attention d’un utilisateur</a:t>
            </a:r>
          </a:p>
          <a:p>
            <a:pPr lvl="1"/>
            <a:r>
              <a:rPr lang="fr-FR" noProof="0" dirty="0"/>
              <a:t>Monitoring médical</a:t>
            </a:r>
          </a:p>
          <a:p>
            <a:pPr lvl="1"/>
            <a:r>
              <a:rPr lang="fr-FR" dirty="0"/>
              <a:t>Suivi radar</a:t>
            </a:r>
          </a:p>
          <a:p>
            <a:r>
              <a:rPr lang="fr-FR" noProof="0" dirty="0"/>
              <a:t>Besoin d’introduire le temps (ou l’espace) dans nos modèles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B329DB54-6D37-4426-A7E4-F1AE9219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123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Modèles de Markov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FR" noProof="0" dirty="0"/>
                  <a:t>Un </a:t>
                </a:r>
                <a:r>
                  <a:rPr lang="fr-FR" dirty="0"/>
                  <a:t>modèle (ou une chaîne) de Markov est</a:t>
                </a:r>
                <a:r>
                  <a:rPr lang="fr-FR" noProof="0" dirty="0"/>
                  <a:t>: </a:t>
                </a:r>
              </a:p>
              <a:p>
                <a:pPr lvl="1"/>
                <a:r>
                  <a:rPr lang="fr-FR" noProof="0" dirty="0"/>
                  <a:t>Un réseau bayésien possédant une structure de chaîne</a:t>
                </a:r>
              </a:p>
              <a:p>
                <a:pPr lvl="1"/>
                <a:endParaRPr lang="fr-FR" noProof="0" dirty="0"/>
              </a:p>
              <a:p>
                <a:pPr lvl="1"/>
                <a:endParaRPr lang="fr-FR" noProof="0" dirty="0"/>
              </a:p>
              <a:p>
                <a:pPr lvl="1"/>
                <a:endParaRPr lang="fr-FR" noProof="0" dirty="0"/>
              </a:p>
              <a:p>
                <a:r>
                  <a:rPr lang="fr-FR" noProof="0" dirty="0"/>
                  <a:t>A Markov model comprend: </a:t>
                </a:r>
              </a:p>
              <a:p>
                <a:pPr lvl="1"/>
                <a:r>
                  <a:rPr lang="fr-FR" noProof="0" dirty="0"/>
                  <a:t>Des variables aléatoires </a:t>
                </a:r>
                <a:r>
                  <a:rPr lang="fr-FR" noProof="0" dirty="0" err="1"/>
                  <a:t>X</a:t>
                </a:r>
                <a:r>
                  <a:rPr lang="fr-FR" baseline="-25000" noProof="0" dirty="0" err="1"/>
                  <a:t>t</a:t>
                </a:r>
                <a:r>
                  <a:rPr lang="fr-FR" baseline="-25000" noProof="0" dirty="0"/>
                  <a:t> </a:t>
                </a:r>
                <a:r>
                  <a:rPr lang="fr-FR" noProof="0" dirty="0"/>
                  <a:t>pour  chaque temps t (l’état) </a:t>
                </a:r>
              </a:p>
              <a:p>
                <a:pPr lvl="1"/>
                <a:r>
                  <a:rPr lang="fr-FR" noProof="0" dirty="0"/>
                  <a:t>Paramètres: Appelés probabilités de transitions ou dynamiques, </a:t>
                </a:r>
                <a:r>
                  <a:rPr lang="fr-FR" dirty="0"/>
                  <a:t>ils spécifient comment le système évolue dans le temps</a:t>
                </a:r>
                <a:r>
                  <a:rPr lang="fr-FR" noProof="0" dirty="0"/>
                  <a:t> (ainsi que les probabilités initiales)</a:t>
                </a:r>
                <a:br>
                  <a:rPr lang="fr-FR" noProof="0" dirty="0"/>
                </a:b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 </m:t>
                    </m:r>
                    <m:r>
                      <a:rPr lang="fr-FR" b="0" i="1" noProof="0" smtClean="0">
                        <a:latin typeface="Cambria Math"/>
                      </a:rPr>
                      <m:t>𝑎𝑛𝑑</m:t>
                    </m:r>
                    <m:r>
                      <a:rPr lang="fr-FR" b="0" i="1" noProof="0" smtClean="0">
                        <a:latin typeface="Cambria Math"/>
                      </a:rPr>
                      <m:t> </m:t>
                    </m:r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</a:rPr>
                          <m:t>𝑡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fr-FR" b="0" i="1" noProof="0" smtClean="0">
                        <a:latin typeface="Cambria Math"/>
                      </a:rPr>
                      <m:t>)</m:t>
                    </m:r>
                  </m:oMath>
                </a14:m>
                <a:endParaRPr lang="fr-FR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9" t="-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2667000"/>
            <a:ext cx="37528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996C3D-B6AA-488A-A94D-8B92A310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3529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Distribution de probabilités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endParaRPr lang="fr-FR" noProof="0" dirty="0"/>
              </a:p>
              <a:p>
                <a:endParaRPr lang="fr-FR" noProof="0" dirty="0"/>
              </a:p>
              <a:p>
                <a:r>
                  <a:rPr lang="fr-FR" noProof="0" dirty="0"/>
                  <a:t>Une chaîne de Markov définit une distribution de probabilités conjointes:</a:t>
                </a:r>
                <a:br>
                  <a:rPr lang="fr-FR" noProof="0" dirty="0"/>
                </a:b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=</m:t>
                    </m:r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nary>
                      <m:naryPr>
                        <m:chr m:val="∏"/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noProof="0" smtClean="0">
                            <a:latin typeface="Cambria Math"/>
                          </a:rPr>
                          <m:t>𝑡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=2</m:t>
                        </m:r>
                      </m:sub>
                      <m:sup>
                        <m:r>
                          <a:rPr lang="fr-FR" b="0" i="1" noProof="0" smtClean="0">
                            <a:latin typeface="Cambria Math"/>
                          </a:rPr>
                          <m:t>𝑁</m:t>
                        </m:r>
                      </m:sup>
                      <m:e>
                        <m:r>
                          <a:rPr lang="fr-FR" b="0" i="1" noProof="0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noProof="0" smtClean="0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b="0" i="1" noProof="0" smtClean="0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fr-FR" b="0" i="1" noProof="0" smtClean="0">
                                <a:latin typeface="Cambria Math"/>
                              </a:rPr>
                              <m:t> </m:t>
                            </m:r>
                          </m:e>
                        </m:d>
                        <m:r>
                          <a:rPr lang="fr-FR" b="0" i="1" noProof="0" smtClean="0"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fr-FR" b="0" i="1" noProof="0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fr-FR" noProof="0" dirty="0"/>
              </a:p>
              <a:p>
                <a:r>
                  <a:rPr lang="fr-FR" noProof="0" dirty="0"/>
                  <a:t>Un problème d’inférence commun: calculer les probabilités marginales P(</a:t>
                </a:r>
                <a:r>
                  <a:rPr lang="fr-FR" noProof="0" dirty="0" err="1"/>
                  <a:t>X</a:t>
                </a:r>
                <a:r>
                  <a:rPr lang="fr-FR" baseline="-25000" noProof="0" dirty="0" err="1"/>
                  <a:t>t</a:t>
                </a:r>
                <a:r>
                  <a:rPr lang="fr-FR" noProof="0" dirty="0"/>
                  <a:t> ) pour chaque temps 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766" y="1695450"/>
            <a:ext cx="37528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F84814-54D7-40E0-BCFB-AD4B867A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2657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Indépendance conditionnelle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endParaRPr lang="fr-FR" noProof="0" dirty="0"/>
          </a:p>
          <a:p>
            <a:endParaRPr lang="fr-FR" noProof="0" dirty="0"/>
          </a:p>
          <a:p>
            <a:endParaRPr lang="fr-FR" noProof="0" dirty="0"/>
          </a:p>
          <a:p>
            <a:endParaRPr lang="fr-FR" noProof="0" dirty="0"/>
          </a:p>
          <a:p>
            <a:r>
              <a:rPr lang="fr-FR" noProof="0" dirty="0"/>
              <a:t>Indépendance conditionnelle basique: </a:t>
            </a:r>
          </a:p>
          <a:p>
            <a:pPr lvl="1"/>
            <a:r>
              <a:rPr lang="fr-FR" noProof="0" dirty="0"/>
              <a:t>Passé et future indépendants conditionnellement au  </a:t>
            </a:r>
            <a:r>
              <a:rPr lang="fr-FR" dirty="0"/>
              <a:t>présent</a:t>
            </a:r>
            <a:endParaRPr lang="fr-FR" noProof="0" dirty="0"/>
          </a:p>
          <a:p>
            <a:pPr lvl="1"/>
            <a:r>
              <a:rPr lang="fr-FR" noProof="0" dirty="0"/>
              <a:t>Chaque étape dépend uniquement de la précédente</a:t>
            </a:r>
          </a:p>
          <a:p>
            <a:r>
              <a:rPr lang="fr-FR" noProof="0" dirty="0"/>
              <a:t>On l’appelle la </a:t>
            </a:r>
            <a:r>
              <a:rPr lang="fr-FR" noProof="0" dirty="0">
                <a:solidFill>
                  <a:srgbClr val="FF0000"/>
                </a:solidFill>
              </a:rPr>
              <a:t>propriété de Markov</a:t>
            </a:r>
            <a:r>
              <a:rPr lang="fr-FR" noProof="0" dirty="0"/>
              <a:t> (du premier ordre) </a:t>
            </a:r>
          </a:p>
          <a:p>
            <a:pPr lvl="1"/>
            <a:r>
              <a:rPr lang="fr-FR" noProof="0" dirty="0"/>
              <a:t>On note que la chaine est simplement un Réseau bayésien (extensible) : On peut toujours utiliser le raisonnement des RB classiques si on tronque la chaine à une longueur donnée.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600200"/>
            <a:ext cx="708660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00A20B4-E308-4C76-AD8D-821287C5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061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Exemple: Chaîne de Markov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r-FR" noProof="0" dirty="0"/>
                  <a:t>Météo: </a:t>
                </a:r>
              </a:p>
              <a:p>
                <a:pPr lvl="1"/>
                <a:r>
                  <a:rPr lang="fr-FR" noProof="0" dirty="0"/>
                  <a:t>Etats: X = {</a:t>
                </a:r>
                <a:r>
                  <a:rPr lang="fr-FR" noProof="0" dirty="0" err="1"/>
                  <a:t>rain</a:t>
                </a:r>
                <a:r>
                  <a:rPr lang="fr-FR" noProof="0" dirty="0"/>
                  <a:t>, </a:t>
                </a:r>
                <a:r>
                  <a:rPr lang="fr-FR" noProof="0" dirty="0" err="1"/>
                  <a:t>sun</a:t>
                </a:r>
                <a:r>
                  <a:rPr lang="fr-FR" noProof="0" dirty="0"/>
                  <a:t>} </a:t>
                </a:r>
              </a:p>
              <a:p>
                <a:pPr lvl="1"/>
                <a:r>
                  <a:rPr lang="fr-FR" noProof="0" dirty="0"/>
                  <a:t>Transitions:</a:t>
                </a:r>
              </a:p>
              <a:p>
                <a:pPr lvl="1"/>
                <a:endParaRPr lang="fr-FR" noProof="0" dirty="0"/>
              </a:p>
              <a:p>
                <a:pPr lvl="1"/>
                <a:endParaRPr lang="fr-FR" noProof="0" dirty="0"/>
              </a:p>
              <a:p>
                <a:pPr lvl="1"/>
                <a:r>
                  <a:rPr lang="fr-FR" noProof="0" dirty="0"/>
                  <a:t>Distribution initiale: 1.0 </a:t>
                </a:r>
                <a:r>
                  <a:rPr lang="fr-FR" noProof="0" dirty="0" err="1"/>
                  <a:t>sun</a:t>
                </a:r>
                <a:r>
                  <a:rPr lang="fr-FR" noProof="0" dirty="0"/>
                  <a:t> </a:t>
                </a:r>
              </a:p>
              <a:p>
                <a:pPr lvl="1"/>
                <a:r>
                  <a:rPr lang="fr-FR" noProof="0" dirty="0"/>
                  <a:t>Quelle est la distribution de probabilité après une étape?</a:t>
                </a:r>
              </a:p>
              <a:p>
                <a:pPr lvl="1"/>
                <a:endParaRPr lang="fr-FR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noProof="0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fr-FR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noProof="0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noProof="0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b="0" i="1" noProof="0" smtClean="0">
                              <a:latin typeface="Cambria Math"/>
                            </a:rPr>
                            <m:t>=</m:t>
                          </m:r>
                          <m:r>
                            <a:rPr lang="fr-FR" b="0" i="1" noProof="0" smtClean="0">
                              <a:latin typeface="Cambria Math"/>
                            </a:rPr>
                            <m:t>𝑠𝑢𝑛</m:t>
                          </m:r>
                        </m:e>
                      </m:d>
                      <m:r>
                        <a:rPr lang="fr-FR" b="0" i="1" noProof="0" smtClean="0">
                          <a:latin typeface="Cambria Math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fr-FR" b="0" i="1" noProof="0" smtClean="0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fr-FR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noProof="0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noProof="0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b="0" i="1" noProof="0" smtClean="0">
                              <a:latin typeface="Cambria Math"/>
                            </a:rPr>
                            <m:t>=</m:t>
                          </m:r>
                          <m:r>
                            <a:rPr lang="fr-FR" b="0" i="1" noProof="0" smtClean="0">
                              <a:latin typeface="Cambria Math"/>
                            </a:rPr>
                            <m:t>𝑠𝑢𝑛</m:t>
                          </m:r>
                          <m:r>
                            <a:rPr lang="fr-FR" b="0" i="1" noProof="0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fr-FR" b="0" i="1" noProof="0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fr-F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noProof="0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b="0" i="1" noProof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b="0" i="1" noProof="0" smtClean="0">
                          <a:latin typeface="Cambria Math"/>
                        </a:rPr>
                        <m:t>=</m:t>
                      </m:r>
                      <m:r>
                        <a:rPr lang="fr-FR" b="0" i="1" noProof="0" smtClean="0">
                          <a:latin typeface="Cambria Math"/>
                        </a:rPr>
                        <m:t>𝑠𝑢𝑛</m:t>
                      </m:r>
                      <m:r>
                        <a:rPr lang="fr-FR" b="0" i="1" noProof="0" smtClean="0">
                          <a:latin typeface="Cambria Math"/>
                        </a:rPr>
                        <m:t>) </m:t>
                      </m:r>
                      <m:r>
                        <a:rPr lang="fr-FR" b="0" i="1" noProof="0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fr-FR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noProof="0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noProof="0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noProof="0" smtClean="0">
                              <a:latin typeface="Cambria Math"/>
                            </a:rPr>
                            <m:t>=</m:t>
                          </m:r>
                          <m:r>
                            <a:rPr lang="fr-FR" b="0" i="1" noProof="0" smtClean="0">
                              <a:latin typeface="Cambria Math"/>
                            </a:rPr>
                            <m:t>𝑠𝑢𝑛</m:t>
                          </m:r>
                        </m:e>
                      </m:d>
                      <m:r>
                        <a:rPr lang="fr-FR" b="0" i="1" noProof="0" smtClean="0">
                          <a:latin typeface="Cambria Math"/>
                        </a:rPr>
                        <m:t>+</m:t>
                      </m:r>
                    </m:oMath>
                    <m:oMath xmlns:m="http://schemas.openxmlformats.org/officeDocument/2006/math">
                      <m:r>
                        <a:rPr lang="fr-FR" b="0" i="1" noProof="0" smtClean="0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fr-FR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noProof="0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noProof="0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b="0" i="1" noProof="0" smtClean="0">
                              <a:latin typeface="Cambria Math"/>
                            </a:rPr>
                            <m:t>=</m:t>
                          </m:r>
                          <m:r>
                            <a:rPr lang="fr-FR" b="0" i="1" noProof="0" smtClean="0">
                              <a:latin typeface="Cambria Math"/>
                            </a:rPr>
                            <m:t>𝑠𝑢𝑛</m:t>
                          </m:r>
                          <m:r>
                            <a:rPr lang="fr-FR" b="0" i="1" noProof="0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fr-FR" b="0" i="1" noProof="0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fr-F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noProof="0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b="0" i="1" noProof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b="0" i="1" noProof="0" smtClean="0">
                          <a:latin typeface="Cambria Math"/>
                        </a:rPr>
                        <m:t>=</m:t>
                      </m:r>
                      <m:r>
                        <a:rPr lang="fr-FR" b="0" i="1" noProof="0" smtClean="0">
                          <a:latin typeface="Cambria Math"/>
                        </a:rPr>
                        <m:t>𝑟𝑎𝑖𝑛</m:t>
                      </m:r>
                      <m:r>
                        <a:rPr lang="fr-FR" b="0" i="1" noProof="0" smtClean="0">
                          <a:latin typeface="Cambria Math"/>
                        </a:rPr>
                        <m:t>) </m:t>
                      </m:r>
                      <m:r>
                        <a:rPr lang="fr-FR" b="0" i="1" noProof="0" smtClean="0">
                          <a:latin typeface="Cambria Math"/>
                        </a:rPr>
                        <m:t>𝑃</m:t>
                      </m:r>
                      <m:r>
                        <a:rPr lang="fr-FR" b="0" i="1" noProof="0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fr-F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noProof="0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b="0" i="1" noProof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b="0" i="1" noProof="0" smtClean="0">
                          <a:latin typeface="Cambria Math"/>
                        </a:rPr>
                        <m:t>=</m:t>
                      </m:r>
                      <m:r>
                        <a:rPr lang="fr-FR" b="0" i="1" noProof="0" smtClean="0">
                          <a:latin typeface="Cambria Math"/>
                        </a:rPr>
                        <m:t>𝑟𝑎𝑖𝑛</m:t>
                      </m:r>
                      <m:r>
                        <a:rPr lang="fr-FR" b="0" i="1" noProof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9" t="-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722392"/>
            <a:ext cx="3495675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40BD7965-C68F-45A9-A5DD-3914748DB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E3908B8-5D50-4510-981D-C61160601589}"/>
              </a:ext>
            </a:extLst>
          </p:cNvPr>
          <p:cNvSpPr txBox="1"/>
          <p:nvPr/>
        </p:nvSpPr>
        <p:spPr>
          <a:xfrm>
            <a:off x="5334000" y="3064022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0.7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4A87D3-F671-4543-8501-DE471FB43B08}"/>
              </a:ext>
            </a:extLst>
          </p:cNvPr>
          <p:cNvSpPr txBox="1"/>
          <p:nvPr/>
        </p:nvSpPr>
        <p:spPr>
          <a:xfrm>
            <a:off x="6096000" y="1875692"/>
            <a:ext cx="457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0.3</a:t>
            </a:r>
          </a:p>
        </p:txBody>
      </p:sp>
    </p:spTree>
    <p:extLst>
      <p:ext uri="{BB962C8B-B14F-4D97-AF65-F5344CB8AC3E}">
        <p14:creationId xmlns:p14="http://schemas.microsoft.com/office/powerpoint/2010/main" val="19283452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Inférence sur chaînes de Markov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r-FR" noProof="0" dirty="0"/>
                  <a:t>Question: Probabilité d’être à un état x au temps t? </a:t>
                </a:r>
              </a:p>
              <a:p>
                <a:r>
                  <a:rPr lang="fr-FR" noProof="0" dirty="0"/>
                  <a:t>Réponse lente: </a:t>
                </a:r>
              </a:p>
              <a:p>
                <a:pPr lvl="1"/>
                <a:r>
                  <a:rPr lang="fr-FR" noProof="0" dirty="0"/>
                  <a:t>Enumérer toutes les séquences de longueur t qui finissent en s</a:t>
                </a:r>
              </a:p>
              <a:p>
                <a:pPr lvl="1"/>
                <a:r>
                  <a:rPr lang="fr-FR" noProof="0" dirty="0"/>
                  <a:t>Ajouter leur probabilités p</a:t>
                </a:r>
              </a:p>
              <a:p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=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𝑠𝑢𝑛</m:t>
                        </m:r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fr-FR" b="0" i="1" noProof="0" smtClean="0">
                            <a:latin typeface="Cambria Math"/>
                          </a:rPr>
                          <m:t>…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fr-FR" b="0" i="1" noProof="0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sub>
                      <m:sup/>
                      <m:e>
                        <m:r>
                          <a:rPr lang="fr-FR" b="0" i="1" noProof="0" smtClean="0">
                            <a:latin typeface="Cambria Math"/>
                          </a:rPr>
                          <m:t>𝑃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,…</m:t>
                        </m:r>
                      </m:e>
                    </m:nary>
                    <m:r>
                      <a:rPr lang="fr-FR" b="0" i="1" noProof="0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</a:rPr>
                          <m:t>𝑡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fr-FR" b="0" i="1" noProof="0" smtClean="0">
                        <a:latin typeface="Cambria Math"/>
                      </a:rPr>
                      <m:t>, </m:t>
                    </m:r>
                    <m:r>
                      <a:rPr lang="fr-FR" b="0" i="1" noProof="0" smtClean="0">
                        <a:latin typeface="Cambria Math"/>
                      </a:rPr>
                      <m:t>𝑠𝑢𝑛</m:t>
                    </m:r>
                    <m:r>
                      <a:rPr lang="fr-FR" b="0" i="1" noProof="0" smtClean="0">
                        <a:latin typeface="Cambria Math"/>
                      </a:rPr>
                      <m:t>) </m:t>
                    </m:r>
                  </m:oMath>
                </a14:m>
                <a:endParaRPr lang="fr-FR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9" t="-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191000"/>
            <a:ext cx="8763000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11C330-BF71-4DBF-B205-CCC9AF6F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5255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Distribution conjointe de modèle de Markov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fr-FR" noProof="0" dirty="0"/>
                  <a:t>Distribution conjointe:</a:t>
                </a:r>
                <a:br>
                  <a:rPr lang="fr-FR" noProof="0" dirty="0"/>
                </a:br>
                <a:r>
                  <a:rPr lang="fr-FR" noProof="0" dirty="0"/>
                  <a:t>P(X</a:t>
                </a:r>
                <a:r>
                  <a:rPr lang="fr-FR" baseline="-25000" noProof="0" dirty="0"/>
                  <a:t>1</a:t>
                </a:r>
                <a:r>
                  <a:rPr lang="fr-FR" noProof="0" dirty="0"/>
                  <a:t>, X</a:t>
                </a:r>
                <a:r>
                  <a:rPr lang="fr-FR" baseline="-25000" noProof="0" dirty="0"/>
                  <a:t>2</a:t>
                </a:r>
                <a:r>
                  <a:rPr lang="fr-FR" noProof="0" dirty="0"/>
                  <a:t>, X</a:t>
                </a:r>
                <a:r>
                  <a:rPr lang="fr-FR" baseline="-25000" noProof="0" dirty="0"/>
                  <a:t>3,</a:t>
                </a:r>
                <a:r>
                  <a:rPr lang="fr-FR" noProof="0" dirty="0"/>
                  <a:t> X</a:t>
                </a:r>
                <a:r>
                  <a:rPr lang="fr-FR" baseline="-25000" noProof="0" dirty="0"/>
                  <a:t>4</a:t>
                </a:r>
                <a:r>
                  <a:rPr lang="fr-FR" noProof="0" dirty="0"/>
                  <a:t>) = P(X</a:t>
                </a:r>
                <a:r>
                  <a:rPr lang="fr-FR" baseline="-25000" noProof="0" dirty="0"/>
                  <a:t>1</a:t>
                </a:r>
                <a:r>
                  <a:rPr lang="fr-FR" noProof="0" dirty="0"/>
                  <a:t>)P(X</a:t>
                </a:r>
                <a:r>
                  <a:rPr lang="fr-FR" baseline="-25000" noProof="0" dirty="0"/>
                  <a:t>2 </a:t>
                </a:r>
                <a:r>
                  <a:rPr lang="fr-FR" noProof="0" dirty="0"/>
                  <a:t>|X</a:t>
                </a:r>
                <a:r>
                  <a:rPr lang="fr-FR" baseline="-25000" noProof="0" dirty="0"/>
                  <a:t>1</a:t>
                </a:r>
                <a:r>
                  <a:rPr lang="fr-FR" noProof="0" dirty="0"/>
                  <a:t>)P(X</a:t>
                </a:r>
                <a:r>
                  <a:rPr lang="fr-FR" baseline="-25000" noProof="0" dirty="0"/>
                  <a:t>3 </a:t>
                </a:r>
                <a:r>
                  <a:rPr lang="fr-FR" noProof="0" dirty="0"/>
                  <a:t>| X</a:t>
                </a:r>
                <a:r>
                  <a:rPr lang="fr-FR" baseline="-25000" noProof="0" dirty="0"/>
                  <a:t>2</a:t>
                </a:r>
                <a:r>
                  <a:rPr lang="fr-FR" noProof="0" dirty="0"/>
                  <a:t>)P(X</a:t>
                </a:r>
                <a:r>
                  <a:rPr lang="fr-FR" baseline="-25000" noProof="0" dirty="0"/>
                  <a:t>4 </a:t>
                </a:r>
                <a:r>
                  <a:rPr lang="fr-FR" noProof="0" dirty="0"/>
                  <a:t>| X</a:t>
                </a:r>
                <a:r>
                  <a:rPr lang="fr-FR" baseline="-25000" noProof="0" dirty="0"/>
                  <a:t>3</a:t>
                </a:r>
                <a:r>
                  <a:rPr lang="fr-FR" noProof="0" dirty="0"/>
                  <a:t>)</a:t>
                </a:r>
              </a:p>
              <a:p>
                <a:endParaRPr lang="fr-FR" noProof="0" dirty="0"/>
              </a:p>
              <a:p>
                <a:endParaRPr lang="fr-FR" noProof="0" dirty="0"/>
              </a:p>
              <a:p>
                <a:endParaRPr lang="fr-FR" noProof="0" dirty="0"/>
              </a:p>
              <a:p>
                <a:endParaRPr lang="fr-FR" noProof="0" dirty="0"/>
              </a:p>
              <a:p>
                <a:r>
                  <a:rPr lang="fr-FR" noProof="0" dirty="0"/>
                  <a:t>Plus généralement:</a:t>
                </a:r>
                <a:br>
                  <a:rPr lang="fr-FR" noProof="0" dirty="0"/>
                </a:br>
                <a:r>
                  <a:rPr lang="fr-FR" noProof="0" dirty="0"/>
                  <a:t>P(X</a:t>
                </a:r>
                <a:r>
                  <a:rPr lang="fr-FR" baseline="-25000" noProof="0" dirty="0"/>
                  <a:t>1</a:t>
                </a:r>
                <a:r>
                  <a:rPr lang="fr-FR" noProof="0" dirty="0"/>
                  <a:t>, X</a:t>
                </a:r>
                <a:r>
                  <a:rPr lang="fr-FR" baseline="-25000" noProof="0" dirty="0"/>
                  <a:t>2</a:t>
                </a:r>
                <a:r>
                  <a:rPr lang="fr-FR" noProof="0" dirty="0"/>
                  <a:t>,...,X</a:t>
                </a:r>
                <a:r>
                  <a:rPr lang="fr-FR" baseline="-25000" noProof="0" dirty="0"/>
                  <a:t>T</a:t>
                </a:r>
                <a:r>
                  <a:rPr lang="fr-FR" noProof="0" dirty="0"/>
                  <a:t> ) = </a:t>
                </a:r>
                <a:br>
                  <a:rPr lang="fr-FR" noProof="0" dirty="0"/>
                </a:br>
                <a:r>
                  <a:rPr lang="fr-FR" noProof="0" dirty="0"/>
                  <a:t>P(X</a:t>
                </a:r>
                <a:r>
                  <a:rPr lang="fr-FR" baseline="-25000" noProof="0" dirty="0"/>
                  <a:t>1</a:t>
                </a:r>
                <a:r>
                  <a:rPr lang="fr-FR" noProof="0" dirty="0"/>
                  <a:t>)P(X</a:t>
                </a:r>
                <a:r>
                  <a:rPr lang="fr-FR" baseline="-25000" noProof="0" dirty="0"/>
                  <a:t>2 </a:t>
                </a:r>
                <a:r>
                  <a:rPr lang="fr-FR" noProof="0" dirty="0"/>
                  <a:t>|X</a:t>
                </a:r>
                <a:r>
                  <a:rPr lang="fr-FR" baseline="-25000" noProof="0" dirty="0"/>
                  <a:t>1</a:t>
                </a:r>
                <a:r>
                  <a:rPr lang="fr-FR" noProof="0" dirty="0"/>
                  <a:t>)P(X</a:t>
                </a:r>
                <a:r>
                  <a:rPr lang="fr-FR" baseline="-25000" noProof="0" dirty="0"/>
                  <a:t>3 </a:t>
                </a:r>
                <a:r>
                  <a:rPr lang="fr-FR" noProof="0" dirty="0"/>
                  <a:t>| X</a:t>
                </a:r>
                <a:r>
                  <a:rPr lang="fr-FR" baseline="-25000" noProof="0" dirty="0"/>
                  <a:t>2</a:t>
                </a:r>
                <a:r>
                  <a:rPr lang="fr-FR" noProof="0" dirty="0"/>
                  <a:t>)...P(X</a:t>
                </a:r>
                <a:r>
                  <a:rPr lang="fr-FR" baseline="-25000" noProof="0" dirty="0"/>
                  <a:t>T</a:t>
                </a:r>
                <a:r>
                  <a:rPr lang="fr-FR" noProof="0" dirty="0"/>
                  <a:t> |X</a:t>
                </a:r>
                <a:r>
                  <a:rPr lang="fr-FR" baseline="-25000" noProof="0" dirty="0"/>
                  <a:t>T-1</a:t>
                </a:r>
                <a:r>
                  <a:rPr lang="fr-FR" noProof="0" dirty="0"/>
                  <a:t>) = </a:t>
                </a:r>
                <a:br>
                  <a:rPr lang="fr-FR" noProof="0" dirty="0"/>
                </a:br>
                <a:r>
                  <a:rPr lang="fr-FR" noProof="0" dirty="0"/>
                  <a:t>P(X</a:t>
                </a:r>
                <a:r>
                  <a:rPr lang="fr-FR" baseline="-25000" noProof="0" dirty="0"/>
                  <a:t>1</a:t>
                </a:r>
                <a:r>
                  <a:rPr lang="fr-FR" noProof="0" dirty="0"/>
                  <a:t>)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noProof="0" smtClean="0">
                            <a:latin typeface="Cambria Math"/>
                          </a:rPr>
                          <m:t>𝑡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=2</m:t>
                        </m:r>
                      </m:sub>
                      <m:sup>
                        <m:r>
                          <a:rPr lang="fr-FR" b="0" i="1" noProof="0" smtClean="0">
                            <a:latin typeface="Cambria Math"/>
                          </a:rPr>
                          <m:t>𝑇</m:t>
                        </m:r>
                      </m:sup>
                      <m:e>
                        <m:r>
                          <a:rPr lang="fr-FR" b="0" i="1" noProof="0" smtClean="0">
                            <a:latin typeface="Cambria Math"/>
                          </a:rPr>
                          <m:t>𝑃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fr-FR" b="0" i="1" noProof="0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fr-FR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9" t="-21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2790825"/>
            <a:ext cx="418147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8DAA13-02E3-43A2-B7BF-697FE1A9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327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Récapitulatif modèles de Markov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r-FR" noProof="0" dirty="0"/>
                  <a:t>La distribution conjointe </a:t>
                </a:r>
                <a:br>
                  <a:rPr lang="fr-FR" noProof="0" dirty="0"/>
                </a:br>
                <a:r>
                  <a:rPr lang="fr-FR" noProof="0" dirty="0"/>
                  <a:t>peut être écrite comme: </a:t>
                </a:r>
              </a:p>
              <a:p>
                <a:pPr lvl="1"/>
                <a:r>
                  <a:rPr lang="fr-FR" noProof="0" dirty="0"/>
                  <a:t>P(X</a:t>
                </a:r>
                <a:r>
                  <a:rPr lang="fr-FR" baseline="-25000" noProof="0" dirty="0"/>
                  <a:t>1</a:t>
                </a:r>
                <a:r>
                  <a:rPr lang="fr-FR" noProof="0" dirty="0"/>
                  <a:t>, X</a:t>
                </a:r>
                <a:r>
                  <a:rPr lang="fr-FR" baseline="-25000" noProof="0" dirty="0"/>
                  <a:t>2</a:t>
                </a:r>
                <a:r>
                  <a:rPr lang="fr-FR" noProof="0" dirty="0"/>
                  <a:t>,...,X</a:t>
                </a:r>
                <a:r>
                  <a:rPr lang="fr-FR" baseline="-25000" noProof="0" dirty="0"/>
                  <a:t>T</a:t>
                </a:r>
                <a:r>
                  <a:rPr lang="fr-FR" noProof="0" dirty="0"/>
                  <a:t> ) = P(X</a:t>
                </a:r>
                <a:r>
                  <a:rPr lang="fr-FR" baseline="-25000" noProof="0" dirty="0"/>
                  <a:t>1</a:t>
                </a:r>
                <a:r>
                  <a:rPr lang="fr-FR" noProof="0" dirty="0"/>
                  <a:t>)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fr-FR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i="1" noProof="0">
                            <a:latin typeface="Cambria Math"/>
                          </a:rPr>
                          <m:t>𝑡</m:t>
                        </m:r>
                        <m:r>
                          <a:rPr lang="fr-FR" i="1" noProof="0">
                            <a:latin typeface="Cambria Math"/>
                          </a:rPr>
                          <m:t>=2</m:t>
                        </m:r>
                      </m:sub>
                      <m:sup>
                        <m:r>
                          <a:rPr lang="fr-FR" i="1" noProof="0">
                            <a:latin typeface="Cambria Math"/>
                          </a:rPr>
                          <m:t>𝑇</m:t>
                        </m:r>
                      </m:sup>
                      <m:e>
                        <m:r>
                          <a:rPr lang="fr-FR" i="1" noProof="0">
                            <a:latin typeface="Cambria Math"/>
                          </a:rPr>
                          <m:t>𝑃</m:t>
                        </m:r>
                        <m:r>
                          <a:rPr lang="fr-FR" i="1" noProof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fr-FR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noProof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i="1" noProof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fr-FR" i="1" noProof="0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fr-FR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noProof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i="1" noProof="0">
                                <a:latin typeface="Cambria Math"/>
                              </a:rPr>
                              <m:t>𝑡</m:t>
                            </m:r>
                            <m:r>
                              <a:rPr lang="fr-FR" i="1" noProof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fr-FR" i="1" noProof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fr-FR" noProof="0" dirty="0"/>
              </a:p>
              <a:p>
                <a:r>
                  <a:rPr lang="fr-FR" noProof="0" dirty="0"/>
                  <a:t>Indépendance conditionnelle supposée: </a:t>
                </a:r>
                <a:endParaRPr lang="fr-FR" dirty="0"/>
              </a:p>
              <a:p>
                <a:pPr lvl="1"/>
                <a:r>
                  <a:rPr lang="fr-FR" noProof="0" dirty="0"/>
                  <a:t>Le futur est indépendant du passé </a:t>
                </a:r>
                <a:br>
                  <a:rPr lang="fr-FR" noProof="0" dirty="0"/>
                </a:br>
                <a:r>
                  <a:rPr lang="fr-FR" noProof="0" dirty="0"/>
                  <a:t>étant donné le présent</a:t>
                </a:r>
              </a:p>
              <a:p>
                <a:r>
                  <a:rPr lang="fr-FR" noProof="0" dirty="0"/>
                  <a:t>Hypothèse additionnelle explicite:</a:t>
                </a:r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 noProof="0">
                        <a:latin typeface="Cambria Math"/>
                      </a:rPr>
                      <m:t>𝑃</m:t>
                    </m:r>
                    <m:r>
                      <a:rPr lang="fr-FR" i="1" noProof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fr-FR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noProof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i="1" noProof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fr-FR" i="1" noProof="0">
                        <a:latin typeface="Cambria Math"/>
                      </a:rPr>
                      <m:t>|</m:t>
                    </m:r>
                    <m:sSub>
                      <m:sSubPr>
                        <m:ctrlPr>
                          <a:rPr lang="fr-FR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noProof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i="1" noProof="0">
                            <a:latin typeface="Cambria Math"/>
                          </a:rPr>
                          <m:t>𝑡</m:t>
                        </m:r>
                        <m:r>
                          <a:rPr lang="fr-FR" i="1" noProof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fr-FR" noProof="0" dirty="0"/>
                  <a:t>) est le même pour tout 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9" t="-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1371600"/>
            <a:ext cx="2095500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A2430B-38A2-4AFB-920B-36C47DB2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2327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 Mini-</a:t>
            </a:r>
            <a:r>
              <a:rPr lang="fr-FR" dirty="0" err="1"/>
              <a:t>Forward</a:t>
            </a:r>
            <a:endParaRPr lang="fr-F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r-FR" noProof="0" dirty="0"/>
                  <a:t>Question: Quel est P(X) à une date t? </a:t>
                </a:r>
              </a:p>
              <a:p>
                <a:pPr lvl="1"/>
                <a:r>
                  <a:rPr lang="fr-FR" noProof="0" dirty="0"/>
                  <a:t>Nous n’avons pas à énumérer chaque séquence</a:t>
                </a:r>
              </a:p>
              <a:p>
                <a:endParaRPr lang="fr-FR" noProof="0" dirty="0"/>
              </a:p>
              <a:p>
                <a:endParaRPr lang="fr-FR" noProof="0" dirty="0"/>
              </a:p>
              <a:p>
                <a:endParaRPr lang="fr-FR" noProof="0" dirty="0"/>
              </a:p>
              <a:p>
                <a:pPr marL="0" indent="0">
                  <a:buNone/>
                </a:pPr>
                <a:endParaRPr lang="fr-FR" b="0" noProof="0" dirty="0"/>
              </a:p>
              <a:p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=</m:t>
                    </m:r>
                    <m:r>
                      <a:rPr lang="fr-FR" b="0" i="1" noProof="0" smtClean="0">
                        <a:latin typeface="Cambria Math"/>
                      </a:rPr>
                      <m:t>𝑘𝑛𝑜𝑤𝑛</m:t>
                    </m:r>
                  </m:oMath>
                </a14:m>
                <a:endParaRPr lang="fr-FR" b="0" noProof="0" dirty="0"/>
              </a:p>
              <a:p>
                <a14:m>
                  <m:oMath xmlns:m="http://schemas.openxmlformats.org/officeDocument/2006/math">
                    <m:r>
                      <a:rPr lang="fr-FR" i="1" noProof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noProof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 noProof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fr-FR" i="1" noProof="0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fr-FR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fr-FR" b="0" i="1" noProof="0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sub>
                      <m:sup/>
                      <m:e>
                        <m:r>
                          <a:rPr lang="fr-FR" b="0" i="1" noProof="0" smtClean="0">
                            <a:latin typeface="Cambria Math"/>
                          </a:rPr>
                          <m:t>𝑃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fr-FR" b="0" i="1" noProof="0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fr-FR" b="0" i="1" noProof="0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fr-FR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fr-FR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noProof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 noProof="0">
                                <a:latin typeface="Cambria Math"/>
                              </a:rPr>
                              <m:t>𝑡</m:t>
                            </m:r>
                            <m:r>
                              <a:rPr lang="fr-FR" i="1" noProof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sub>
                      <m:sup/>
                      <m:e>
                        <m:r>
                          <a:rPr lang="fr-FR" i="1" noProof="0">
                            <a:latin typeface="Cambria Math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fr-FR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 noProof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 noProof="0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fr-FR" i="1" noProof="0">
                                <a:latin typeface="Cambria Math"/>
                              </a:rPr>
                              <m:t> </m:t>
                            </m:r>
                          </m:e>
                        </m:d>
                        <m:r>
                          <a:rPr lang="fr-FR" i="1" noProof="0"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fr-FR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noProof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 noProof="0">
                                <a:latin typeface="Cambria Math"/>
                              </a:rPr>
                              <m:t>𝑡</m:t>
                            </m:r>
                            <m:r>
                              <a:rPr lang="fr-FR" i="1" noProof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fr-FR" i="1" noProof="0">
                            <a:latin typeface="Cambria Math"/>
                          </a:rPr>
                          <m:t>) </m:t>
                        </m:r>
                        <m:r>
                          <a:rPr lang="fr-FR" i="1" noProof="0">
                            <a:latin typeface="Cambria Math"/>
                          </a:rPr>
                          <m:t>𝑃</m:t>
                        </m:r>
                        <m:r>
                          <a:rPr lang="fr-FR" i="1" noProof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fr-FR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noProof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 noProof="0">
                                <a:latin typeface="Cambria Math"/>
                              </a:rPr>
                              <m:t>𝑡</m:t>
                            </m:r>
                            <m:r>
                              <a:rPr lang="fr-FR" i="1" noProof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fr-FR" i="1" noProof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fr-FR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9" t="-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505075"/>
            <a:ext cx="7010400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0D26C2-8EB0-4B20-95E9-C20F2E018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689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Exemple d’exécution Mini-</a:t>
            </a:r>
            <a:r>
              <a:rPr lang="fr-FR" noProof="0" dirty="0" err="1"/>
              <a:t>Forward</a:t>
            </a:r>
            <a:endParaRPr lang="fr-F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noProof="0" dirty="0"/>
              <a:t>Depuis une observation initial d’ensoleillement:</a:t>
            </a:r>
          </a:p>
          <a:p>
            <a:endParaRPr lang="fr-FR" noProof="0" dirty="0"/>
          </a:p>
          <a:p>
            <a:endParaRPr lang="fr-FR" noProof="0" dirty="0"/>
          </a:p>
          <a:p>
            <a:pPr marL="0" indent="0">
              <a:buNone/>
            </a:pPr>
            <a:endParaRPr lang="fr-FR" noProof="0" dirty="0"/>
          </a:p>
          <a:p>
            <a:r>
              <a:rPr lang="fr-FR" dirty="0"/>
              <a:t>Depuis une observation initial de pluie: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noProof="0" dirty="0"/>
              <a:t>Depuis une autre distribution initiale P(X</a:t>
            </a:r>
            <a:r>
              <a:rPr lang="fr-FR" baseline="-25000" noProof="0" dirty="0"/>
              <a:t>1</a:t>
            </a:r>
            <a:r>
              <a:rPr lang="fr-FR" noProof="0" dirty="0"/>
              <a:t>):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 </a:t>
            </a:r>
            <a:br>
              <a:rPr lang="fr-FR" noProof="0" dirty="0"/>
            </a:br>
            <a:r>
              <a:rPr lang="fr-FR" noProof="0" dirty="0"/>
              <a:t> </a:t>
            </a:r>
          </a:p>
          <a:p>
            <a:endParaRPr lang="fr-FR" dirty="0"/>
          </a:p>
          <a:p>
            <a:endParaRPr lang="fr-FR" noProof="0" dirty="0"/>
          </a:p>
          <a:p>
            <a:pPr marL="0" indent="0">
              <a:buNone/>
            </a:pPr>
            <a:endParaRPr lang="fr-FR" noProof="0" dirty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905000"/>
            <a:ext cx="6400800" cy="1087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405807"/>
            <a:ext cx="7010400" cy="11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BD26EC32-2E30-4289-99F7-A107415C1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E5360EA-D3AF-4674-8737-D8A5BBE0E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24" y="4973123"/>
            <a:ext cx="7851775" cy="118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36897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Distributions stationnaires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r-FR" noProof="0" dirty="0"/>
                  <a:t>Pour la plupart des </a:t>
                </a:r>
                <a:r>
                  <a:rPr lang="fr-FR" noProof="0" dirty="0" err="1"/>
                  <a:t>chaîn</a:t>
                </a:r>
                <a:r>
                  <a:rPr lang="fr-FR" dirty="0"/>
                  <a:t>es</a:t>
                </a:r>
                <a:r>
                  <a:rPr lang="fr-FR" noProof="0" dirty="0"/>
                  <a:t>: </a:t>
                </a:r>
              </a:p>
              <a:p>
                <a:pPr lvl="1"/>
                <a:r>
                  <a:rPr lang="fr-FR" noProof="0" dirty="0"/>
                  <a:t>L’influence de la distribution initiale s’amenuise au court du temps.</a:t>
                </a:r>
              </a:p>
              <a:p>
                <a:pPr lvl="1"/>
                <a:r>
                  <a:rPr lang="fr-FR" noProof="0" dirty="0"/>
                  <a:t>La distribution finale est indépendante de la distribution </a:t>
                </a:r>
                <a:r>
                  <a:rPr lang="fr-FR" dirty="0"/>
                  <a:t>initiale</a:t>
                </a:r>
                <a:r>
                  <a:rPr lang="fr-FR" noProof="0" dirty="0"/>
                  <a:t>.</a:t>
                </a:r>
              </a:p>
              <a:p>
                <a:r>
                  <a:rPr lang="fr-FR" noProof="0" dirty="0"/>
                  <a:t>Distribution stationnaire: </a:t>
                </a:r>
              </a:p>
              <a:p>
                <a:pPr lvl="1"/>
                <a:r>
                  <a:rPr lang="fr-FR" noProof="0" dirty="0"/>
                  <a:t>La distribution finale est appelée distribution stationnaire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fr-FR" i="1" noProof="0" smtClean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</m:sSub>
                  </m:oMath>
                </a14:m>
                <a:r>
                  <a:rPr lang="fr-FR" noProof="0" dirty="0"/>
                  <a:t>de la chaîne</a:t>
                </a:r>
              </a:p>
              <a:p>
                <a:pPr lvl="1"/>
                <a:r>
                  <a:rPr lang="fr-FR" noProof="0" dirty="0"/>
                  <a:t>Elle satisfait:</a:t>
                </a:r>
                <a:br>
                  <a:rPr lang="fr-FR" noProof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fr-FR" i="1" noProof="0" smtClean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</m:sSub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noProof="0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∞+1</m:t>
                        </m:r>
                      </m:sub>
                    </m:sSub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noProof="0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b="0" i="1" noProof="0" smtClean="0">
                            <a:latin typeface="Cambria Math"/>
                          </a:rPr>
                          <m:t>𝑥</m:t>
                        </m:r>
                      </m:sub>
                      <m:sup/>
                      <m:e>
                        <m:r>
                          <a:rPr lang="fr-FR" b="0" i="1" noProof="0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∞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(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𝑥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fr-FR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9" t="-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F8715B57-DE8B-46F0-BAF7-D66B2E3B9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6487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Exemple: distribution stationnaire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Question: Quel est P(X) au temps t = infini?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766" y="2305050"/>
            <a:ext cx="37528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657600"/>
            <a:ext cx="41529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695700"/>
            <a:ext cx="27051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D6FE6DC9-1E34-41B1-925C-89D1FD02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1947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noProof="0" dirty="0"/>
              <a:t>Application : Analyse des liens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noProof="0" dirty="0"/>
              <a:t>PageRank sur </a:t>
            </a:r>
            <a:r>
              <a:rPr lang="fr-FR" dirty="0"/>
              <a:t>un graphe du</a:t>
            </a:r>
            <a:r>
              <a:rPr lang="fr-FR" noProof="0" dirty="0"/>
              <a:t> web</a:t>
            </a:r>
          </a:p>
          <a:p>
            <a:pPr lvl="1"/>
            <a:r>
              <a:rPr lang="fr-FR" noProof="0" dirty="0"/>
              <a:t>Chaque page est un état</a:t>
            </a:r>
          </a:p>
          <a:p>
            <a:pPr lvl="1"/>
            <a:r>
              <a:rPr lang="fr-FR" noProof="0" dirty="0"/>
              <a:t>Distribution initiale: uniforme sur les pages </a:t>
            </a:r>
          </a:p>
          <a:p>
            <a:pPr lvl="1"/>
            <a:r>
              <a:rPr lang="fr-FR" noProof="0" dirty="0"/>
              <a:t>Transitions: </a:t>
            </a:r>
          </a:p>
          <a:p>
            <a:pPr lvl="2"/>
            <a:r>
              <a:rPr lang="fr-FR" noProof="0" dirty="0"/>
              <a:t>Avec la prob. c, saut uniforme vers une page</a:t>
            </a:r>
            <a:br>
              <a:rPr lang="fr-FR" noProof="0" dirty="0"/>
            </a:br>
            <a:r>
              <a:rPr lang="fr-FR" noProof="0" dirty="0"/>
              <a:t>Aléatoire (lignes pointillées) </a:t>
            </a:r>
          </a:p>
          <a:p>
            <a:pPr lvl="2"/>
            <a:r>
              <a:rPr lang="fr-FR" noProof="0" dirty="0"/>
              <a:t>Avec prob. 1-c, suivre un lien sortant aléatoire (lignes pleines) </a:t>
            </a:r>
          </a:p>
          <a:p>
            <a:r>
              <a:rPr lang="fr-FR" noProof="0" dirty="0"/>
              <a:t>Distribution stationnaire: </a:t>
            </a:r>
          </a:p>
          <a:p>
            <a:pPr lvl="1"/>
            <a:r>
              <a:rPr lang="fr-FR" noProof="0" dirty="0"/>
              <a:t>On passera plus de temps sur les pages hautement accessibles</a:t>
            </a:r>
          </a:p>
          <a:p>
            <a:pPr lvl="2"/>
            <a:r>
              <a:rPr lang="fr-FR" noProof="0" dirty="0"/>
              <a:t>E.g. Plein de façon d’arriver sur la page de téléchargement d’Acrobat Reader</a:t>
            </a:r>
          </a:p>
          <a:p>
            <a:pPr lvl="1"/>
            <a:r>
              <a:rPr lang="fr-FR" noProof="0" dirty="0"/>
              <a:t>Relativement robuste au spam de liens</a:t>
            </a:r>
          </a:p>
          <a:p>
            <a:r>
              <a:rPr lang="fr-FR" noProof="0" dirty="0"/>
              <a:t>Google 1.0 </a:t>
            </a:r>
          </a:p>
          <a:p>
            <a:pPr lvl="1"/>
            <a:r>
              <a:rPr lang="fr-FR" noProof="0" dirty="0"/>
              <a:t>Renvoyait la liste de pages contenant vos mots clés par ordre décroisant de page </a:t>
            </a:r>
            <a:r>
              <a:rPr lang="fr-FR" noProof="0" dirty="0" err="1"/>
              <a:t>rank</a:t>
            </a:r>
            <a:r>
              <a:rPr lang="fr-FR" noProof="0" dirty="0"/>
              <a:t>, maintenant tous les moteurs de recherche utilisent l’analyse de lien avec d’autres facteurs (le page </a:t>
            </a:r>
            <a:r>
              <a:rPr lang="fr-FR" noProof="0" dirty="0" err="1"/>
              <a:t>rank</a:t>
            </a:r>
            <a:r>
              <a:rPr lang="fr-FR" noProof="0" dirty="0"/>
              <a:t> devient en fait de moins en moins important)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987425"/>
            <a:ext cx="2514600" cy="21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E6AF03-E80B-4F98-B904-4C8D0B42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6476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err="1"/>
              <a:t>Hidden</a:t>
            </a:r>
            <a:r>
              <a:rPr lang="fr-FR" noProof="0" dirty="0"/>
              <a:t> Markov </a:t>
            </a:r>
            <a:r>
              <a:rPr lang="fr-FR" noProof="0" dirty="0" err="1"/>
              <a:t>Models</a:t>
            </a:r>
            <a:endParaRPr lang="fr-F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Markov </a:t>
            </a:r>
            <a:r>
              <a:rPr lang="fr-FR" noProof="0" dirty="0" err="1"/>
              <a:t>chains</a:t>
            </a:r>
            <a:r>
              <a:rPr lang="fr-FR" noProof="0" dirty="0"/>
              <a:t> not </a:t>
            </a:r>
            <a:r>
              <a:rPr lang="fr-FR" noProof="0" dirty="0" err="1"/>
              <a:t>so</a:t>
            </a:r>
            <a:r>
              <a:rPr lang="fr-FR" noProof="0" dirty="0"/>
              <a:t> </a:t>
            </a:r>
            <a:r>
              <a:rPr lang="fr-FR" noProof="0" dirty="0" err="1"/>
              <a:t>useful</a:t>
            </a:r>
            <a:r>
              <a:rPr lang="fr-FR" noProof="0" dirty="0"/>
              <a:t> for </a:t>
            </a:r>
            <a:r>
              <a:rPr lang="fr-FR" noProof="0" dirty="0" err="1"/>
              <a:t>most</a:t>
            </a:r>
            <a:r>
              <a:rPr lang="fr-FR" noProof="0" dirty="0"/>
              <a:t> agents </a:t>
            </a:r>
          </a:p>
          <a:p>
            <a:pPr lvl="1"/>
            <a:r>
              <a:rPr lang="fr-FR" noProof="0" dirty="0" err="1"/>
              <a:t>Eventually</a:t>
            </a:r>
            <a:r>
              <a:rPr lang="fr-FR" noProof="0" dirty="0"/>
              <a:t> </a:t>
            </a:r>
            <a:r>
              <a:rPr lang="fr-FR" noProof="0" dirty="0" err="1"/>
              <a:t>you</a:t>
            </a:r>
            <a:r>
              <a:rPr lang="fr-FR" noProof="0" dirty="0"/>
              <a:t> </a:t>
            </a:r>
            <a:r>
              <a:rPr lang="fr-FR" noProof="0" dirty="0" err="1"/>
              <a:t>don’t</a:t>
            </a:r>
            <a:r>
              <a:rPr lang="fr-FR" noProof="0" dirty="0"/>
              <a:t> know </a:t>
            </a:r>
            <a:r>
              <a:rPr lang="fr-FR" noProof="0" dirty="0" err="1"/>
              <a:t>anything</a:t>
            </a:r>
            <a:r>
              <a:rPr lang="fr-FR" noProof="0" dirty="0"/>
              <a:t> </a:t>
            </a:r>
            <a:r>
              <a:rPr lang="fr-FR" noProof="0" dirty="0" err="1"/>
              <a:t>anymore</a:t>
            </a:r>
            <a:r>
              <a:rPr lang="fr-FR" noProof="0" dirty="0"/>
              <a:t> </a:t>
            </a:r>
          </a:p>
          <a:p>
            <a:pPr lvl="1"/>
            <a:r>
              <a:rPr lang="fr-FR" noProof="0" dirty="0"/>
              <a:t>Need observations to update </a:t>
            </a:r>
            <a:r>
              <a:rPr lang="fr-FR" noProof="0" dirty="0" err="1"/>
              <a:t>your</a:t>
            </a:r>
            <a:r>
              <a:rPr lang="fr-FR" noProof="0" dirty="0"/>
              <a:t> </a:t>
            </a:r>
            <a:r>
              <a:rPr lang="fr-FR" noProof="0" dirty="0" err="1"/>
              <a:t>beliefs</a:t>
            </a:r>
            <a:r>
              <a:rPr lang="fr-FR" noProof="0" dirty="0"/>
              <a:t> </a:t>
            </a:r>
          </a:p>
          <a:p>
            <a:r>
              <a:rPr lang="fr-FR" noProof="0" dirty="0" err="1"/>
              <a:t>Hidden</a:t>
            </a:r>
            <a:r>
              <a:rPr lang="fr-FR" noProof="0" dirty="0"/>
              <a:t> Markov </a:t>
            </a:r>
            <a:r>
              <a:rPr lang="fr-FR" noProof="0" dirty="0" err="1"/>
              <a:t>models</a:t>
            </a:r>
            <a:r>
              <a:rPr lang="fr-FR" noProof="0" dirty="0"/>
              <a:t> (</a:t>
            </a:r>
            <a:r>
              <a:rPr lang="fr-FR" noProof="0" dirty="0" err="1"/>
              <a:t>HMMs</a:t>
            </a:r>
            <a:r>
              <a:rPr lang="fr-FR" noProof="0" dirty="0"/>
              <a:t>) </a:t>
            </a:r>
          </a:p>
          <a:p>
            <a:pPr lvl="1"/>
            <a:r>
              <a:rPr lang="fr-FR" noProof="0" dirty="0" err="1"/>
              <a:t>Underlying</a:t>
            </a:r>
            <a:r>
              <a:rPr lang="fr-FR" noProof="0" dirty="0"/>
              <a:t> Markov </a:t>
            </a:r>
            <a:r>
              <a:rPr lang="fr-FR" noProof="0" dirty="0" err="1"/>
              <a:t>chain</a:t>
            </a:r>
            <a:r>
              <a:rPr lang="fr-FR" noProof="0" dirty="0"/>
              <a:t> over states S </a:t>
            </a:r>
          </a:p>
          <a:p>
            <a:pPr lvl="1"/>
            <a:r>
              <a:rPr lang="fr-FR" noProof="0" dirty="0"/>
              <a:t>You observe outputs (</a:t>
            </a:r>
            <a:r>
              <a:rPr lang="fr-FR" noProof="0" dirty="0" err="1"/>
              <a:t>effects</a:t>
            </a:r>
            <a:r>
              <a:rPr lang="fr-FR" noProof="0" dirty="0"/>
              <a:t>) at </a:t>
            </a:r>
            <a:r>
              <a:rPr lang="fr-FR" noProof="0" dirty="0" err="1"/>
              <a:t>each</a:t>
            </a:r>
            <a:r>
              <a:rPr lang="fr-FR" noProof="0" dirty="0"/>
              <a:t> time </a:t>
            </a:r>
            <a:r>
              <a:rPr lang="fr-FR" noProof="0" dirty="0" err="1"/>
              <a:t>step</a:t>
            </a:r>
            <a:r>
              <a:rPr lang="fr-FR" noProof="0" dirty="0"/>
              <a:t> </a:t>
            </a:r>
          </a:p>
          <a:p>
            <a:pPr lvl="1"/>
            <a:r>
              <a:rPr lang="fr-FR" noProof="0" dirty="0"/>
              <a:t>As a Bayes’ net: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495800"/>
            <a:ext cx="66294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180D01-E057-49CF-BE1B-578242B8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70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1981200"/>
                <a:ext cx="8503920" cy="4572000"/>
              </a:xfrm>
            </p:spPr>
            <p:txBody>
              <a:bodyPr>
                <a:normAutofit fontScale="92500" lnSpcReduction="10000"/>
              </a:bodyPr>
              <a:lstStyle/>
              <a:p>
                <a:endParaRPr lang="fr-FR" noProof="0" dirty="0"/>
              </a:p>
              <a:p>
                <a:endParaRPr lang="fr-FR" noProof="0" dirty="0"/>
              </a:p>
              <a:p>
                <a:endParaRPr lang="fr-FR" noProof="0" dirty="0"/>
              </a:p>
              <a:p>
                <a:endParaRPr lang="fr-FR" noProof="0" dirty="0"/>
              </a:p>
              <a:p>
                <a:endParaRPr lang="fr-FR" noProof="0" dirty="0"/>
              </a:p>
              <a:p>
                <a:endParaRPr lang="fr-FR" noProof="0" dirty="0"/>
              </a:p>
              <a:p>
                <a:endParaRPr lang="fr-FR" noProof="0" dirty="0"/>
              </a:p>
              <a:p>
                <a:r>
                  <a:rPr lang="fr-FR" noProof="0" dirty="0"/>
                  <a:t>An HMM </a:t>
                </a:r>
                <a:r>
                  <a:rPr lang="fr-FR" noProof="0" dirty="0" err="1"/>
                  <a:t>is</a:t>
                </a:r>
                <a:r>
                  <a:rPr lang="fr-FR" noProof="0" dirty="0"/>
                  <a:t> </a:t>
                </a:r>
                <a:r>
                  <a:rPr lang="fr-FR" noProof="0" dirty="0" err="1"/>
                  <a:t>defined</a:t>
                </a:r>
                <a:r>
                  <a:rPr lang="fr-FR" noProof="0" dirty="0"/>
                  <a:t> by: </a:t>
                </a:r>
              </a:p>
              <a:p>
                <a:pPr lvl="1"/>
                <a:r>
                  <a:rPr lang="fr-FR" noProof="0" dirty="0"/>
                  <a:t>Initial distribution: </a:t>
                </a: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r>
                      <a:rPr lang="fr-FR" b="0" i="1" noProof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fr-FR" b="0" i="1" noProof="0" smtClean="0">
                        <a:latin typeface="Cambria Math"/>
                      </a:rPr>
                      <m:t>)</m:t>
                    </m:r>
                  </m:oMath>
                </a14:m>
                <a:endParaRPr lang="fr-FR" noProof="0" dirty="0"/>
              </a:p>
              <a:p>
                <a:pPr lvl="1"/>
                <a:r>
                  <a:rPr lang="fr-FR" noProof="0" dirty="0"/>
                  <a:t>Transitions: </a:t>
                </a: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</a:rPr>
                          <m:t>𝑡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fr-FR" b="0" i="1" noProof="0" smtClean="0">
                        <a:latin typeface="Cambria Math"/>
                      </a:rPr>
                      <m:t>)</m:t>
                    </m:r>
                  </m:oMath>
                </a14:m>
                <a:endParaRPr lang="fr-FR" noProof="0" dirty="0"/>
              </a:p>
              <a:p>
                <a:pPr lvl="1"/>
                <a:r>
                  <a:rPr lang="fr-FR" noProof="0" dirty="0"/>
                  <a:t>Emissions: </a:t>
                </a: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noProof="0" smtClean="0">
                            <a:latin typeface="Cambria Math"/>
                          </a:rPr>
                          <m:t>𝐸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 </m:t>
                    </m:r>
                    <m:r>
                      <a:rPr lang="fr-FR" b="0" i="1" noProof="0" smtClean="0">
                        <a:latin typeface="Cambria Math"/>
                      </a:rPr>
                      <m:t>𝑋</m:t>
                    </m:r>
                    <m:r>
                      <a:rPr lang="fr-FR" b="0" i="1" noProof="0" smtClean="0">
                        <a:latin typeface="Cambria Math"/>
                      </a:rPr>
                      <m:t>)</m:t>
                    </m:r>
                  </m:oMath>
                </a14:m>
                <a:endParaRPr lang="fr-FR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1981200"/>
                <a:ext cx="8503920" cy="4572000"/>
              </a:xfrm>
              <a:blipFill rotWithShape="1">
                <a:blip r:embed="rId2"/>
                <a:stretch>
                  <a:fillRect l="-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600200"/>
            <a:ext cx="9601200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A38CAE-6B9B-4047-BFAB-6D042300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0643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err="1"/>
              <a:t>Hidden</a:t>
            </a:r>
            <a:r>
              <a:rPr lang="fr-FR" noProof="0" dirty="0"/>
              <a:t> Markov </a:t>
            </a:r>
            <a:r>
              <a:rPr lang="fr-FR" noProof="0" dirty="0" err="1"/>
              <a:t>Models</a:t>
            </a:r>
            <a:r>
              <a:rPr lang="fr-FR" noProof="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fr-FR" noProof="0" dirty="0"/>
              </a:p>
              <a:p>
                <a:endParaRPr lang="fr-FR" noProof="0" dirty="0"/>
              </a:p>
              <a:p>
                <a:endParaRPr lang="fr-FR" noProof="0" dirty="0"/>
              </a:p>
              <a:p>
                <a:endParaRPr lang="fr-FR" noProof="0" dirty="0"/>
              </a:p>
              <a:p>
                <a:endParaRPr lang="fr-FR" noProof="0" dirty="0"/>
              </a:p>
              <a:p>
                <a:r>
                  <a:rPr lang="fr-FR" noProof="0" dirty="0" err="1"/>
                  <a:t>Defines</a:t>
                </a:r>
                <a:r>
                  <a:rPr lang="fr-FR" noProof="0" dirty="0"/>
                  <a:t> a joint </a:t>
                </a:r>
                <a:r>
                  <a:rPr lang="fr-FR" noProof="0" dirty="0" err="1"/>
                  <a:t>probability</a:t>
                </a:r>
                <a:r>
                  <a:rPr lang="fr-FR" noProof="0" dirty="0"/>
                  <a:t> distribution:</a:t>
                </a:r>
                <a:br>
                  <a:rPr lang="fr-FR" noProof="0" dirty="0"/>
                </a:b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, …, 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, …, 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=</m:t>
                    </m:r>
                  </m:oMath>
                </a14:m>
                <a:br>
                  <a:rPr lang="fr-FR" b="0" i="1" noProof="0" dirty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1:</m:t>
                            </m:r>
                            <m:r>
                              <a:rPr lang="fr-FR" b="0" i="1" noProof="0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1:</m:t>
                            </m:r>
                            <m:r>
                              <a:rPr lang="fr-FR" b="0" i="1" noProof="0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=</m:t>
                    </m:r>
                  </m:oMath>
                </a14:m>
                <a:br>
                  <a:rPr lang="fr-FR" b="0" i="1" noProof="0" dirty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fr-FR" b="0" i="1" noProof="0" smtClean="0">
                        <a:latin typeface="Cambria Math"/>
                      </a:rPr>
                      <m:t>) </m:t>
                    </m:r>
                    <m:nary>
                      <m:naryPr>
                        <m:chr m:val="∏"/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noProof="0" smtClean="0">
                            <a:latin typeface="Cambria Math"/>
                          </a:rPr>
                          <m:t>𝑡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=2</m:t>
                        </m:r>
                      </m:sub>
                      <m:sup>
                        <m:r>
                          <a:rPr lang="fr-FR" b="0" i="1" noProof="0" smtClean="0">
                            <a:latin typeface="Cambria Math"/>
                          </a:rPr>
                          <m:t>𝑁</m:t>
                        </m:r>
                      </m:sup>
                      <m:e>
                        <m:r>
                          <a:rPr lang="fr-FR" b="0" i="1" noProof="0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noProof="0" smtClean="0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b="0" i="1" noProof="0" smtClean="0">
                                    <a:latin typeface="Cambria Math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fr-FR" b="0" i="1" noProof="0" smtClean="0">
                                <a:latin typeface="Cambria Math"/>
                              </a:rPr>
                              <m:t> </m:t>
                            </m:r>
                          </m:e>
                        </m:d>
                        <m:r>
                          <a:rPr lang="fr-FR" b="0" i="1" noProof="0" smtClean="0"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fr-FR" b="0" i="1" noProof="0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</a:rPr>
                          <m:t>)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𝑃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nary>
                    <m:r>
                      <a:rPr lang="fr-FR" b="0" i="1" noProof="0" smtClean="0">
                        <a:latin typeface="Cambria Math"/>
                      </a:rPr>
                      <m:t>| 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fr-FR" b="0" i="1" noProof="0" smtClean="0">
                        <a:latin typeface="Cambria Math"/>
                      </a:rPr>
                      <m:t>) </m:t>
                    </m:r>
                  </m:oMath>
                </a14:m>
                <a:endParaRPr lang="fr-FR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00200"/>
            <a:ext cx="66294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C3E542F-71F2-430E-93D0-3EA3FD7A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4826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HMM Computations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 err="1"/>
              <a:t>Given</a:t>
            </a:r>
            <a:r>
              <a:rPr lang="fr-FR" noProof="0" dirty="0"/>
              <a:t> </a:t>
            </a:r>
          </a:p>
          <a:p>
            <a:pPr lvl="1"/>
            <a:r>
              <a:rPr lang="fr-FR" noProof="0" dirty="0" err="1"/>
              <a:t>parameters</a:t>
            </a:r>
            <a:r>
              <a:rPr lang="fr-FR" noProof="0" dirty="0"/>
              <a:t> </a:t>
            </a:r>
          </a:p>
          <a:p>
            <a:pPr lvl="1"/>
            <a:r>
              <a:rPr lang="fr-FR" noProof="0" dirty="0" err="1"/>
              <a:t>evidence</a:t>
            </a:r>
            <a:r>
              <a:rPr lang="fr-FR" noProof="0" dirty="0"/>
              <a:t> E</a:t>
            </a:r>
            <a:r>
              <a:rPr lang="fr-FR" baseline="-25000" noProof="0" dirty="0"/>
              <a:t>1:n</a:t>
            </a:r>
            <a:r>
              <a:rPr lang="fr-FR" noProof="0" dirty="0"/>
              <a:t> =e</a:t>
            </a:r>
            <a:r>
              <a:rPr lang="fr-FR" baseline="-25000" noProof="0" dirty="0"/>
              <a:t>1:n</a:t>
            </a:r>
            <a:r>
              <a:rPr lang="fr-FR" noProof="0" dirty="0"/>
              <a:t> </a:t>
            </a:r>
          </a:p>
          <a:p>
            <a:r>
              <a:rPr lang="fr-FR" noProof="0" dirty="0" err="1"/>
              <a:t>Inference</a:t>
            </a:r>
            <a:r>
              <a:rPr lang="fr-FR" noProof="0" dirty="0"/>
              <a:t> </a:t>
            </a:r>
            <a:r>
              <a:rPr lang="fr-FR" noProof="0" dirty="0" err="1"/>
              <a:t>problems</a:t>
            </a:r>
            <a:r>
              <a:rPr lang="fr-FR" noProof="0" dirty="0"/>
              <a:t> </a:t>
            </a:r>
            <a:r>
              <a:rPr lang="fr-FR" noProof="0" dirty="0" err="1"/>
              <a:t>include</a:t>
            </a:r>
            <a:r>
              <a:rPr lang="fr-FR" noProof="0" dirty="0"/>
              <a:t>: </a:t>
            </a:r>
          </a:p>
          <a:p>
            <a:pPr lvl="1"/>
            <a:r>
              <a:rPr lang="fr-FR" noProof="0" dirty="0" err="1"/>
              <a:t>Filtering</a:t>
            </a:r>
            <a:r>
              <a:rPr lang="fr-FR" noProof="0" dirty="0"/>
              <a:t>, </a:t>
            </a:r>
            <a:r>
              <a:rPr lang="fr-FR" noProof="0" dirty="0" err="1"/>
              <a:t>find</a:t>
            </a:r>
            <a:r>
              <a:rPr lang="fr-FR" noProof="0" dirty="0"/>
              <a:t> P(</a:t>
            </a:r>
            <a:r>
              <a:rPr lang="fr-FR" noProof="0" dirty="0" err="1"/>
              <a:t>X</a:t>
            </a:r>
            <a:r>
              <a:rPr lang="fr-FR" baseline="-25000" noProof="0" dirty="0" err="1"/>
              <a:t>t</a:t>
            </a:r>
            <a:r>
              <a:rPr lang="fr-FR" baseline="-25000" noProof="0" dirty="0"/>
              <a:t> </a:t>
            </a:r>
            <a:r>
              <a:rPr lang="fr-FR" noProof="0" dirty="0"/>
              <a:t>|e</a:t>
            </a:r>
            <a:r>
              <a:rPr lang="fr-FR" baseline="-25000" noProof="0" dirty="0"/>
              <a:t>1:t</a:t>
            </a:r>
            <a:r>
              <a:rPr lang="fr-FR" noProof="0" dirty="0"/>
              <a:t>) for all t </a:t>
            </a:r>
          </a:p>
          <a:p>
            <a:pPr lvl="1"/>
            <a:r>
              <a:rPr lang="fr-FR" noProof="0" dirty="0" err="1"/>
              <a:t>Smoothing</a:t>
            </a:r>
            <a:r>
              <a:rPr lang="fr-FR" noProof="0" dirty="0"/>
              <a:t>, </a:t>
            </a:r>
            <a:r>
              <a:rPr lang="fr-FR" noProof="0" dirty="0" err="1"/>
              <a:t>find</a:t>
            </a:r>
            <a:r>
              <a:rPr lang="fr-FR" noProof="0" dirty="0"/>
              <a:t> P(</a:t>
            </a:r>
            <a:r>
              <a:rPr lang="fr-FR" noProof="0" dirty="0" err="1"/>
              <a:t>X</a:t>
            </a:r>
            <a:r>
              <a:rPr lang="fr-FR" baseline="-25000" noProof="0" dirty="0" err="1"/>
              <a:t>t</a:t>
            </a:r>
            <a:r>
              <a:rPr lang="fr-FR" noProof="0" dirty="0"/>
              <a:t> |e</a:t>
            </a:r>
            <a:r>
              <a:rPr lang="fr-FR" baseline="-25000" noProof="0" dirty="0"/>
              <a:t>1:n</a:t>
            </a:r>
            <a:r>
              <a:rPr lang="fr-FR" noProof="0" dirty="0"/>
              <a:t>) for all t </a:t>
            </a:r>
          </a:p>
          <a:p>
            <a:pPr lvl="1"/>
            <a:r>
              <a:rPr lang="fr-FR" noProof="0" dirty="0"/>
              <a:t>Most probable </a:t>
            </a:r>
            <a:r>
              <a:rPr lang="fr-FR" noProof="0" dirty="0" err="1"/>
              <a:t>explanation</a:t>
            </a:r>
            <a:r>
              <a:rPr lang="fr-FR" noProof="0" dirty="0"/>
              <a:t>, </a:t>
            </a:r>
            <a:r>
              <a:rPr lang="fr-FR" noProof="0" dirty="0" err="1"/>
              <a:t>find</a:t>
            </a:r>
            <a:r>
              <a:rPr lang="fr-FR" noProof="0" dirty="0"/>
              <a:t> x*</a:t>
            </a:r>
            <a:r>
              <a:rPr lang="fr-FR" baseline="-25000" noProof="0" dirty="0"/>
              <a:t>1:n</a:t>
            </a:r>
            <a:r>
              <a:rPr lang="fr-FR" noProof="0" dirty="0"/>
              <a:t> = </a:t>
            </a:r>
            <a:r>
              <a:rPr lang="fr-FR" noProof="0" dirty="0" err="1"/>
              <a:t>argmax</a:t>
            </a:r>
            <a:r>
              <a:rPr lang="fr-FR" noProof="0" dirty="0"/>
              <a:t> </a:t>
            </a:r>
            <a:r>
              <a:rPr lang="fr-FR" baseline="-25000" noProof="0" dirty="0"/>
              <a:t>x1:n</a:t>
            </a:r>
            <a:r>
              <a:rPr lang="fr-FR" noProof="0" dirty="0"/>
              <a:t> P(x</a:t>
            </a:r>
            <a:r>
              <a:rPr lang="fr-FR" baseline="-25000" noProof="0" dirty="0"/>
              <a:t>1:n</a:t>
            </a:r>
            <a:r>
              <a:rPr lang="fr-FR" noProof="0" dirty="0"/>
              <a:t>|e</a:t>
            </a:r>
            <a:r>
              <a:rPr lang="fr-FR" baseline="-25000" noProof="0" dirty="0"/>
              <a:t>1:n</a:t>
            </a:r>
            <a:r>
              <a:rPr lang="fr-FR" noProof="0" dirty="0"/>
              <a:t>) 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A819E17A-7DE1-4343-8977-8D21295A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3588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Real HMM </a:t>
            </a:r>
            <a:r>
              <a:rPr lang="fr-FR" noProof="0" dirty="0" err="1"/>
              <a:t>Examples</a:t>
            </a:r>
            <a:r>
              <a:rPr lang="fr-FR" noProof="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Speech recognition </a:t>
            </a:r>
            <a:r>
              <a:rPr lang="fr-FR" noProof="0" dirty="0" err="1"/>
              <a:t>HMMs</a:t>
            </a:r>
            <a:r>
              <a:rPr lang="fr-FR" noProof="0" dirty="0"/>
              <a:t>: </a:t>
            </a:r>
          </a:p>
          <a:p>
            <a:pPr lvl="1"/>
            <a:r>
              <a:rPr lang="fr-FR" noProof="0" dirty="0"/>
              <a:t>Observations are </a:t>
            </a:r>
            <a:r>
              <a:rPr lang="fr-FR" noProof="0" dirty="0" err="1"/>
              <a:t>acoustic</a:t>
            </a:r>
            <a:r>
              <a:rPr lang="fr-FR" noProof="0" dirty="0"/>
              <a:t> </a:t>
            </a:r>
            <a:r>
              <a:rPr lang="fr-FR" noProof="0" dirty="0" err="1"/>
              <a:t>signals</a:t>
            </a:r>
            <a:r>
              <a:rPr lang="fr-FR" noProof="0" dirty="0"/>
              <a:t> (</a:t>
            </a:r>
            <a:r>
              <a:rPr lang="fr-FR" noProof="0" dirty="0" err="1"/>
              <a:t>continuous</a:t>
            </a:r>
            <a:r>
              <a:rPr lang="fr-FR" noProof="0" dirty="0"/>
              <a:t> </a:t>
            </a:r>
            <a:r>
              <a:rPr lang="fr-FR" noProof="0" dirty="0" err="1"/>
              <a:t>valued</a:t>
            </a:r>
            <a:r>
              <a:rPr lang="fr-FR" noProof="0" dirty="0"/>
              <a:t>) </a:t>
            </a:r>
          </a:p>
          <a:p>
            <a:pPr lvl="1"/>
            <a:r>
              <a:rPr lang="fr-FR" noProof="0" dirty="0"/>
              <a:t>States are </a:t>
            </a:r>
            <a:r>
              <a:rPr lang="fr-FR" noProof="0" dirty="0" err="1"/>
              <a:t>specific</a:t>
            </a:r>
            <a:r>
              <a:rPr lang="fr-FR" noProof="0" dirty="0"/>
              <a:t> positions in </a:t>
            </a:r>
            <a:r>
              <a:rPr lang="fr-FR" noProof="0" dirty="0" err="1"/>
              <a:t>specific</a:t>
            </a:r>
            <a:r>
              <a:rPr lang="fr-FR" noProof="0" dirty="0"/>
              <a:t> </a:t>
            </a:r>
            <a:r>
              <a:rPr lang="fr-FR" noProof="0" dirty="0" err="1"/>
              <a:t>words</a:t>
            </a:r>
            <a:r>
              <a:rPr lang="fr-FR" noProof="0" dirty="0"/>
              <a:t> (</a:t>
            </a:r>
            <a:r>
              <a:rPr lang="fr-FR" noProof="0" dirty="0" err="1"/>
              <a:t>so</a:t>
            </a:r>
            <a:r>
              <a:rPr lang="fr-FR" noProof="0" dirty="0"/>
              <a:t>, </a:t>
            </a:r>
            <a:r>
              <a:rPr lang="fr-FR" noProof="0" dirty="0" err="1"/>
              <a:t>tens</a:t>
            </a:r>
            <a:r>
              <a:rPr lang="fr-FR" noProof="0" dirty="0"/>
              <a:t> of </a:t>
            </a:r>
            <a:r>
              <a:rPr lang="fr-FR" noProof="0" dirty="0" err="1"/>
              <a:t>thousands</a:t>
            </a:r>
            <a:r>
              <a:rPr lang="fr-FR" noProof="0" dirty="0"/>
              <a:t>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774" y="3505200"/>
            <a:ext cx="66294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904624-F31B-4445-9020-F6369E39F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1631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Real HMM </a:t>
            </a:r>
            <a:r>
              <a:rPr lang="fr-FR" noProof="0" dirty="0" err="1"/>
              <a:t>Examples</a:t>
            </a:r>
            <a:r>
              <a:rPr lang="fr-FR" noProof="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Machine translation </a:t>
            </a:r>
            <a:r>
              <a:rPr lang="fr-FR" noProof="0" dirty="0" err="1"/>
              <a:t>HMMs</a:t>
            </a:r>
            <a:r>
              <a:rPr lang="fr-FR" noProof="0" dirty="0"/>
              <a:t>: </a:t>
            </a:r>
          </a:p>
          <a:p>
            <a:pPr lvl="1"/>
            <a:r>
              <a:rPr lang="fr-FR" noProof="0" dirty="0"/>
              <a:t>Observations are </a:t>
            </a:r>
            <a:r>
              <a:rPr lang="fr-FR" noProof="0" dirty="0" err="1"/>
              <a:t>words</a:t>
            </a:r>
            <a:r>
              <a:rPr lang="fr-FR" noProof="0" dirty="0"/>
              <a:t> (</a:t>
            </a:r>
            <a:r>
              <a:rPr lang="fr-FR" noProof="0" dirty="0" err="1"/>
              <a:t>tens</a:t>
            </a:r>
            <a:r>
              <a:rPr lang="fr-FR" noProof="0" dirty="0"/>
              <a:t> of </a:t>
            </a:r>
            <a:r>
              <a:rPr lang="fr-FR" noProof="0" dirty="0" err="1"/>
              <a:t>thousands</a:t>
            </a:r>
            <a:r>
              <a:rPr lang="fr-FR" noProof="0" dirty="0"/>
              <a:t>) </a:t>
            </a:r>
          </a:p>
          <a:p>
            <a:pPr lvl="1"/>
            <a:r>
              <a:rPr lang="fr-FR" noProof="0" dirty="0"/>
              <a:t>States are translation options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774" y="3505200"/>
            <a:ext cx="66294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D6E8654-C64D-49F5-BB51-40DFF4B6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3226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Real HMM </a:t>
            </a:r>
            <a:r>
              <a:rPr lang="fr-FR" noProof="0" dirty="0" err="1"/>
              <a:t>Examples</a:t>
            </a:r>
            <a:r>
              <a:rPr lang="fr-FR" noProof="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Robot </a:t>
            </a:r>
            <a:r>
              <a:rPr lang="fr-FR" noProof="0" dirty="0" err="1"/>
              <a:t>tracking</a:t>
            </a:r>
            <a:r>
              <a:rPr lang="fr-FR" noProof="0" dirty="0"/>
              <a:t>: </a:t>
            </a:r>
          </a:p>
          <a:p>
            <a:pPr lvl="1"/>
            <a:r>
              <a:rPr lang="fr-FR" noProof="0" dirty="0"/>
              <a:t>Observations are range </a:t>
            </a:r>
            <a:r>
              <a:rPr lang="fr-FR" noProof="0" dirty="0" err="1"/>
              <a:t>readings</a:t>
            </a:r>
            <a:r>
              <a:rPr lang="fr-FR" noProof="0" dirty="0"/>
              <a:t> (</a:t>
            </a:r>
            <a:r>
              <a:rPr lang="fr-FR" noProof="0" dirty="0" err="1"/>
              <a:t>continuous</a:t>
            </a:r>
            <a:r>
              <a:rPr lang="fr-FR" noProof="0" dirty="0"/>
              <a:t>) </a:t>
            </a:r>
          </a:p>
          <a:p>
            <a:pPr lvl="1"/>
            <a:r>
              <a:rPr lang="fr-FR" noProof="0" dirty="0"/>
              <a:t>States are positions on a </a:t>
            </a:r>
            <a:r>
              <a:rPr lang="fr-FR" noProof="0" dirty="0" err="1"/>
              <a:t>map</a:t>
            </a:r>
            <a:r>
              <a:rPr lang="fr-FR" noProof="0" dirty="0"/>
              <a:t> (</a:t>
            </a:r>
            <a:r>
              <a:rPr lang="fr-FR" noProof="0" dirty="0" err="1"/>
              <a:t>continuous</a:t>
            </a:r>
            <a:r>
              <a:rPr lang="fr-FR" noProof="0" dirty="0"/>
              <a:t>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774" y="3505200"/>
            <a:ext cx="66294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C46A7F-6660-4B83-BA04-BDCBDA9F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3009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err="1"/>
              <a:t>Conditional</a:t>
            </a:r>
            <a:r>
              <a:rPr lang="fr-FR" noProof="0" dirty="0"/>
              <a:t> Independence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 err="1"/>
              <a:t>HMMs</a:t>
            </a:r>
            <a:r>
              <a:rPr lang="fr-FR" noProof="0" dirty="0"/>
              <a:t> have </a:t>
            </a:r>
            <a:r>
              <a:rPr lang="fr-FR" noProof="0" dirty="0" err="1"/>
              <a:t>two</a:t>
            </a:r>
            <a:r>
              <a:rPr lang="fr-FR" noProof="0" dirty="0"/>
              <a:t> important </a:t>
            </a:r>
            <a:r>
              <a:rPr lang="fr-FR" noProof="0" dirty="0" err="1"/>
              <a:t>independence</a:t>
            </a:r>
            <a:r>
              <a:rPr lang="fr-FR" noProof="0" dirty="0"/>
              <a:t> </a:t>
            </a:r>
            <a:r>
              <a:rPr lang="fr-FR" noProof="0" dirty="0" err="1"/>
              <a:t>properties</a:t>
            </a:r>
            <a:r>
              <a:rPr lang="fr-FR" noProof="0" dirty="0"/>
              <a:t>: </a:t>
            </a:r>
          </a:p>
          <a:p>
            <a:pPr lvl="1"/>
            <a:r>
              <a:rPr lang="fr-FR" noProof="0" dirty="0"/>
              <a:t>Markov </a:t>
            </a:r>
            <a:r>
              <a:rPr lang="fr-FR" noProof="0" dirty="0" err="1"/>
              <a:t>hidden</a:t>
            </a:r>
            <a:r>
              <a:rPr lang="fr-FR" noProof="0" dirty="0"/>
              <a:t> process, future </a:t>
            </a:r>
            <a:r>
              <a:rPr lang="fr-FR" noProof="0" dirty="0" err="1"/>
              <a:t>depends</a:t>
            </a:r>
            <a:r>
              <a:rPr lang="fr-FR" noProof="0" dirty="0"/>
              <a:t> on </a:t>
            </a:r>
            <a:r>
              <a:rPr lang="fr-FR" noProof="0" dirty="0" err="1"/>
              <a:t>past</a:t>
            </a:r>
            <a:r>
              <a:rPr lang="fr-FR" noProof="0" dirty="0"/>
              <a:t> via the </a:t>
            </a:r>
            <a:r>
              <a:rPr lang="fr-FR" noProof="0" dirty="0" err="1"/>
              <a:t>present</a:t>
            </a:r>
            <a:endParaRPr lang="fr-FR" noProof="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3581400"/>
            <a:ext cx="5648325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0976E4-A2BB-40E5-B959-F4D96E69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9691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err="1"/>
              <a:t>Conditional</a:t>
            </a:r>
            <a:r>
              <a:rPr lang="fr-FR" noProof="0" dirty="0"/>
              <a:t> Independence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 err="1"/>
              <a:t>HMMs</a:t>
            </a:r>
            <a:r>
              <a:rPr lang="fr-FR" noProof="0" dirty="0"/>
              <a:t> have </a:t>
            </a:r>
            <a:r>
              <a:rPr lang="fr-FR" noProof="0" dirty="0" err="1"/>
              <a:t>two</a:t>
            </a:r>
            <a:r>
              <a:rPr lang="fr-FR" noProof="0" dirty="0"/>
              <a:t> important </a:t>
            </a:r>
            <a:r>
              <a:rPr lang="fr-FR" noProof="0" dirty="0" err="1"/>
              <a:t>independence</a:t>
            </a:r>
            <a:r>
              <a:rPr lang="fr-FR" noProof="0" dirty="0"/>
              <a:t> </a:t>
            </a:r>
            <a:r>
              <a:rPr lang="fr-FR" noProof="0" dirty="0" err="1"/>
              <a:t>properties</a:t>
            </a:r>
            <a:r>
              <a:rPr lang="fr-FR" noProof="0" dirty="0"/>
              <a:t>: </a:t>
            </a:r>
          </a:p>
          <a:p>
            <a:pPr lvl="1"/>
            <a:r>
              <a:rPr lang="fr-FR" noProof="0" dirty="0"/>
              <a:t>Markov </a:t>
            </a:r>
            <a:r>
              <a:rPr lang="fr-FR" noProof="0" dirty="0" err="1"/>
              <a:t>hidden</a:t>
            </a:r>
            <a:r>
              <a:rPr lang="fr-FR" noProof="0" dirty="0"/>
              <a:t> process, future </a:t>
            </a:r>
            <a:r>
              <a:rPr lang="fr-FR" noProof="0" dirty="0" err="1"/>
              <a:t>depends</a:t>
            </a:r>
            <a:r>
              <a:rPr lang="fr-FR" noProof="0" dirty="0"/>
              <a:t> on </a:t>
            </a:r>
            <a:r>
              <a:rPr lang="fr-FR" noProof="0" dirty="0" err="1"/>
              <a:t>past</a:t>
            </a:r>
            <a:r>
              <a:rPr lang="fr-FR" noProof="0" dirty="0"/>
              <a:t> via the </a:t>
            </a:r>
            <a:r>
              <a:rPr lang="fr-FR" noProof="0" dirty="0" err="1"/>
              <a:t>present</a:t>
            </a:r>
            <a:endParaRPr lang="fr-FR" noProof="0" dirty="0"/>
          </a:p>
          <a:p>
            <a:pPr lvl="1"/>
            <a:r>
              <a:rPr lang="fr-FR" noProof="0" dirty="0" err="1"/>
              <a:t>Current</a:t>
            </a:r>
            <a:r>
              <a:rPr lang="fr-FR" noProof="0" dirty="0"/>
              <a:t> observation </a:t>
            </a:r>
            <a:r>
              <a:rPr lang="fr-FR" noProof="0" dirty="0" err="1"/>
              <a:t>independent</a:t>
            </a:r>
            <a:r>
              <a:rPr lang="fr-FR" noProof="0" dirty="0"/>
              <a:t> of all </a:t>
            </a:r>
            <a:r>
              <a:rPr lang="fr-FR" noProof="0" dirty="0" err="1"/>
              <a:t>else</a:t>
            </a:r>
            <a:r>
              <a:rPr lang="fr-FR" noProof="0" dirty="0"/>
              <a:t> </a:t>
            </a:r>
            <a:r>
              <a:rPr lang="fr-FR" noProof="0" dirty="0" err="1"/>
              <a:t>given</a:t>
            </a:r>
            <a:r>
              <a:rPr lang="fr-FR" noProof="0" dirty="0"/>
              <a:t> </a:t>
            </a:r>
            <a:r>
              <a:rPr lang="fr-FR" noProof="0" dirty="0" err="1"/>
              <a:t>current</a:t>
            </a:r>
            <a:r>
              <a:rPr lang="fr-FR" noProof="0" dirty="0"/>
              <a:t> state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3695700"/>
            <a:ext cx="581025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05960D-10AD-46F9-9149-0D18F32A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4485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err="1"/>
              <a:t>Conditional</a:t>
            </a:r>
            <a:r>
              <a:rPr lang="fr-FR" noProof="0" dirty="0"/>
              <a:t> Independence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noProof="0" dirty="0" err="1"/>
              <a:t>HMMs</a:t>
            </a:r>
            <a:r>
              <a:rPr lang="fr-FR" noProof="0" dirty="0"/>
              <a:t> have </a:t>
            </a:r>
            <a:r>
              <a:rPr lang="fr-FR" noProof="0" dirty="0" err="1"/>
              <a:t>two</a:t>
            </a:r>
            <a:r>
              <a:rPr lang="fr-FR" noProof="0" dirty="0"/>
              <a:t> important </a:t>
            </a:r>
            <a:r>
              <a:rPr lang="fr-FR" noProof="0" dirty="0" err="1"/>
              <a:t>independence</a:t>
            </a:r>
            <a:r>
              <a:rPr lang="fr-FR" noProof="0" dirty="0"/>
              <a:t> </a:t>
            </a:r>
            <a:r>
              <a:rPr lang="fr-FR" noProof="0" dirty="0" err="1"/>
              <a:t>properties</a:t>
            </a:r>
            <a:r>
              <a:rPr lang="fr-FR" noProof="0" dirty="0"/>
              <a:t>: </a:t>
            </a:r>
          </a:p>
          <a:p>
            <a:pPr lvl="1"/>
            <a:r>
              <a:rPr lang="fr-FR" noProof="0" dirty="0"/>
              <a:t>Markov </a:t>
            </a:r>
            <a:r>
              <a:rPr lang="fr-FR" noProof="0" dirty="0" err="1"/>
              <a:t>hidden</a:t>
            </a:r>
            <a:r>
              <a:rPr lang="fr-FR" noProof="0" dirty="0"/>
              <a:t> process, future </a:t>
            </a:r>
            <a:r>
              <a:rPr lang="fr-FR" noProof="0" dirty="0" err="1"/>
              <a:t>depends</a:t>
            </a:r>
            <a:r>
              <a:rPr lang="fr-FR" noProof="0" dirty="0"/>
              <a:t> on </a:t>
            </a:r>
            <a:r>
              <a:rPr lang="fr-FR" noProof="0" dirty="0" err="1"/>
              <a:t>past</a:t>
            </a:r>
            <a:r>
              <a:rPr lang="fr-FR" noProof="0" dirty="0"/>
              <a:t> via the </a:t>
            </a:r>
            <a:r>
              <a:rPr lang="fr-FR" noProof="0" dirty="0" err="1"/>
              <a:t>present</a:t>
            </a:r>
            <a:endParaRPr lang="fr-FR" noProof="0" dirty="0"/>
          </a:p>
          <a:p>
            <a:pPr lvl="1"/>
            <a:r>
              <a:rPr lang="fr-FR" noProof="0" dirty="0" err="1"/>
              <a:t>Current</a:t>
            </a:r>
            <a:r>
              <a:rPr lang="fr-FR" noProof="0" dirty="0"/>
              <a:t> observation </a:t>
            </a:r>
            <a:r>
              <a:rPr lang="fr-FR" noProof="0" dirty="0" err="1"/>
              <a:t>independent</a:t>
            </a:r>
            <a:r>
              <a:rPr lang="fr-FR" noProof="0" dirty="0"/>
              <a:t> of all </a:t>
            </a:r>
            <a:r>
              <a:rPr lang="fr-FR" noProof="0" dirty="0" err="1"/>
              <a:t>else</a:t>
            </a:r>
            <a:r>
              <a:rPr lang="fr-FR" noProof="0" dirty="0"/>
              <a:t> </a:t>
            </a:r>
            <a:r>
              <a:rPr lang="fr-FR" noProof="0" dirty="0" err="1"/>
              <a:t>given</a:t>
            </a:r>
            <a:r>
              <a:rPr lang="fr-FR" noProof="0" dirty="0"/>
              <a:t> </a:t>
            </a:r>
            <a:r>
              <a:rPr lang="fr-FR" noProof="0" dirty="0" err="1"/>
              <a:t>current</a:t>
            </a:r>
            <a:r>
              <a:rPr lang="fr-FR" noProof="0" dirty="0"/>
              <a:t> state </a:t>
            </a:r>
          </a:p>
          <a:p>
            <a:pPr lvl="1"/>
            <a:endParaRPr lang="fr-FR" noProof="0" dirty="0"/>
          </a:p>
          <a:p>
            <a:pPr lvl="1"/>
            <a:endParaRPr lang="fr-FR" noProof="0" dirty="0"/>
          </a:p>
          <a:p>
            <a:pPr lvl="1"/>
            <a:endParaRPr lang="fr-FR" noProof="0" dirty="0"/>
          </a:p>
          <a:p>
            <a:pPr lvl="1"/>
            <a:endParaRPr lang="fr-FR" noProof="0" dirty="0"/>
          </a:p>
          <a:p>
            <a:pPr lvl="1"/>
            <a:endParaRPr lang="fr-FR" noProof="0" dirty="0"/>
          </a:p>
          <a:p>
            <a:endParaRPr lang="fr-FR" noProof="0" dirty="0"/>
          </a:p>
          <a:p>
            <a:r>
              <a:rPr lang="fr-FR" noProof="0" dirty="0"/>
              <a:t>Quiz: </a:t>
            </a:r>
            <a:r>
              <a:rPr lang="fr-FR" noProof="0" dirty="0" err="1"/>
              <a:t>does</a:t>
            </a:r>
            <a:r>
              <a:rPr lang="fr-FR" noProof="0" dirty="0"/>
              <a:t> </a:t>
            </a:r>
            <a:r>
              <a:rPr lang="fr-FR" noProof="0" dirty="0" err="1"/>
              <a:t>this</a:t>
            </a:r>
            <a:r>
              <a:rPr lang="fr-FR" noProof="0" dirty="0"/>
              <a:t> </a:t>
            </a:r>
            <a:r>
              <a:rPr lang="fr-FR" noProof="0" dirty="0" err="1"/>
              <a:t>mean</a:t>
            </a:r>
            <a:r>
              <a:rPr lang="fr-FR" noProof="0" dirty="0"/>
              <a:t> </a:t>
            </a:r>
            <a:r>
              <a:rPr lang="fr-FR" noProof="0" dirty="0" err="1"/>
              <a:t>that</a:t>
            </a:r>
            <a:r>
              <a:rPr lang="fr-FR" noProof="0" dirty="0"/>
              <a:t> observations are </a:t>
            </a:r>
            <a:r>
              <a:rPr lang="fr-FR" noProof="0" dirty="0" err="1"/>
              <a:t>independent</a:t>
            </a:r>
            <a:r>
              <a:rPr lang="fr-FR" noProof="0" dirty="0"/>
              <a:t> </a:t>
            </a:r>
            <a:r>
              <a:rPr lang="fr-FR" noProof="0" dirty="0" err="1"/>
              <a:t>given</a:t>
            </a:r>
            <a:r>
              <a:rPr lang="fr-FR" noProof="0" dirty="0"/>
              <a:t> no </a:t>
            </a:r>
            <a:r>
              <a:rPr lang="fr-FR" noProof="0" dirty="0" err="1"/>
              <a:t>evidence</a:t>
            </a:r>
            <a:r>
              <a:rPr lang="fr-FR" noProof="0" dirty="0"/>
              <a:t>?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819400"/>
            <a:ext cx="6086475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0AD1677-7971-4C80-B12F-FC28D385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2943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HMM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r-FR" noProof="0" dirty="0"/>
                  <a:t>A </a:t>
                </a:r>
                <a:r>
                  <a:rPr lang="fr-FR" noProof="0" dirty="0" err="1"/>
                  <a:t>hidden</a:t>
                </a:r>
                <a:r>
                  <a:rPr lang="fr-FR" noProof="0" dirty="0"/>
                  <a:t> Markov model (HMM) </a:t>
                </a:r>
                <a:r>
                  <a:rPr lang="fr-FR" noProof="0" dirty="0" err="1"/>
                  <a:t>is</a:t>
                </a:r>
                <a:r>
                  <a:rPr lang="fr-FR" noProof="0" dirty="0"/>
                  <a:t> a triple (</a:t>
                </a:r>
                <a:r>
                  <a:rPr lang="fr-FR" noProof="0" dirty="0">
                    <a:sym typeface="Symbol"/>
                  </a:rPr>
                  <a:t></a:t>
                </a:r>
                <a:r>
                  <a:rPr lang="fr-FR" noProof="0" dirty="0"/>
                  <a:t>,A,B) </a:t>
                </a:r>
                <a:r>
                  <a:rPr lang="fr-FR" noProof="0" dirty="0" err="1"/>
                  <a:t>where</a:t>
                </a:r>
                <a:r>
                  <a:rPr lang="fr-FR" noProof="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i="1" noProof="0" smtClean="0">
                        <a:latin typeface="Cambria Math"/>
                        <a:ea typeface="Cambria Math"/>
                      </a:rPr>
                      <m:t>Π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: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𝑖𝑛𝑖𝑡𝑖𝑎𝑙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𝑝𝑟𝑜𝑏𝑎𝑏𝑖𝑙𝑖𝑡𝑖𝑒𝑠</m:t>
                    </m:r>
                  </m:oMath>
                </a14:m>
                <a:endParaRPr lang="fr-FR" b="0" noProof="0" dirty="0">
                  <a:ea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i="1" noProof="0" smtClean="0">
                        <a:latin typeface="Cambria Math"/>
                        <a:ea typeface="Cambria Math"/>
                      </a:rPr>
                      <m:t>A</m:t>
                    </m:r>
                    <m:r>
                      <a:rPr lang="fr-FR" i="1" noProof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ctrlPr>
                          <a:rPr lang="fr-FR" i="1" noProof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 noProof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fr-FR" i="1" noProof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r-FR" i="1" noProof="0">
                        <a:latin typeface="Cambria Math"/>
                        <a:ea typeface="Cambria Math"/>
                      </a:rPr>
                      <m:t>: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𝑠𝑡𝑎𝑡𝑒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𝑡𝑟𝑎𝑛𝑠𝑖𝑡𝑖𝑜𝑛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𝑚𝑎𝑡𝑟𝑖𝑥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b="0" i="1" noProof="0" smtClean="0">
                                    <a:latin typeface="Cambria Math"/>
                                    <a:ea typeface="Cambria Math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fr-FR" b="0" i="1" noProof="0" smtClean="0">
                                    <a:latin typeface="Cambria Math"/>
                                    <a:ea typeface="Cambria Math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 </m:t>
                        </m:r>
                      </m:e>
                    </m:d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𝑗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b>
                        </m:sSub>
                      </m:sub>
                    </m:sSub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) </m:t>
                    </m:r>
                  </m:oMath>
                </a14:m>
                <a:endParaRPr lang="fr-FR" noProof="0" dirty="0">
                  <a:ea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i="1" noProof="0" smtClean="0">
                        <a:latin typeface="Cambria Math"/>
                        <a:ea typeface="Cambria Math"/>
                      </a:rPr>
                      <m:t>B</m:t>
                    </m:r>
                    <m:r>
                      <a:rPr lang="fr-FR" i="1" noProof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ctrlPr>
                          <a:rPr lang="fr-FR" i="1" noProof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 noProof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fr-FR" i="1" noProof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r-FR" i="1" noProof="0">
                        <a:latin typeface="Cambria Math"/>
                        <a:ea typeface="Cambria Math"/>
                      </a:rPr>
                      <m:t>: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𝑐𝑜𝑛𝑓𝑢𝑠𝑖𝑜𝑛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𝑚𝑎𝑡𝑟𝑖𝑥</m:t>
                    </m:r>
                  </m:oMath>
                </a14:m>
                <a:r>
                  <a:rPr lang="fr-FR" noProof="0" dirty="0"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 </m:t>
                        </m:r>
                      </m:e>
                    </m:d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  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fr-FR" b="0" i="1" noProof="0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fr-FR" noProof="0" dirty="0">
                  <a:ea typeface="Cambria Math"/>
                </a:endParaRPr>
              </a:p>
              <a:p>
                <a:pPr marL="274320" lvl="1" indent="0">
                  <a:buNone/>
                </a:pPr>
                <a:endParaRPr lang="fr-FR" noProof="0" dirty="0">
                  <a:ea typeface="Cambria Math"/>
                </a:endParaRPr>
              </a:p>
              <a:p>
                <a:pPr lvl="1"/>
                <a:endParaRPr lang="fr-FR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89" t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D4C42F4F-4D2A-4516-A293-656C2D1C6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6876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HMM </a:t>
            </a:r>
            <a:r>
              <a:rPr lang="fr-FR" noProof="0" dirty="0" err="1"/>
              <a:t>Problem</a:t>
            </a:r>
            <a:r>
              <a:rPr lang="fr-FR" noProof="0" dirty="0"/>
              <a:t>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Evaluation</a:t>
            </a:r>
            <a:br>
              <a:rPr lang="fr-FR" noProof="0" dirty="0"/>
            </a:br>
            <a:r>
              <a:rPr lang="fr-FR" noProof="0" dirty="0" err="1"/>
              <a:t>Consider</a:t>
            </a:r>
            <a:r>
              <a:rPr lang="fr-FR" noProof="0" dirty="0"/>
              <a:t> the </a:t>
            </a:r>
            <a:r>
              <a:rPr lang="fr-FR" noProof="0" dirty="0" err="1"/>
              <a:t>problem</a:t>
            </a:r>
            <a:r>
              <a:rPr lang="fr-FR" noProof="0" dirty="0"/>
              <a:t> </a:t>
            </a:r>
            <a:r>
              <a:rPr lang="fr-FR" noProof="0" dirty="0" err="1"/>
              <a:t>where</a:t>
            </a:r>
            <a:r>
              <a:rPr lang="fr-FR" noProof="0" dirty="0"/>
              <a:t> </a:t>
            </a:r>
            <a:r>
              <a:rPr lang="fr-FR" noProof="0" dirty="0" err="1"/>
              <a:t>we</a:t>
            </a:r>
            <a:r>
              <a:rPr lang="fr-FR" noProof="0" dirty="0"/>
              <a:t> have a </a:t>
            </a:r>
            <a:r>
              <a:rPr lang="fr-FR" noProof="0" dirty="0" err="1"/>
              <a:t>number</a:t>
            </a:r>
            <a:r>
              <a:rPr lang="fr-FR" noProof="0" dirty="0"/>
              <a:t> of </a:t>
            </a:r>
            <a:r>
              <a:rPr lang="fr-FR" noProof="0" dirty="0" err="1"/>
              <a:t>HMMs</a:t>
            </a:r>
            <a:r>
              <a:rPr lang="fr-FR" noProof="0" dirty="0"/>
              <a:t> (</a:t>
            </a:r>
            <a:r>
              <a:rPr lang="fr-FR" noProof="0" dirty="0" err="1"/>
              <a:t>that</a:t>
            </a:r>
            <a:r>
              <a:rPr lang="fr-FR" noProof="0" dirty="0"/>
              <a:t> </a:t>
            </a:r>
            <a:r>
              <a:rPr lang="fr-FR" noProof="0" dirty="0" err="1"/>
              <a:t>is</a:t>
            </a:r>
            <a:r>
              <a:rPr lang="fr-FR" noProof="0" dirty="0"/>
              <a:t>, a set of (</a:t>
            </a:r>
            <a:r>
              <a:rPr lang="fr-FR" noProof="0" dirty="0">
                <a:sym typeface="Symbol"/>
              </a:rPr>
              <a:t></a:t>
            </a:r>
            <a:r>
              <a:rPr lang="fr-FR" noProof="0" dirty="0"/>
              <a:t>,A,B) triples) </a:t>
            </a:r>
            <a:r>
              <a:rPr lang="fr-FR" noProof="0" dirty="0" err="1"/>
              <a:t>describing</a:t>
            </a:r>
            <a:r>
              <a:rPr lang="fr-FR" noProof="0" dirty="0"/>
              <a:t> </a:t>
            </a:r>
            <a:r>
              <a:rPr lang="fr-FR" noProof="0" dirty="0" err="1"/>
              <a:t>different</a:t>
            </a:r>
            <a:r>
              <a:rPr lang="fr-FR" noProof="0" dirty="0"/>
              <a:t> </a:t>
            </a:r>
            <a:r>
              <a:rPr lang="fr-FR" noProof="0" dirty="0" err="1"/>
              <a:t>systems</a:t>
            </a:r>
            <a:r>
              <a:rPr lang="fr-FR" noProof="0" dirty="0"/>
              <a:t>, and a </a:t>
            </a:r>
            <a:r>
              <a:rPr lang="fr-FR" noProof="0" dirty="0" err="1"/>
              <a:t>sequence</a:t>
            </a:r>
            <a:r>
              <a:rPr lang="fr-FR" noProof="0" dirty="0"/>
              <a:t> of observations. </a:t>
            </a:r>
            <a:r>
              <a:rPr lang="fr-FR" noProof="0" dirty="0" err="1"/>
              <a:t>We</a:t>
            </a:r>
            <a:r>
              <a:rPr lang="fr-FR" noProof="0" dirty="0"/>
              <a:t> </a:t>
            </a:r>
            <a:r>
              <a:rPr lang="fr-FR" noProof="0" dirty="0" err="1"/>
              <a:t>may</a:t>
            </a:r>
            <a:r>
              <a:rPr lang="fr-FR" noProof="0" dirty="0"/>
              <a:t> </a:t>
            </a:r>
            <a:r>
              <a:rPr lang="fr-FR" noProof="0" dirty="0" err="1"/>
              <a:t>want</a:t>
            </a:r>
            <a:r>
              <a:rPr lang="fr-FR" noProof="0" dirty="0"/>
              <a:t> to know </a:t>
            </a:r>
            <a:r>
              <a:rPr lang="fr-FR" noProof="0" dirty="0" err="1"/>
              <a:t>which</a:t>
            </a:r>
            <a:r>
              <a:rPr lang="fr-FR" noProof="0" dirty="0"/>
              <a:t> HMM </a:t>
            </a:r>
            <a:r>
              <a:rPr lang="fr-FR" noProof="0" dirty="0" err="1"/>
              <a:t>most</a:t>
            </a:r>
            <a:r>
              <a:rPr lang="fr-FR" noProof="0" dirty="0"/>
              <a:t> </a:t>
            </a:r>
            <a:r>
              <a:rPr lang="fr-FR" noProof="0" dirty="0" err="1"/>
              <a:t>probably</a:t>
            </a:r>
            <a:r>
              <a:rPr lang="fr-FR" noProof="0" dirty="0"/>
              <a:t> </a:t>
            </a:r>
            <a:r>
              <a:rPr lang="fr-FR" noProof="0" dirty="0" err="1"/>
              <a:t>generated</a:t>
            </a:r>
            <a:r>
              <a:rPr lang="fr-FR" noProof="0" dirty="0"/>
              <a:t> the </a:t>
            </a:r>
            <a:r>
              <a:rPr lang="fr-FR" noProof="0" dirty="0" err="1"/>
              <a:t>given</a:t>
            </a:r>
            <a:r>
              <a:rPr lang="fr-FR" noProof="0" dirty="0"/>
              <a:t> </a:t>
            </a:r>
            <a:r>
              <a:rPr lang="fr-FR" noProof="0" dirty="0" err="1"/>
              <a:t>sequence</a:t>
            </a:r>
            <a:r>
              <a:rPr lang="fr-FR" noProof="0" dirty="0"/>
              <a:t>.</a:t>
            </a:r>
          </a:p>
          <a:p>
            <a:r>
              <a:rPr lang="fr-FR" noProof="0" dirty="0"/>
              <a:t>Solution: </a:t>
            </a:r>
            <a:r>
              <a:rPr lang="fr-FR" noProof="0" dirty="0" err="1"/>
              <a:t>Forward</a:t>
            </a:r>
            <a:r>
              <a:rPr lang="fr-FR" noProof="0" dirty="0"/>
              <a:t> </a:t>
            </a:r>
            <a:r>
              <a:rPr lang="fr-FR" noProof="0" dirty="0" err="1"/>
              <a:t>Algorithm</a:t>
            </a:r>
            <a:endParaRPr lang="fr-FR" noProof="0" dirty="0"/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CBFEEA1D-0776-4658-8406-AB769BCF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1350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HMM </a:t>
            </a:r>
            <a:r>
              <a:rPr lang="fr-FR" noProof="0" dirty="0" err="1"/>
              <a:t>Problem</a:t>
            </a:r>
            <a:r>
              <a:rPr lang="fr-FR" noProof="0" dirty="0"/>
              <a:t>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 err="1"/>
              <a:t>Decoding</a:t>
            </a:r>
            <a:r>
              <a:rPr lang="fr-FR" noProof="0" dirty="0"/>
              <a:t>: </a:t>
            </a:r>
            <a:r>
              <a:rPr lang="fr-FR" noProof="0" dirty="0" err="1"/>
              <a:t>Finding</a:t>
            </a:r>
            <a:r>
              <a:rPr lang="fr-FR" noProof="0" dirty="0"/>
              <a:t> the </a:t>
            </a:r>
            <a:r>
              <a:rPr lang="fr-FR" noProof="0" dirty="0" err="1"/>
              <a:t>most</a:t>
            </a:r>
            <a:r>
              <a:rPr lang="fr-FR" noProof="0" dirty="0"/>
              <a:t> probable </a:t>
            </a:r>
            <a:r>
              <a:rPr lang="fr-FR" noProof="0" dirty="0" err="1"/>
              <a:t>sequence</a:t>
            </a:r>
            <a:r>
              <a:rPr lang="fr-FR" noProof="0" dirty="0"/>
              <a:t> of </a:t>
            </a:r>
            <a:r>
              <a:rPr lang="fr-FR" noProof="0" dirty="0" err="1"/>
              <a:t>hidden</a:t>
            </a:r>
            <a:r>
              <a:rPr lang="fr-FR" noProof="0" dirty="0"/>
              <a:t> states </a:t>
            </a:r>
            <a:r>
              <a:rPr lang="fr-FR" noProof="0" dirty="0" err="1"/>
              <a:t>given</a:t>
            </a:r>
            <a:r>
              <a:rPr lang="fr-FR" noProof="0" dirty="0"/>
              <a:t> </a:t>
            </a:r>
            <a:r>
              <a:rPr lang="fr-FR" noProof="0" dirty="0" err="1"/>
              <a:t>some</a:t>
            </a:r>
            <a:r>
              <a:rPr lang="fr-FR" noProof="0" dirty="0"/>
              <a:t> observations</a:t>
            </a:r>
          </a:p>
          <a:p>
            <a:r>
              <a:rPr lang="fr-FR" noProof="0" dirty="0" err="1"/>
              <a:t>Find</a:t>
            </a:r>
            <a:r>
              <a:rPr lang="fr-FR" noProof="0" dirty="0"/>
              <a:t> the </a:t>
            </a:r>
            <a:r>
              <a:rPr lang="fr-FR" noProof="0" dirty="0" err="1"/>
              <a:t>hidden</a:t>
            </a:r>
            <a:r>
              <a:rPr lang="fr-FR" noProof="0" dirty="0"/>
              <a:t> states </a:t>
            </a:r>
            <a:r>
              <a:rPr lang="fr-FR" noProof="0" dirty="0" err="1"/>
              <a:t>that</a:t>
            </a:r>
            <a:r>
              <a:rPr lang="fr-FR" noProof="0" dirty="0"/>
              <a:t> </a:t>
            </a:r>
            <a:r>
              <a:rPr lang="fr-FR" noProof="0" dirty="0" err="1"/>
              <a:t>generated</a:t>
            </a:r>
            <a:r>
              <a:rPr lang="fr-FR" noProof="0" dirty="0"/>
              <a:t> the </a:t>
            </a:r>
            <a:r>
              <a:rPr lang="fr-FR" noProof="0" dirty="0" err="1"/>
              <a:t>observed</a:t>
            </a:r>
            <a:r>
              <a:rPr lang="fr-FR" noProof="0" dirty="0"/>
              <a:t> output. </a:t>
            </a:r>
          </a:p>
          <a:p>
            <a:pPr lvl="1"/>
            <a:r>
              <a:rPr lang="fr-FR" noProof="0" dirty="0"/>
              <a:t>In </a:t>
            </a:r>
            <a:r>
              <a:rPr lang="fr-FR" noProof="0" dirty="0" err="1"/>
              <a:t>many</a:t>
            </a:r>
            <a:r>
              <a:rPr lang="fr-FR" noProof="0" dirty="0"/>
              <a:t> cases </a:t>
            </a:r>
            <a:r>
              <a:rPr lang="fr-FR" noProof="0" dirty="0" err="1"/>
              <a:t>we</a:t>
            </a:r>
            <a:r>
              <a:rPr lang="fr-FR" noProof="0" dirty="0"/>
              <a:t> are </a:t>
            </a:r>
            <a:r>
              <a:rPr lang="fr-FR" noProof="0" dirty="0" err="1"/>
              <a:t>interested</a:t>
            </a:r>
            <a:r>
              <a:rPr lang="fr-FR" noProof="0" dirty="0"/>
              <a:t> in the </a:t>
            </a:r>
            <a:r>
              <a:rPr lang="fr-FR" noProof="0" dirty="0" err="1"/>
              <a:t>hidden</a:t>
            </a:r>
            <a:r>
              <a:rPr lang="fr-FR" noProof="0" dirty="0"/>
              <a:t> states of the model </a:t>
            </a:r>
            <a:r>
              <a:rPr lang="fr-FR" noProof="0" dirty="0" err="1"/>
              <a:t>since</a:t>
            </a:r>
            <a:r>
              <a:rPr lang="fr-FR" noProof="0" dirty="0"/>
              <a:t> </a:t>
            </a:r>
            <a:r>
              <a:rPr lang="fr-FR" noProof="0" dirty="0" err="1"/>
              <a:t>they</a:t>
            </a:r>
            <a:r>
              <a:rPr lang="fr-FR" noProof="0" dirty="0"/>
              <a:t> </a:t>
            </a:r>
            <a:r>
              <a:rPr lang="fr-FR" noProof="0" dirty="0" err="1"/>
              <a:t>represent</a:t>
            </a:r>
            <a:r>
              <a:rPr lang="fr-FR" noProof="0" dirty="0"/>
              <a:t> </a:t>
            </a:r>
            <a:r>
              <a:rPr lang="fr-FR" noProof="0" dirty="0" err="1"/>
              <a:t>something</a:t>
            </a:r>
            <a:r>
              <a:rPr lang="fr-FR" noProof="0" dirty="0"/>
              <a:t> of value </a:t>
            </a:r>
            <a:r>
              <a:rPr lang="fr-FR" noProof="0" dirty="0" err="1"/>
              <a:t>that</a:t>
            </a:r>
            <a:r>
              <a:rPr lang="fr-FR" noProof="0" dirty="0"/>
              <a:t> </a:t>
            </a:r>
            <a:r>
              <a:rPr lang="fr-FR" noProof="0" dirty="0" err="1"/>
              <a:t>is</a:t>
            </a:r>
            <a:r>
              <a:rPr lang="fr-FR" noProof="0" dirty="0"/>
              <a:t> not </a:t>
            </a:r>
            <a:r>
              <a:rPr lang="fr-FR" noProof="0" dirty="0" err="1"/>
              <a:t>directly</a:t>
            </a:r>
            <a:r>
              <a:rPr lang="fr-FR" noProof="0" dirty="0"/>
              <a:t> observable</a:t>
            </a:r>
          </a:p>
          <a:p>
            <a:r>
              <a:rPr lang="fr-FR" noProof="0" dirty="0"/>
              <a:t>Solution: </a:t>
            </a:r>
          </a:p>
          <a:p>
            <a:pPr lvl="1"/>
            <a:r>
              <a:rPr lang="fr-FR" noProof="0" dirty="0" err="1"/>
              <a:t>Backward</a:t>
            </a:r>
            <a:r>
              <a:rPr lang="fr-FR" noProof="0" dirty="0"/>
              <a:t> </a:t>
            </a:r>
            <a:r>
              <a:rPr lang="fr-FR" noProof="0" dirty="0" err="1"/>
              <a:t>Algorithm</a:t>
            </a:r>
            <a:r>
              <a:rPr lang="fr-FR" noProof="0" dirty="0"/>
              <a:t> </a:t>
            </a:r>
          </a:p>
          <a:p>
            <a:pPr lvl="1"/>
            <a:r>
              <a:rPr lang="fr-FR" noProof="0" dirty="0"/>
              <a:t>or </a:t>
            </a:r>
            <a:r>
              <a:rPr lang="fr-FR" noProof="0" dirty="0" err="1"/>
              <a:t>Viterbi</a:t>
            </a:r>
            <a:r>
              <a:rPr lang="fr-FR" noProof="0" dirty="0"/>
              <a:t> </a:t>
            </a:r>
            <a:r>
              <a:rPr lang="fr-FR" noProof="0" dirty="0" err="1"/>
              <a:t>Algorithm</a:t>
            </a:r>
            <a:endParaRPr lang="fr-FR" noProof="0" dirty="0"/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CBA5FF1D-838D-439A-83E0-CA725F83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1125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HMM </a:t>
            </a:r>
            <a:r>
              <a:rPr lang="fr-FR" noProof="0" dirty="0" err="1"/>
              <a:t>Problem</a:t>
            </a:r>
            <a:r>
              <a:rPr lang="fr-FR" noProof="0" dirty="0"/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Learning: </a:t>
            </a:r>
            <a:r>
              <a:rPr lang="fr-FR" i="1" noProof="0" dirty="0" err="1"/>
              <a:t>Generating</a:t>
            </a:r>
            <a:r>
              <a:rPr lang="fr-FR" i="1" noProof="0" dirty="0"/>
              <a:t> a HMM </a:t>
            </a:r>
            <a:r>
              <a:rPr lang="fr-FR" i="1" noProof="0" dirty="0" err="1"/>
              <a:t>from</a:t>
            </a:r>
            <a:r>
              <a:rPr lang="fr-FR" i="1" noProof="0" dirty="0"/>
              <a:t> a </a:t>
            </a:r>
            <a:r>
              <a:rPr lang="fr-FR" i="1" noProof="0" dirty="0" err="1"/>
              <a:t>sequence</a:t>
            </a:r>
            <a:r>
              <a:rPr lang="fr-FR" i="1" noProof="0" dirty="0"/>
              <a:t> of observations</a:t>
            </a:r>
          </a:p>
          <a:p>
            <a:r>
              <a:rPr lang="fr-FR" i="1" noProof="0" dirty="0"/>
              <a:t>Solution: </a:t>
            </a:r>
            <a:r>
              <a:rPr lang="fr-FR" i="1" noProof="0" dirty="0" err="1"/>
              <a:t>Forward-Backward</a:t>
            </a:r>
            <a:r>
              <a:rPr lang="fr-FR" i="1" noProof="0" dirty="0"/>
              <a:t> </a:t>
            </a:r>
            <a:r>
              <a:rPr lang="fr-FR" i="1" noProof="0" dirty="0" err="1"/>
              <a:t>Algorithm</a:t>
            </a:r>
            <a:endParaRPr lang="fr-FR" i="1" noProof="0" dirty="0"/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1B2647D0-3088-4E2F-8CA5-91DFE1C4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69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95D7FB0-D99A-479E-923F-C4BEA9E5F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274" y="3217000"/>
            <a:ext cx="623887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903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Exhaustive </a:t>
            </a:r>
            <a:r>
              <a:rPr lang="fr-FR" noProof="0" dirty="0" err="1"/>
              <a:t>Search</a:t>
            </a:r>
            <a:r>
              <a:rPr lang="fr-FR" noProof="0" dirty="0"/>
              <a:t>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 err="1"/>
              <a:t>Sequence</a:t>
            </a:r>
            <a:r>
              <a:rPr lang="fr-FR" noProof="0" dirty="0"/>
              <a:t> of observations for </a:t>
            </a:r>
            <a:r>
              <a:rPr lang="fr-FR" noProof="0" dirty="0" err="1"/>
              <a:t>seaweed</a:t>
            </a:r>
            <a:r>
              <a:rPr lang="fr-FR" noProof="0" dirty="0"/>
              <a:t> state:</a:t>
            </a:r>
          </a:p>
          <a:p>
            <a:pPr lvl="1"/>
            <a:r>
              <a:rPr lang="fr-FR" noProof="0" dirty="0"/>
              <a:t>Dry</a:t>
            </a:r>
          </a:p>
          <a:p>
            <a:pPr lvl="1"/>
            <a:r>
              <a:rPr lang="fr-FR" noProof="0" dirty="0" err="1"/>
              <a:t>Damp</a:t>
            </a:r>
            <a:endParaRPr lang="fr-FR" noProof="0" dirty="0"/>
          </a:p>
          <a:p>
            <a:pPr lvl="1"/>
            <a:r>
              <a:rPr lang="fr-FR" noProof="0" dirty="0" err="1"/>
              <a:t>Soggy</a:t>
            </a:r>
            <a:endParaRPr lang="fr-FR" noProof="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219450"/>
            <a:ext cx="7163850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310438-E888-46A3-A9D7-DE751147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2403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Exhaustive </a:t>
            </a:r>
            <a:r>
              <a:rPr lang="fr-FR" noProof="0" dirty="0" err="1"/>
              <a:t>Search</a:t>
            </a:r>
            <a:r>
              <a:rPr lang="fr-FR" noProof="0" dirty="0"/>
              <a:t>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/>
              <a:t>Pr(</a:t>
            </a:r>
            <a:r>
              <a:rPr lang="fr-FR" noProof="0" dirty="0" err="1"/>
              <a:t>dry,damp,soggy</a:t>
            </a:r>
            <a:r>
              <a:rPr lang="fr-FR" noProof="0" dirty="0"/>
              <a:t> | HMM) = </a:t>
            </a:r>
            <a:br>
              <a:rPr lang="fr-FR" noProof="0" dirty="0"/>
            </a:br>
            <a:r>
              <a:rPr lang="fr-FR" noProof="0" dirty="0"/>
              <a:t>Pr(</a:t>
            </a:r>
            <a:r>
              <a:rPr lang="fr-FR" noProof="0" dirty="0" err="1"/>
              <a:t>dry,damp,soggy</a:t>
            </a:r>
            <a:r>
              <a:rPr lang="fr-FR" noProof="0" dirty="0"/>
              <a:t> | </a:t>
            </a:r>
            <a:r>
              <a:rPr lang="fr-FR" noProof="0" dirty="0" err="1"/>
              <a:t>sunny,sunny,sunny</a:t>
            </a:r>
            <a:r>
              <a:rPr lang="fr-FR" noProof="0" dirty="0"/>
              <a:t>) + Pr(</a:t>
            </a:r>
            <a:r>
              <a:rPr lang="fr-FR" noProof="0" dirty="0" err="1"/>
              <a:t>dry,damp,soggy</a:t>
            </a:r>
            <a:r>
              <a:rPr lang="fr-FR" noProof="0" dirty="0"/>
              <a:t> | </a:t>
            </a:r>
            <a:r>
              <a:rPr lang="fr-FR" noProof="0" dirty="0" err="1"/>
              <a:t>sunny,sunny</a:t>
            </a:r>
            <a:r>
              <a:rPr lang="fr-FR" noProof="0" dirty="0"/>
              <a:t> ,</a:t>
            </a:r>
            <a:r>
              <a:rPr lang="fr-FR" noProof="0" dirty="0" err="1"/>
              <a:t>cloudy</a:t>
            </a:r>
            <a:r>
              <a:rPr lang="fr-FR" noProof="0" dirty="0"/>
              <a:t>) + Pr(</a:t>
            </a:r>
            <a:r>
              <a:rPr lang="fr-FR" noProof="0" dirty="0" err="1"/>
              <a:t>dry,damp,soggy</a:t>
            </a:r>
            <a:r>
              <a:rPr lang="fr-FR" noProof="0" dirty="0"/>
              <a:t> | </a:t>
            </a:r>
            <a:r>
              <a:rPr lang="fr-FR" noProof="0" dirty="0" err="1"/>
              <a:t>sunny,sunny</a:t>
            </a:r>
            <a:r>
              <a:rPr lang="fr-FR" noProof="0" dirty="0"/>
              <a:t> ,</a:t>
            </a:r>
            <a:r>
              <a:rPr lang="fr-FR" noProof="0" dirty="0" err="1"/>
              <a:t>rainy</a:t>
            </a:r>
            <a:r>
              <a:rPr lang="fr-FR" noProof="0" dirty="0"/>
              <a:t>) + . . . . Pr(</a:t>
            </a:r>
            <a:r>
              <a:rPr lang="fr-FR" noProof="0" dirty="0" err="1"/>
              <a:t>dry,damp,soggy</a:t>
            </a:r>
            <a:r>
              <a:rPr lang="fr-FR" noProof="0" dirty="0"/>
              <a:t> | </a:t>
            </a:r>
            <a:r>
              <a:rPr lang="fr-FR" noProof="0" dirty="0" err="1"/>
              <a:t>rainy,rainy</a:t>
            </a:r>
            <a:r>
              <a:rPr lang="fr-FR" noProof="0" dirty="0"/>
              <a:t> ,</a:t>
            </a:r>
            <a:r>
              <a:rPr lang="fr-FR" noProof="0" dirty="0" err="1"/>
              <a:t>rainy</a:t>
            </a:r>
            <a:r>
              <a:rPr lang="fr-FR" noProof="0" dirty="0"/>
              <a:t>)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752850"/>
            <a:ext cx="7163850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A15C2A4-0ED0-4F0E-B59D-9BECEA87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1234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A </a:t>
            </a:r>
            <a:r>
              <a:rPr lang="fr-FR" noProof="0" dirty="0" err="1"/>
              <a:t>better</a:t>
            </a:r>
            <a:r>
              <a:rPr lang="fr-FR" noProof="0" dirty="0"/>
              <a:t> solution: </a:t>
            </a:r>
            <a:r>
              <a:rPr lang="fr-FR" noProof="0" dirty="0" err="1"/>
              <a:t>dynamic</a:t>
            </a:r>
            <a:r>
              <a:rPr lang="fr-FR" noProof="0" dirty="0"/>
              <a:t> </a:t>
            </a:r>
            <a:r>
              <a:rPr lang="fr-FR" noProof="0" dirty="0" err="1"/>
              <a:t>programming</a:t>
            </a:r>
            <a:endParaRPr lang="fr-F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 err="1"/>
              <a:t>We</a:t>
            </a:r>
            <a:r>
              <a:rPr lang="fr-FR" noProof="0" dirty="0"/>
              <a:t> can </a:t>
            </a:r>
            <a:r>
              <a:rPr lang="fr-FR" noProof="0" dirty="0" err="1"/>
              <a:t>calculate</a:t>
            </a:r>
            <a:r>
              <a:rPr lang="fr-FR" noProof="0" dirty="0"/>
              <a:t> the </a:t>
            </a:r>
            <a:r>
              <a:rPr lang="fr-FR" noProof="0" dirty="0" err="1"/>
              <a:t>probability</a:t>
            </a:r>
            <a:r>
              <a:rPr lang="fr-FR" noProof="0" dirty="0"/>
              <a:t> of </a:t>
            </a:r>
            <a:r>
              <a:rPr lang="fr-FR" noProof="0" dirty="0" err="1"/>
              <a:t>reaching</a:t>
            </a:r>
            <a:r>
              <a:rPr lang="fr-FR" noProof="0" dirty="0"/>
              <a:t> an </a:t>
            </a:r>
            <a:r>
              <a:rPr lang="fr-FR" noProof="0" dirty="0" err="1"/>
              <a:t>intermediate</a:t>
            </a:r>
            <a:r>
              <a:rPr lang="fr-FR" noProof="0" dirty="0"/>
              <a:t> state in the </a:t>
            </a:r>
            <a:r>
              <a:rPr lang="fr-FR" noProof="0" dirty="0" err="1"/>
              <a:t>trellis</a:t>
            </a:r>
            <a:r>
              <a:rPr lang="fr-FR" noProof="0" dirty="0"/>
              <a:t> as the </a:t>
            </a:r>
            <a:r>
              <a:rPr lang="fr-FR" noProof="0" dirty="0" err="1"/>
              <a:t>sum</a:t>
            </a:r>
            <a:r>
              <a:rPr lang="fr-FR" noProof="0" dirty="0"/>
              <a:t> of all possible </a:t>
            </a:r>
            <a:r>
              <a:rPr lang="fr-FR" noProof="0" dirty="0" err="1"/>
              <a:t>paths</a:t>
            </a:r>
            <a:r>
              <a:rPr lang="fr-FR" noProof="0" dirty="0"/>
              <a:t> to </a:t>
            </a:r>
            <a:r>
              <a:rPr lang="fr-FR" noProof="0" dirty="0" err="1"/>
              <a:t>that</a:t>
            </a:r>
            <a:r>
              <a:rPr lang="fr-FR" noProof="0" dirty="0"/>
              <a:t> state.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09900"/>
            <a:ext cx="5587821" cy="339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287B6C-0841-41F1-8C31-D639EA1A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09143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A </a:t>
            </a:r>
            <a:r>
              <a:rPr lang="fr-FR" noProof="0" dirty="0" err="1"/>
              <a:t>better</a:t>
            </a:r>
            <a:r>
              <a:rPr lang="fr-FR" noProof="0" dirty="0"/>
              <a:t> solution: </a:t>
            </a:r>
            <a:r>
              <a:rPr lang="fr-FR" noProof="0" dirty="0" err="1"/>
              <a:t>dynamic</a:t>
            </a:r>
            <a:r>
              <a:rPr lang="fr-FR" noProof="0" dirty="0"/>
              <a:t> </a:t>
            </a:r>
            <a:r>
              <a:rPr lang="fr-FR" noProof="0" dirty="0" err="1"/>
              <a:t>programming</a:t>
            </a:r>
            <a:endParaRPr lang="fr-F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noProof="0" dirty="0">
                <a:sym typeface="Symbol"/>
              </a:rPr>
              <a:t></a:t>
            </a:r>
            <a:r>
              <a:rPr lang="fr-FR" baseline="-25000" noProof="0" dirty="0"/>
              <a:t>t </a:t>
            </a:r>
            <a:r>
              <a:rPr lang="fr-FR" noProof="0" dirty="0"/>
              <a:t>( j )= Pr( observation | </a:t>
            </a:r>
            <a:r>
              <a:rPr lang="fr-FR" noProof="0" dirty="0" err="1"/>
              <a:t>hidden</a:t>
            </a:r>
            <a:r>
              <a:rPr lang="fr-FR" noProof="0" dirty="0"/>
              <a:t> state </a:t>
            </a:r>
            <a:r>
              <a:rPr lang="fr-FR" noProof="0" dirty="0" err="1"/>
              <a:t>is</a:t>
            </a:r>
            <a:r>
              <a:rPr lang="fr-FR" noProof="0" dirty="0"/>
              <a:t> j ) x Pr(all </a:t>
            </a:r>
            <a:r>
              <a:rPr lang="fr-FR" noProof="0" dirty="0" err="1"/>
              <a:t>paths</a:t>
            </a:r>
            <a:r>
              <a:rPr lang="fr-FR" noProof="0" dirty="0"/>
              <a:t> to state j at time t)	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667000"/>
            <a:ext cx="6090361" cy="329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4E1EA0-85F8-4109-B455-84C751ED3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8772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A </a:t>
            </a:r>
            <a:r>
              <a:rPr lang="fr-FR" noProof="0" dirty="0" err="1"/>
              <a:t>better</a:t>
            </a:r>
            <a:r>
              <a:rPr lang="fr-FR" noProof="0" dirty="0"/>
              <a:t> solution: </a:t>
            </a:r>
            <a:r>
              <a:rPr lang="fr-FR" noProof="0" dirty="0" err="1"/>
              <a:t>dynamic</a:t>
            </a:r>
            <a:r>
              <a:rPr lang="fr-FR" noProof="0" dirty="0"/>
              <a:t> </a:t>
            </a:r>
            <a:r>
              <a:rPr lang="fr-FR" noProof="0" dirty="0" err="1"/>
              <a:t>programming</a:t>
            </a:r>
            <a:endParaRPr lang="fr-F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r-FR" noProof="0" dirty="0"/>
                  <a:t>the </a:t>
                </a:r>
                <a:r>
                  <a:rPr lang="fr-FR" noProof="0" dirty="0" err="1"/>
                  <a:t>sum</a:t>
                </a:r>
                <a:r>
                  <a:rPr lang="fr-FR" noProof="0" dirty="0"/>
                  <a:t> of </a:t>
                </a:r>
                <a:r>
                  <a:rPr lang="fr-FR" noProof="0" dirty="0" err="1"/>
                  <a:t>these</a:t>
                </a:r>
                <a:r>
                  <a:rPr lang="fr-FR" noProof="0" dirty="0"/>
                  <a:t> final partial </a:t>
                </a:r>
                <a:r>
                  <a:rPr lang="fr-FR" noProof="0" dirty="0" err="1"/>
                  <a:t>probabilities</a:t>
                </a:r>
                <a:r>
                  <a:rPr lang="fr-FR" noProof="0" dirty="0"/>
                  <a:t> </a:t>
                </a:r>
                <a:r>
                  <a:rPr lang="fr-FR" noProof="0" dirty="0" err="1"/>
                  <a:t>is</a:t>
                </a:r>
                <a:r>
                  <a:rPr lang="fr-FR" noProof="0" dirty="0"/>
                  <a:t> the </a:t>
                </a:r>
                <a:r>
                  <a:rPr lang="fr-FR" noProof="0" dirty="0" err="1"/>
                  <a:t>sum</a:t>
                </a:r>
                <a:r>
                  <a:rPr lang="fr-FR" noProof="0" dirty="0"/>
                  <a:t> of all possible </a:t>
                </a:r>
                <a:r>
                  <a:rPr lang="fr-FR" noProof="0" dirty="0" err="1"/>
                  <a:t>paths</a:t>
                </a:r>
                <a:r>
                  <a:rPr lang="fr-FR" noProof="0" dirty="0"/>
                  <a:t> </a:t>
                </a:r>
                <a:r>
                  <a:rPr lang="fr-FR" noProof="0" dirty="0" err="1"/>
                  <a:t>through</a:t>
                </a:r>
                <a:r>
                  <a:rPr lang="fr-FR" noProof="0" dirty="0"/>
                  <a:t> the </a:t>
                </a:r>
                <a:r>
                  <a:rPr lang="fr-FR" noProof="0" dirty="0" err="1"/>
                  <a:t>trellis</a:t>
                </a:r>
                <a:endParaRPr lang="fr-FR" noProof="0" dirty="0"/>
              </a:p>
              <a:p>
                <a:r>
                  <a:rPr lang="fr-FR" noProof="0" dirty="0">
                    <a:sym typeface="Symbol"/>
                  </a:rPr>
                  <a:t></a:t>
                </a:r>
                <a:r>
                  <a:rPr lang="fr-FR" baseline="-25000" noProof="0" dirty="0"/>
                  <a:t>t </a:t>
                </a:r>
                <a:r>
                  <a:rPr lang="fr-FR" noProof="0" dirty="0"/>
                  <a:t>( j )= Pr( observation | </a:t>
                </a:r>
                <a:r>
                  <a:rPr lang="fr-FR" noProof="0" dirty="0" err="1"/>
                  <a:t>hidden</a:t>
                </a:r>
                <a:r>
                  <a:rPr lang="fr-FR" noProof="0" dirty="0"/>
                  <a:t> state </a:t>
                </a:r>
                <a:r>
                  <a:rPr lang="fr-FR" noProof="0" dirty="0" err="1"/>
                  <a:t>is</a:t>
                </a:r>
                <a:r>
                  <a:rPr lang="fr-FR" noProof="0" dirty="0"/>
                  <a:t> j ) x Pr(all </a:t>
                </a:r>
                <a:r>
                  <a:rPr lang="fr-FR" noProof="0" dirty="0" err="1"/>
                  <a:t>paths</a:t>
                </a:r>
                <a:r>
                  <a:rPr lang="fr-FR" noProof="0" dirty="0"/>
                  <a:t> to state j at time 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noProof="0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fr-FR" b="0" i="0" noProof="0" smtClean="0">
                        <a:latin typeface="Cambria Math"/>
                      </a:rPr>
                      <m:t>= </m:t>
                    </m:r>
                    <m:r>
                      <m:rPr>
                        <m:sty m:val="p"/>
                      </m:rPr>
                      <a:rPr lang="fr-FR" b="0" i="1" noProof="0" smtClean="0">
                        <a:latin typeface="Cambria Math"/>
                        <a:ea typeface="Cambria Math"/>
                      </a:rPr>
                      <m:t>π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𝑗</m:t>
                        </m:r>
                      </m:e>
                    </m:d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𝑗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r-FR" noProof="0" dirty="0"/>
                  <a:t> </a:t>
                </a:r>
              </a:p>
              <a:p>
                <a:endParaRPr lang="fr-FR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9" t="-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35499"/>
            <a:ext cx="6986588" cy="2122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1A0F9A3-6A24-44D0-8009-DA8383DA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72379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A </a:t>
            </a:r>
            <a:r>
              <a:rPr lang="fr-FR" noProof="0" dirty="0" err="1"/>
              <a:t>better</a:t>
            </a:r>
            <a:r>
              <a:rPr lang="fr-FR" noProof="0" dirty="0"/>
              <a:t> solution: </a:t>
            </a:r>
            <a:r>
              <a:rPr lang="fr-FR" noProof="0" dirty="0" err="1"/>
              <a:t>dynamic</a:t>
            </a:r>
            <a:r>
              <a:rPr lang="fr-FR" noProof="0" dirty="0"/>
              <a:t> </a:t>
            </a:r>
            <a:r>
              <a:rPr lang="fr-FR" noProof="0" dirty="0" err="1"/>
              <a:t>programming</a:t>
            </a:r>
            <a:endParaRPr lang="fr-F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527048"/>
                <a:ext cx="8503920" cy="228295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fr-FR" noProof="0" dirty="0">
                    <a:sym typeface="Symbol"/>
                  </a:rPr>
                  <a:t></a:t>
                </a:r>
                <a:r>
                  <a:rPr lang="fr-FR" baseline="-25000" noProof="0" dirty="0"/>
                  <a:t>t </a:t>
                </a:r>
                <a:r>
                  <a:rPr lang="fr-FR" noProof="0" dirty="0"/>
                  <a:t>( j )= Pr( observation | </a:t>
                </a:r>
                <a:r>
                  <a:rPr lang="fr-FR" noProof="0" dirty="0" err="1"/>
                  <a:t>hidden</a:t>
                </a:r>
                <a:r>
                  <a:rPr lang="fr-FR" noProof="0" dirty="0"/>
                  <a:t> state </a:t>
                </a:r>
                <a:r>
                  <a:rPr lang="fr-FR" noProof="0" dirty="0" err="1"/>
                  <a:t>is</a:t>
                </a:r>
                <a:r>
                  <a:rPr lang="fr-FR" noProof="0" dirty="0"/>
                  <a:t> j ) x Pr(all </a:t>
                </a:r>
                <a:r>
                  <a:rPr lang="fr-FR" noProof="0" dirty="0" err="1"/>
                  <a:t>paths</a:t>
                </a:r>
                <a:r>
                  <a:rPr lang="fr-FR" noProof="0" dirty="0"/>
                  <a:t> to state j at time 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noProof="0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</a:rPr>
                          <m:t>𝑡</m:t>
                        </m:r>
                        <m:r>
                          <a:rPr lang="fr-FR" b="0" i="1" noProof="0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fr-FR" b="0" i="1" noProof="0" smtClean="0">
                        <a:latin typeface="Cambria Math"/>
                      </a:rPr>
                      <m:t>(</m:t>
                    </m:r>
                    <m:r>
                      <a:rPr lang="fr-FR" b="0" i="1" noProof="0" smtClean="0">
                        <a:latin typeface="Cambria Math"/>
                      </a:rPr>
                      <m:t>𝑗</m:t>
                    </m:r>
                    <m:r>
                      <a:rPr lang="fr-FR" b="0" i="1" noProof="0" smtClean="0">
                        <a:latin typeface="Cambria Math"/>
                      </a:rPr>
                      <m:t>)</m:t>
                    </m:r>
                    <m:r>
                      <a:rPr lang="fr-FR" b="0" i="0" noProof="0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𝑗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+1</m:t>
                            </m:r>
                          </m:sub>
                        </m:sSub>
                      </m:sub>
                    </m:sSub>
                    <m:nary>
                      <m:naryPr>
                        <m:chr m:val="∑"/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noProof="0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nary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fr-FR" b="0" i="1" noProof="0" smtClean="0">
                            <a:latin typeface="Cambria Math"/>
                            <a:ea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fr-FR" noProof="0" dirty="0"/>
              </a:p>
              <a:p>
                <a:r>
                  <a:rPr lang="fr-FR" noProof="0" dirty="0"/>
                  <a:t>Exhaustive </a:t>
                </a:r>
                <a:r>
                  <a:rPr lang="fr-FR" noProof="0" dirty="0" err="1"/>
                  <a:t>search</a:t>
                </a:r>
                <a:r>
                  <a:rPr lang="fr-FR" noProof="0" dirty="0"/>
                  <a:t>: O(T</a:t>
                </a:r>
                <a:r>
                  <a:rPr lang="fr-FR" baseline="30000" noProof="0" dirty="0"/>
                  <a:t>m</a:t>
                </a:r>
                <a:r>
                  <a:rPr lang="fr-FR" noProof="0" dirty="0"/>
                  <a:t>)</a:t>
                </a:r>
              </a:p>
              <a:p>
                <a:r>
                  <a:rPr lang="fr-FR" noProof="0" dirty="0"/>
                  <a:t>Dynamic </a:t>
                </a:r>
                <a:r>
                  <a:rPr lang="fr-FR" noProof="0" dirty="0" err="1"/>
                  <a:t>programming</a:t>
                </a:r>
                <a:r>
                  <a:rPr lang="fr-FR" noProof="0" dirty="0"/>
                  <a:t>: O(T)</a:t>
                </a:r>
              </a:p>
              <a:p>
                <a:endParaRPr lang="fr-FR" noProof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527048"/>
                <a:ext cx="8503920" cy="2282952"/>
              </a:xfrm>
              <a:blipFill>
                <a:blip r:embed="rId2"/>
                <a:stretch>
                  <a:fillRect l="-789" t="-4545" b="-69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3937345"/>
            <a:ext cx="3276600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3704D2C-F957-4C0A-AE35-3361D95A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027113"/>
            <a:ext cx="457200" cy="441325"/>
          </a:xfrm>
        </p:spPr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754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9511B-4326-4DC0-99FB-065396FC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Filtres de </a:t>
            </a:r>
            <a:r>
              <a:rPr lang="fr-FR" dirty="0" err="1"/>
              <a:t>Kalman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76DD07C-9708-4326-A72E-24C1D7A254E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371600"/>
                <a:ext cx="8503920" cy="503872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fr-FR" dirty="0"/>
                  <a:t>Introduction</a:t>
                </a:r>
              </a:p>
              <a:p>
                <a:pPr lvl="1"/>
                <a:r>
                  <a:rPr lang="fr-FR" dirty="0"/>
                  <a:t>Observation de variables continues bruitées dans le temps </a:t>
                </a:r>
              </a:p>
              <a:p>
                <a:pPr lvl="2"/>
                <a:r>
                  <a:rPr lang="fr-FR" dirty="0"/>
                  <a:t>= radar, planètes, vision</a:t>
                </a:r>
              </a:p>
              <a:p>
                <a:pPr lvl="1"/>
                <a:r>
                  <a:rPr lang="fr-FR" dirty="0"/>
                  <a:t>Ex: Oiseau: </a:t>
                </a:r>
                <a:r>
                  <a:rPr lang="fr-FR" dirty="0">
                    <a:sym typeface="Wingdings" panose="05000000000000000000" pitchFamily="2" charset="2"/>
                  </a:rPr>
                  <a:t>X = </a:t>
                </a:r>
                <a:r>
                  <a:rPr lang="fr-FR" dirty="0"/>
                  <a:t>6 </a:t>
                </a:r>
                <a:r>
                  <a:rPr lang="fr-FR" dirty="0">
                    <a:sym typeface="Wingdings" panose="05000000000000000000" pitchFamily="2" charset="2"/>
                  </a:rPr>
                  <a:t>Variables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fr-FR" b="0" i="1" baseline="-25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𝑌𝑡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𝑍𝑡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𝑒𝑡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(</m:t>
                    </m:r>
                    <m:acc>
                      <m:accPr>
                        <m:chr m:val="̇"/>
                        <m:ctrlP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e>
                    </m:acc>
                    <m:r>
                      <a:rPr lang="fr-FR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acc>
                      <m:accPr>
                        <m:chr m:val="̇"/>
                        <m:ctrlP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𝑌</m:t>
                        </m:r>
                      </m:e>
                    </m:acc>
                    <m:r>
                      <a:rPr lang="fr-FR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acc>
                      <m:accPr>
                        <m:chr m:val="̇"/>
                        <m:ctrlP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𝑍</m:t>
                        </m:r>
                      </m:e>
                    </m:acc>
                    <m:r>
                      <a:rPr lang="fr-FR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fr-FR" dirty="0"/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 modèles de transition et de capteur (X, Z)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 densités conditionnelles linéaires gaussiennes</a:t>
                </a:r>
              </a:p>
              <a:p>
                <a:pPr lvl="3"/>
                <a:r>
                  <a:rPr lang="fr-FR" dirty="0">
                    <a:sym typeface="Wingdings" panose="05000000000000000000" pitchFamily="2" charset="2"/>
                  </a:rPr>
                  <a:t> Distribution gaussienne multivariée </a:t>
                </a:r>
              </a:p>
              <a:p>
                <a:pPr lvl="4"/>
                <a:r>
                  <a:rPr lang="fr-FR" dirty="0">
                    <a:sym typeface="Wingdings" panose="05000000000000000000" pitchFamily="2" charset="2"/>
                  </a:rPr>
                  <a:t> Définie par moyenne 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𝜇</m:t>
                    </m:r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 et matrice de covariance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Σ</m:t>
                    </m:r>
                  </m:oMath>
                </a14:m>
                <a:endParaRPr lang="fr-FR" dirty="0"/>
              </a:p>
              <a:p>
                <a:r>
                  <a:rPr lang="fr-FR" dirty="0"/>
                  <a:t>Mise à jour des distributions gaussiennes</a:t>
                </a:r>
              </a:p>
              <a:p>
                <a:pPr lvl="1"/>
                <a:r>
                  <a:rPr lang="fr-FR" dirty="0"/>
                  <a:t>Distribution gaussiennes fermée par opérations bayésiennes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 Filtrage possible car                                                               </a:t>
                </a:r>
                <a:r>
                  <a:rPr lang="fr-FR" dirty="0"/>
                  <a:t>est gaussienne</a:t>
                </a:r>
              </a:p>
              <a:p>
                <a:pPr lvl="2"/>
                <a:br>
                  <a:rPr lang="fr-FR" dirty="0"/>
                </a:br>
                <a:r>
                  <a:rPr lang="fr-FR" dirty="0"/>
                  <a:t> et                                                                                              est gaussienne</a:t>
                </a:r>
              </a:p>
              <a:p>
                <a:r>
                  <a:rPr lang="fr-FR" dirty="0"/>
                  <a:t>Exemple unidimensionnel</a:t>
                </a:r>
              </a:p>
              <a:p>
                <a:pPr lvl="1"/>
                <a:r>
                  <a:rPr lang="fr-FR" dirty="0"/>
                  <a:t>Indice de confiance </a:t>
                </a:r>
                <a:r>
                  <a:rPr lang="fr-FR" dirty="0" err="1"/>
                  <a:t>x</a:t>
                </a:r>
                <a:r>
                  <a:rPr lang="fr-FR" baseline="-25000" dirty="0" err="1"/>
                  <a:t>t</a:t>
                </a:r>
                <a:r>
                  <a:rPr lang="fr-FR" dirty="0"/>
                  <a:t> avec </a:t>
                </a:r>
                <a:r>
                  <a:rPr lang="fr-FR" dirty="0" err="1"/>
                  <a:t>dist</a:t>
                </a:r>
                <a:r>
                  <a:rPr lang="fr-FR" dirty="0"/>
                  <a:t>. a priori                                        , modèle de transition </a:t>
                </a:r>
              </a:p>
              <a:p>
                <a:pPr lvl="1"/>
                <a:r>
                  <a:rPr lang="fr-FR" dirty="0"/>
                  <a:t>Et modèle de capteur = sondages </a:t>
                </a:r>
                <a:br>
                  <a:rPr lang="fr-FR" dirty="0"/>
                </a:br>
                <a:endParaRPr lang="fr-FR" dirty="0"/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Application de </a:t>
                </a:r>
                <a:r>
                  <a:rPr lang="fr-FR" dirty="0" err="1">
                    <a:sym typeface="Wingdings" panose="05000000000000000000" pitchFamily="2" charset="2"/>
                  </a:rPr>
                  <a:t>Forward</a:t>
                </a:r>
                <a:r>
                  <a:rPr lang="fr-FR" dirty="0">
                    <a:sym typeface="Wingdings" panose="05000000000000000000" pitchFamily="2" charset="2"/>
                  </a:rPr>
                  <a:t> sur une gaussienne  </a:t>
                </a:r>
                <a:endParaRPr lang="fr-FR" dirty="0"/>
              </a:p>
              <a:p>
                <a:r>
                  <a:rPr lang="fr-FR" dirty="0"/>
                  <a:t>Cas général</a:t>
                </a:r>
              </a:p>
              <a:p>
                <a:pPr lvl="1"/>
                <a:r>
                  <a:rPr lang="fr-FR" dirty="0"/>
                  <a:t>Formule générale pour une gaussienne multivariée</a:t>
                </a:r>
              </a:p>
              <a:p>
                <a:pPr lvl="1"/>
                <a:r>
                  <a:rPr lang="fr-FR" dirty="0"/>
                  <a:t>Matrice de gain de </a:t>
                </a:r>
                <a:r>
                  <a:rPr lang="fr-FR" dirty="0" err="1"/>
                  <a:t>Kalman</a:t>
                </a:r>
                <a:r>
                  <a:rPr lang="fr-FR" dirty="0"/>
                  <a:t> K</a:t>
                </a:r>
                <a:r>
                  <a:rPr lang="fr-FR" baseline="-25000" dirty="0"/>
                  <a:t>t+1</a:t>
                </a:r>
                <a:r>
                  <a:rPr lang="fr-FR" dirty="0"/>
                  <a:t> utile pour le calcul de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fr-FR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+1 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𝑒𝑡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fr-FR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fr-FR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fr-FR" baseline="-25000" dirty="0"/>
              </a:p>
              <a:p>
                <a:pPr lvl="1"/>
                <a:r>
                  <a:rPr lang="fr-FR" dirty="0"/>
                  <a:t>Lissage également possible </a:t>
                </a:r>
                <a:r>
                  <a:rPr lang="fr-FR" dirty="0">
                    <a:sym typeface="Wingdings" panose="05000000000000000000" pitchFamily="2" charset="2"/>
                  </a:rPr>
                  <a:t> trajectoire + régulière sauf aux extrémités</a:t>
                </a:r>
                <a:endParaRPr lang="fr-FR" baseline="-25000" dirty="0"/>
              </a:p>
              <a:p>
                <a:r>
                  <a:rPr lang="fr-FR" dirty="0"/>
                  <a:t>Applications</a:t>
                </a:r>
              </a:p>
              <a:p>
                <a:pPr lvl="1"/>
                <a:r>
                  <a:rPr lang="fr-FR" dirty="0"/>
                  <a:t>Vaste gamme, ex: poursuite radar, trajectoires de particules, météo, économies etc.</a:t>
                </a:r>
              </a:p>
              <a:p>
                <a:pPr lvl="1"/>
                <a:r>
                  <a:rPr lang="fr-FR" dirty="0"/>
                  <a:t>Hypothèses linéaires fortes </a:t>
                </a:r>
                <a:r>
                  <a:rPr lang="fr-FR" dirty="0">
                    <a:sym typeface="Wingdings" panose="05000000000000000000" pitchFamily="2" charset="2"/>
                  </a:rPr>
                  <a:t> Filtres de </a:t>
                </a:r>
                <a:r>
                  <a:rPr lang="fr-FR" dirty="0" err="1">
                    <a:sym typeface="Wingdings" panose="05000000000000000000" pitchFamily="2" charset="2"/>
                  </a:rPr>
                  <a:t>Kalman</a:t>
                </a:r>
                <a:r>
                  <a:rPr lang="fr-FR" dirty="0">
                    <a:sym typeface="Wingdings" panose="05000000000000000000" pitchFamily="2" charset="2"/>
                  </a:rPr>
                  <a:t> étendus = non linéaires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Ex: oiseau devant obstacle 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filtres commutés exécutés en parallèle et pondérés par vraisemblance</a:t>
                </a:r>
                <a:endParaRPr lang="en-US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76DD07C-9708-4326-A72E-24C1D7A25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371600"/>
                <a:ext cx="8503920" cy="5038725"/>
              </a:xfrm>
              <a:blipFill>
                <a:blip r:embed="rId2"/>
                <a:stretch>
                  <a:fillRect t="-10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D0A8FB8-3E1A-4FED-8F15-16666D52D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DD8AD8-3F11-4250-ABC9-CC38AF322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209B86B-DEC4-4657-A2FA-BA01E37D4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644687"/>
            <a:ext cx="1724025" cy="11339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4BC0B13-1628-4840-B8A8-B3E9E5321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3200400"/>
            <a:ext cx="2133600" cy="31479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66137C9-21B5-4C99-8B86-4A692E36B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467" y="3505200"/>
            <a:ext cx="2981325" cy="21907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0E1BBF0-A3C0-448A-A5A6-C274374E66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2317" y="3810000"/>
            <a:ext cx="1346883" cy="33486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BF781E5-9ADA-4B0D-99D9-AD32C78C93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165" y="3886200"/>
            <a:ext cx="1976435" cy="37274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2915059-C83B-4E98-AD6C-911E6818D1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4428" y="4114800"/>
            <a:ext cx="1596172" cy="30600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FD22EB1-1867-4943-9789-0C72BA9694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3937" y="4343400"/>
            <a:ext cx="3548063" cy="39237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C2D7FB8-27B4-43E0-9C55-716C120FFC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6350" y="4724400"/>
            <a:ext cx="2533650" cy="32385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D78B7A5-93CA-4A02-A96D-8E5AC5150A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7317" y="5754189"/>
            <a:ext cx="1976435" cy="85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8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584BC-F352-46A7-BD94-72C20B028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bayésiens dynamiques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107E68-569A-45EE-BBFF-E6E01AAC67D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Généralisation HMM, </a:t>
            </a:r>
            <a:r>
              <a:rPr lang="fr-FR" dirty="0" err="1"/>
              <a:t>Kalman</a:t>
            </a:r>
            <a:r>
              <a:rPr lang="fr-FR" dirty="0"/>
              <a:t> etc.</a:t>
            </a:r>
          </a:p>
          <a:p>
            <a:pPr lvl="1"/>
            <a:r>
              <a:rPr lang="fr-FR" dirty="0"/>
              <a:t>Modèle probabiliste temporel</a:t>
            </a:r>
          </a:p>
          <a:p>
            <a:pPr lvl="2"/>
            <a:r>
              <a:rPr lang="fr-FR" dirty="0"/>
              <a:t>Variables </a:t>
            </a:r>
            <a:r>
              <a:rPr lang="fr-FR" dirty="0" err="1"/>
              <a:t>X</a:t>
            </a:r>
            <a:r>
              <a:rPr lang="fr-FR" baseline="-25000" dirty="0" err="1"/>
              <a:t>t</a:t>
            </a:r>
            <a:r>
              <a:rPr lang="fr-FR" dirty="0"/>
              <a:t> d’état et </a:t>
            </a:r>
            <a:r>
              <a:rPr lang="fr-FR" dirty="0" err="1"/>
              <a:t>E</a:t>
            </a:r>
            <a:r>
              <a:rPr lang="fr-FR" baseline="-25000" dirty="0" err="1"/>
              <a:t>t</a:t>
            </a:r>
            <a:r>
              <a:rPr lang="fr-FR" dirty="0"/>
              <a:t> d’observations, dans des coupes arbitraires</a:t>
            </a:r>
          </a:p>
          <a:p>
            <a:pPr lvl="2"/>
            <a:r>
              <a:rPr lang="fr-FR" dirty="0"/>
              <a:t>Cf transformation HMM </a:t>
            </a:r>
            <a:r>
              <a:rPr lang="fr-FR" dirty="0">
                <a:sym typeface="Wingdings" panose="05000000000000000000" pitchFamily="2" charset="2"/>
              </a:rPr>
              <a:t>RBD (vecteur multidimensionnel)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Modèle (beaucoup) plus parcimonieux</a:t>
            </a:r>
            <a:endParaRPr lang="fr-FR" dirty="0"/>
          </a:p>
          <a:p>
            <a:r>
              <a:rPr lang="fr-FR" dirty="0"/>
              <a:t>Construction d’un RBD</a:t>
            </a:r>
          </a:p>
          <a:p>
            <a:pPr lvl="1"/>
            <a:r>
              <a:rPr lang="fr-FR" dirty="0"/>
              <a:t>Distribution a priori , modèle de transition, de capteur</a:t>
            </a:r>
          </a:p>
          <a:p>
            <a:pPr lvl="1"/>
            <a:r>
              <a:rPr lang="fr-FR" dirty="0"/>
              <a:t>Ex: Robot: jauge de batterie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 Modèle de défaillance temporaire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 Modèle de défaillance persistante  « Jauge cassée »</a:t>
            </a:r>
            <a:endParaRPr lang="fr-FR" dirty="0"/>
          </a:p>
          <a:p>
            <a:r>
              <a:rPr lang="fr-FR" dirty="0"/>
              <a:t>Inférence exacte</a:t>
            </a:r>
          </a:p>
          <a:p>
            <a:pPr lvl="1"/>
            <a:r>
              <a:rPr lang="fr-FR" dirty="0"/>
              <a:t>Possibilité: dépliement de suffisamment de coupes</a:t>
            </a:r>
          </a:p>
          <a:p>
            <a:pPr lvl="2"/>
            <a:r>
              <a:rPr lang="fr-FR" dirty="0"/>
              <a:t>Puis élimination, clustering </a:t>
            </a:r>
          </a:p>
          <a:p>
            <a:pPr lvl="2"/>
            <a:r>
              <a:rPr lang="fr-FR" dirty="0"/>
              <a:t>Utilité du fonctionnement récursif (sommations partielles) </a:t>
            </a:r>
          </a:p>
          <a:p>
            <a:pPr lvl="3"/>
            <a:r>
              <a:rPr lang="fr-FR" dirty="0"/>
              <a:t>mais résultat pas </a:t>
            </a:r>
            <a:r>
              <a:rPr lang="fr-FR" dirty="0" err="1"/>
              <a:t>factorisable</a:t>
            </a:r>
            <a:endParaRPr lang="fr-FR" dirty="0"/>
          </a:p>
          <a:p>
            <a:pPr lvl="2"/>
            <a:r>
              <a:rPr lang="fr-FR" dirty="0">
                <a:sym typeface="Wingdings" panose="05000000000000000000" pitchFamily="2" charset="2"/>
              </a:rPr>
              <a:t> Souvent, méthodes approximatives uniquement</a:t>
            </a:r>
            <a:endParaRPr lang="fr-FR" dirty="0"/>
          </a:p>
          <a:p>
            <a:r>
              <a:rPr lang="fr-FR" dirty="0"/>
              <a:t>Inférence approchée</a:t>
            </a:r>
          </a:p>
          <a:p>
            <a:pPr lvl="1"/>
            <a:r>
              <a:rPr lang="fr-FR" dirty="0"/>
              <a:t>Pondération par vraisemblance et méthodes MCMC adaptables</a:t>
            </a:r>
          </a:p>
          <a:p>
            <a:pPr lvl="1"/>
            <a:r>
              <a:rPr lang="fr-FR" dirty="0"/>
              <a:t>Ex: Filtrage particulaire: on rejette les échantillons trop faibles et on duplique les autres parmi N</a:t>
            </a:r>
          </a:p>
          <a:p>
            <a:r>
              <a:rPr lang="fr-FR" dirty="0"/>
              <a:t>Suivre de nombreux objet (jusqu’ici: une trajectoire)</a:t>
            </a:r>
          </a:p>
          <a:p>
            <a:pPr lvl="1"/>
            <a:r>
              <a:rPr lang="fr-FR" dirty="0"/>
              <a:t>Incertitude d’identité </a:t>
            </a:r>
            <a:r>
              <a:rPr lang="fr-FR" dirty="0">
                <a:sym typeface="Wingdings" panose="05000000000000000000" pitchFamily="2" charset="2"/>
              </a:rPr>
              <a:t> pb d’association des données  Méthodes approximatives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Ex: plus proche voisin, max. de la probabilité des observations, filtrage particulaire, MCMC</a:t>
            </a:r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D1EFE9-6CD6-4670-959E-BE95572E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98C020-BF78-43E2-BC18-77541D7D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DFFA43D-CFD4-4A0C-A9EE-702CF2693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78906"/>
            <a:ext cx="1302290" cy="150018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73DE858-EE2B-4BBD-8472-C967CE959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3200400"/>
            <a:ext cx="2390775" cy="2286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4902F51-9FEA-474D-BE1A-2AAF20A92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097" y="4517747"/>
            <a:ext cx="2314575" cy="80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1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6E6D2-6558-45D2-8828-2F43B709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Résumé raisonnement temporel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FCCCBB-6304-40FB-8313-28E52350BDF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Variables aléatoires temporelles</a:t>
            </a:r>
          </a:p>
          <a:p>
            <a:pPr lvl="1"/>
            <a:r>
              <a:rPr lang="fr-FR" dirty="0"/>
              <a:t>Propriété de Markov, stationnarité</a:t>
            </a:r>
          </a:p>
          <a:p>
            <a:r>
              <a:rPr lang="fr-FR" dirty="0"/>
              <a:t>Modèles de transition, de capteur</a:t>
            </a:r>
          </a:p>
          <a:p>
            <a:r>
              <a:rPr lang="fr-FR" dirty="0"/>
              <a:t>Inférence</a:t>
            </a:r>
          </a:p>
          <a:p>
            <a:pPr lvl="1"/>
            <a:r>
              <a:rPr lang="fr-FR" dirty="0"/>
              <a:t>Filtrage (</a:t>
            </a:r>
            <a:r>
              <a:rPr lang="fr-FR" dirty="0" err="1"/>
              <a:t>forward</a:t>
            </a:r>
            <a:r>
              <a:rPr lang="fr-FR" dirty="0"/>
              <a:t>), prédiction, lissage (</a:t>
            </a:r>
            <a:r>
              <a:rPr lang="fr-FR" dirty="0" err="1"/>
              <a:t>backward</a:t>
            </a:r>
            <a:r>
              <a:rPr lang="fr-FR" dirty="0"/>
              <a:t>), explication </a:t>
            </a:r>
            <a:r>
              <a:rPr lang="fr-FR" dirty="0" err="1"/>
              <a:t>vraissemblance</a:t>
            </a:r>
            <a:endParaRPr lang="fr-FR" dirty="0"/>
          </a:p>
          <a:p>
            <a:r>
              <a:rPr lang="fr-FR" dirty="0"/>
              <a:t>Familles de modèles temporels</a:t>
            </a:r>
          </a:p>
          <a:p>
            <a:pPr lvl="1"/>
            <a:r>
              <a:rPr lang="fr-FR" dirty="0"/>
              <a:t>Modèles de Markov cachés, filtres de </a:t>
            </a:r>
            <a:r>
              <a:rPr lang="fr-FR" dirty="0" err="1"/>
              <a:t>Kalman</a:t>
            </a:r>
            <a:r>
              <a:rPr lang="fr-FR" dirty="0"/>
              <a:t>, Réseaux bayésiens dynamiques</a:t>
            </a:r>
          </a:p>
          <a:p>
            <a:r>
              <a:rPr lang="fr-FR" dirty="0"/>
              <a:t>Inférence exacte souvent difficile mais méthodes approchées efficaces</a:t>
            </a:r>
          </a:p>
          <a:p>
            <a:pPr lvl="1"/>
            <a:r>
              <a:rPr lang="fr-FR" dirty="0"/>
              <a:t>Filtrage particulaire</a:t>
            </a:r>
          </a:p>
          <a:p>
            <a:pPr lvl="1"/>
            <a:r>
              <a:rPr lang="fr-FR" dirty="0"/>
              <a:t>+ Problème de l’association des données</a:t>
            </a:r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0EADD7-498E-4EE2-A300-745B3727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7C422B-2994-42B0-B785-A1CA849CB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785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79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Questions?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35064988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47F1B74-31F7-417F-8845-0D7DC812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Programmation probabiliste</a:t>
            </a:r>
            <a:endParaRPr lang="en-US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3AC1365B-2784-4FDB-A355-393C7578B3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32105" y="1512480"/>
            <a:ext cx="8503920" cy="4572000"/>
          </a:xfrm>
        </p:spPr>
        <p:txBody>
          <a:bodyPr/>
          <a:lstStyle/>
          <a:p>
            <a:r>
              <a:rPr lang="fr-FR" dirty="0"/>
              <a:t>Principales librairies</a:t>
            </a:r>
          </a:p>
          <a:p>
            <a:pPr lvl="1"/>
            <a:r>
              <a:rPr lang="fr-FR" dirty="0" err="1">
                <a:hlinkClick r:id="rId2"/>
              </a:rPr>
              <a:t>Infer.Net</a:t>
            </a:r>
            <a:r>
              <a:rPr lang="fr-FR" dirty="0"/>
              <a:t> (</a:t>
            </a:r>
            <a:r>
              <a:rPr lang="fr-FR" dirty="0" err="1"/>
              <a:t>c#</a:t>
            </a:r>
            <a:r>
              <a:rPr lang="fr-FR" dirty="0"/>
              <a:t> / .Net)</a:t>
            </a:r>
          </a:p>
          <a:p>
            <a:pPr lvl="1"/>
            <a:r>
              <a:rPr lang="fr-FR" dirty="0" err="1">
                <a:hlinkClick r:id="rId3"/>
              </a:rPr>
              <a:t>Pyro</a:t>
            </a:r>
            <a:r>
              <a:rPr lang="fr-FR" dirty="0"/>
              <a:t> (Python / </a:t>
            </a:r>
            <a:r>
              <a:rPr lang="fr-FR" dirty="0" err="1"/>
              <a:t>Pytorch</a:t>
            </a:r>
            <a:r>
              <a:rPr lang="fr-FR" dirty="0"/>
              <a:t>)</a:t>
            </a:r>
          </a:p>
          <a:p>
            <a:pPr lvl="1"/>
            <a:r>
              <a:rPr lang="fr-FR" dirty="0" err="1">
                <a:hlinkClick r:id="rId4"/>
              </a:rPr>
              <a:t>Tensorflow</a:t>
            </a:r>
            <a:r>
              <a:rPr lang="fr-FR" dirty="0">
                <a:hlinkClick r:id="rId4"/>
              </a:rPr>
              <a:t> </a:t>
            </a:r>
            <a:r>
              <a:rPr lang="fr-FR" dirty="0" err="1">
                <a:hlinkClick r:id="rId4"/>
              </a:rPr>
              <a:t>Probability</a:t>
            </a:r>
            <a:r>
              <a:rPr lang="fr-FR" dirty="0"/>
              <a:t> (Python /</a:t>
            </a:r>
            <a:r>
              <a:rPr lang="fr-FR" dirty="0" err="1"/>
              <a:t>Tensorflow</a:t>
            </a:r>
            <a:r>
              <a:rPr lang="fr-FR" dirty="0"/>
              <a:t>)</a:t>
            </a:r>
          </a:p>
          <a:p>
            <a:pPr lvl="1"/>
            <a:r>
              <a:rPr lang="fr-FR" dirty="0" err="1">
                <a:hlinkClick r:id="rId5"/>
              </a:rPr>
              <a:t>PyMC</a:t>
            </a:r>
            <a:r>
              <a:rPr lang="fr-FR" dirty="0"/>
              <a:t> (Python / </a:t>
            </a:r>
            <a:r>
              <a:rPr lang="fr-FR" dirty="0" err="1"/>
              <a:t>Aesara</a:t>
            </a:r>
            <a:r>
              <a:rPr lang="fr-FR" dirty="0"/>
              <a:t>, </a:t>
            </a:r>
            <a:r>
              <a:rPr lang="fr-FR" dirty="0" err="1"/>
              <a:t>Jax</a:t>
            </a:r>
            <a:r>
              <a:rPr lang="fr-FR" dirty="0"/>
              <a:t>)</a:t>
            </a:r>
          </a:p>
          <a:p>
            <a:pPr lvl="1"/>
            <a:r>
              <a:rPr lang="fr-FR" dirty="0">
                <a:hlinkClick r:id="rId6"/>
              </a:rPr>
              <a:t>Stan</a:t>
            </a:r>
            <a:r>
              <a:rPr lang="fr-FR" dirty="0"/>
              <a:t> (C++ /</a:t>
            </a:r>
            <a:r>
              <a:rPr lang="fr-FR" dirty="0" err="1"/>
              <a:t>Wrappers</a:t>
            </a:r>
            <a:r>
              <a:rPr lang="fr-FR" dirty="0"/>
              <a:t>) </a:t>
            </a:r>
          </a:p>
          <a:p>
            <a:r>
              <a:rPr lang="fr-FR" dirty="0"/>
              <a:t>Tutoriels </a:t>
            </a:r>
            <a:r>
              <a:rPr lang="fr-FR" dirty="0" err="1"/>
              <a:t>Infer.Net</a:t>
            </a:r>
            <a:endParaRPr lang="fr-FR" dirty="0"/>
          </a:p>
          <a:p>
            <a:pPr lvl="1" eaLnBrk="0" hangingPunct="0"/>
            <a:r>
              <a:rPr lang="en-US" altLang="en-US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Prise</a:t>
            </a:r>
            <a:r>
              <a:rPr lang="en-US" altLang="en-US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en-US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</a:t>
            </a:r>
            <a:r>
              <a:rPr lang="en-US" altLang="en-US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main</a:t>
            </a:r>
            <a:r>
              <a:rPr lang="en-US" altLang="en-US" dirty="0"/>
              <a:t> (</a:t>
            </a:r>
            <a:r>
              <a:rPr lang="en-US" altLang="en-US" dirty="0" err="1"/>
              <a:t>en</a:t>
            </a:r>
            <a:r>
              <a:rPr lang="en-US" altLang="en-US" dirty="0"/>
              <a:t> </a:t>
            </a:r>
            <a:r>
              <a:rPr lang="en-US" altLang="en-US" dirty="0" err="1"/>
              <a:t>français</a:t>
            </a:r>
            <a:r>
              <a:rPr lang="en-US" altLang="en-US" dirty="0"/>
              <a:t>)</a:t>
            </a:r>
          </a:p>
          <a:p>
            <a:pPr lvl="1" eaLnBrk="0" hangingPunct="0"/>
            <a:r>
              <a:rPr lang="en-US" altLang="en-US" dirty="0" err="1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Tutoriels</a:t>
            </a:r>
            <a:r>
              <a:rPr lang="en-US" altLang="en-US" dirty="0"/>
              <a:t> (</a:t>
            </a:r>
            <a:r>
              <a:rPr lang="en-US" altLang="en-US" dirty="0" err="1"/>
              <a:t>en</a:t>
            </a:r>
            <a:r>
              <a:rPr lang="en-US" altLang="en-US" dirty="0"/>
              <a:t> </a:t>
            </a:r>
            <a:r>
              <a:rPr lang="en-US" altLang="en-US" dirty="0" err="1"/>
              <a:t>anglais</a:t>
            </a:r>
            <a:r>
              <a:rPr lang="en-US" altLang="en-US" dirty="0"/>
              <a:t>)</a:t>
            </a:r>
          </a:p>
          <a:p>
            <a:pPr lvl="1" eaLnBrk="0" hangingPunct="0"/>
            <a:r>
              <a:rPr lang="en-US" altLang="en-US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 </a:t>
            </a:r>
            <a:r>
              <a:rPr lang="en-US" altLang="en-US" dirty="0" err="1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utilisateur</a:t>
            </a:r>
            <a:endParaRPr lang="en-US" alt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A477F-248F-4823-A80B-C2AF181D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AACEF3-7E43-4FC0-A86C-A7781B3B1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CDF9D0-F2CF-434D-931A-F58F3DF9AE56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2AE37A7-F2C6-4021-AA66-3F163416E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" y="-19923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7550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Sommaire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35B01F-2079-4428-897D-278E5C9D0E54}" type="slidenum">
              <a:rPr lang="fr-FR" smtClean="0"/>
              <a:pPr>
                <a:defRPr/>
              </a:pPr>
              <a:t>81</a:t>
            </a:fld>
            <a:endParaRPr lang="fr-FR" dirty="0"/>
          </a:p>
        </p:txBody>
      </p:sp>
      <p:sp>
        <p:nvSpPr>
          <p:cNvPr id="1434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883150"/>
          </a:xfrm>
        </p:spPr>
        <p:txBody>
          <a:bodyPr>
            <a:normAutofit lnSpcReduction="10000"/>
          </a:bodyPr>
          <a:lstStyle/>
          <a:p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Quantification de l’incertitude</a:t>
            </a:r>
          </a:p>
          <a:p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Raisonnement probabiliste</a:t>
            </a:r>
          </a:p>
          <a:p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Raisonnement probabiliste temporel</a:t>
            </a:r>
          </a:p>
          <a:p>
            <a:r>
              <a:rPr lang="fr-FR" noProof="0" dirty="0"/>
              <a:t>Prise de décision simple</a:t>
            </a:r>
          </a:p>
          <a:p>
            <a:pPr lvl="1"/>
            <a:r>
              <a:rPr lang="fr-FR" dirty="0"/>
              <a:t>Théorie de l’utilité</a:t>
            </a:r>
          </a:p>
          <a:p>
            <a:pPr lvl="1"/>
            <a:r>
              <a:rPr lang="fr-FR" noProof="0" dirty="0"/>
              <a:t>Réseaux de décision</a:t>
            </a:r>
          </a:p>
          <a:p>
            <a:pPr lvl="1"/>
            <a:r>
              <a:rPr lang="fr-FR" dirty="0"/>
              <a:t>Systèmes experts</a:t>
            </a:r>
            <a:endParaRPr lang="fr-FR" noProof="0" dirty="0"/>
          </a:p>
          <a:p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Prise de décision complexe</a:t>
            </a:r>
          </a:p>
          <a:p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Théorie des jeux</a:t>
            </a:r>
          </a:p>
          <a:p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TP: Inférence avec des modèles probabilistes simples et temporels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92754305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Agent fondé sur l’utilité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50680A-A458-4A9A-B313-743E072075D8}" type="slidenum">
              <a:rPr lang="fr-FR" smtClean="0"/>
              <a:pPr>
                <a:defRPr/>
              </a:pPr>
              <a:t>82</a:t>
            </a:fld>
            <a:endParaRPr lang="fr-FR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4"/>
            <a:ext cx="8504238" cy="4721225"/>
          </a:xfrm>
        </p:spPr>
        <p:txBody>
          <a:bodyPr>
            <a:normAutofit/>
          </a:bodyPr>
          <a:lstStyle/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endParaRPr lang="fr-FR" sz="2800" noProof="0" dirty="0"/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endParaRPr lang="fr-FR" sz="2800" noProof="0" dirty="0"/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2400" noProof="0" dirty="0"/>
              <a:t>Alternatives ?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2400" noProof="0" dirty="0"/>
              <a:t>Niveau de </a:t>
            </a:r>
            <a:br>
              <a:rPr lang="fr-FR" sz="2400" noProof="0" dirty="0"/>
            </a:br>
            <a:r>
              <a:rPr lang="fr-FR" sz="2400" noProof="0" dirty="0"/>
              <a:t>succès</a:t>
            </a:r>
          </a:p>
          <a:p>
            <a:pPr marL="548958" lvl="1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1900" noProof="0" dirty="0"/>
              <a:t>Quantitatif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2400" noProof="0" dirty="0"/>
              <a:t>Fonction U</a:t>
            </a:r>
          </a:p>
          <a:p>
            <a:pPr marL="548958" lvl="1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1900" noProof="0" dirty="0"/>
              <a:t>Etat </a:t>
            </a:r>
            <a:r>
              <a:rPr lang="fr-FR" sz="1900" noProof="0" dirty="0">
                <a:sym typeface="Wingdings" panose="05000000000000000000" pitchFamily="2" charset="2"/>
              </a:rPr>
              <a:t> R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2400" noProof="0" dirty="0">
                <a:sym typeface="Wingdings" panose="05000000000000000000" pitchFamily="2" charset="2"/>
              </a:rPr>
              <a:t>Arbitrages</a:t>
            </a:r>
          </a:p>
          <a:p>
            <a:pPr marL="548958" lvl="1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1900" noProof="0" dirty="0">
                <a:sym typeface="Wingdings" panose="05000000000000000000" pitchFamily="2" charset="2"/>
              </a:rPr>
              <a:t>Chance de </a:t>
            </a:r>
            <a:br>
              <a:rPr lang="fr-FR" sz="1900" noProof="0" dirty="0">
                <a:sym typeface="Wingdings" panose="05000000000000000000" pitchFamily="2" charset="2"/>
              </a:rPr>
            </a:br>
            <a:r>
              <a:rPr lang="fr-FR" sz="1900" noProof="0" dirty="0">
                <a:sym typeface="Wingdings" panose="05000000000000000000" pitchFamily="2" charset="2"/>
              </a:rPr>
              <a:t>succès</a:t>
            </a:r>
          </a:p>
          <a:p>
            <a:pPr marL="548958" lvl="1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1900" noProof="0" dirty="0">
                <a:sym typeface="Wingdings" panose="05000000000000000000" pitchFamily="2" charset="2"/>
              </a:rPr>
              <a:t>Important</a:t>
            </a:r>
          </a:p>
          <a:p>
            <a:pPr marL="548958" lvl="1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1900" noProof="0" dirty="0">
                <a:sym typeface="Wingdings" panose="05000000000000000000" pitchFamily="2" charset="2"/>
              </a:rPr>
              <a:t>Urgent</a:t>
            </a:r>
          </a:p>
          <a:p>
            <a:pPr marL="548958" lvl="1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1900" noProof="0" dirty="0">
                <a:sym typeface="Wingdings" panose="05000000000000000000" pitchFamily="2" charset="2"/>
              </a:rPr>
              <a:t>…</a:t>
            </a:r>
            <a:endParaRPr lang="fr-FR" sz="1900" noProof="0" dirty="0"/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endParaRPr lang="fr-FR" sz="2800" noProof="0" dirty="0"/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endParaRPr lang="fr-FR" sz="2800" noProof="0" dirty="0"/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endParaRPr lang="fr-FR" sz="2800" noProof="0" dirty="0"/>
          </a:p>
          <a:p>
            <a:pPr marL="548958" lvl="1" indent="-274320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endParaRPr lang="fr-FR" sz="2300" noProof="0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dirty="0">
                <a:solidFill>
                  <a:srgbClr val="FFFFFF"/>
                </a:solidFill>
              </a:rPr>
              <a:t>IA 101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826319"/>
            <a:ext cx="6324600" cy="412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7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030A0"/>
                </a:solidFill>
              </a:rPr>
              <a:t>Prise de décision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noProof="0" dirty="0"/>
              <a:t>Théorie des probabilités</a:t>
            </a:r>
          </a:p>
          <a:p>
            <a:pPr lvl="1"/>
            <a:r>
              <a:rPr lang="fr-FR" noProof="0" dirty="0"/>
              <a:t>Ce qu’un agent devrait croire en s’appuyant sur l’observation</a:t>
            </a:r>
          </a:p>
          <a:p>
            <a:r>
              <a:rPr lang="fr-FR" noProof="0" dirty="0"/>
              <a:t>Théorie de l’utilité</a:t>
            </a:r>
          </a:p>
          <a:p>
            <a:pPr lvl="1"/>
            <a:r>
              <a:rPr lang="fr-FR" noProof="0" dirty="0"/>
              <a:t>Ce que l’agent veut</a:t>
            </a:r>
          </a:p>
          <a:p>
            <a:r>
              <a:rPr lang="fr-FR" noProof="0" dirty="0">
                <a:sym typeface="Wingdings" panose="05000000000000000000" pitchFamily="2" charset="2"/>
              </a:rPr>
              <a:t> Théorie de la décision synthétise les deux</a:t>
            </a:r>
          </a:p>
          <a:p>
            <a:pPr lvl="1"/>
            <a:r>
              <a:rPr lang="fr-FR" noProof="0" dirty="0">
                <a:sym typeface="Wingdings" panose="05000000000000000000" pitchFamily="2" charset="2"/>
              </a:rPr>
              <a:t>Ce que l’agent devrait faire.</a:t>
            </a:r>
          </a:p>
          <a:p>
            <a:pPr lvl="1"/>
            <a:r>
              <a:rPr lang="fr-FR" noProof="0" dirty="0">
                <a:sym typeface="Wingdings" panose="05000000000000000000" pitchFamily="2" charset="2"/>
              </a:rPr>
              <a:t>Considérer toutes les actions possibles</a:t>
            </a:r>
          </a:p>
          <a:p>
            <a:pPr lvl="1"/>
            <a:r>
              <a:rPr lang="fr-FR" noProof="0" dirty="0">
                <a:sym typeface="Wingdings" panose="05000000000000000000" pitchFamily="2" charset="2"/>
              </a:rPr>
              <a:t> viser le meilleur résultat: maximiser l’utilité espérée</a:t>
            </a:r>
            <a:br>
              <a:rPr lang="fr-FR" noProof="0" dirty="0">
                <a:sym typeface="Wingdings" panose="05000000000000000000" pitchFamily="2" charset="2"/>
              </a:rPr>
            </a:br>
            <a:br>
              <a:rPr lang="fr-FR" noProof="0" dirty="0">
                <a:sym typeface="Wingdings" panose="05000000000000000000" pitchFamily="2" charset="2"/>
              </a:rPr>
            </a:br>
            <a:endParaRPr lang="fr-FR" noProof="0" dirty="0">
              <a:sym typeface="Wingdings" panose="05000000000000000000" pitchFamily="2" charset="2"/>
            </a:endParaRPr>
          </a:p>
          <a:p>
            <a:r>
              <a:rPr lang="fr-FR" noProof="0" dirty="0">
                <a:sym typeface="Wingdings" panose="05000000000000000000" pitchFamily="2" charset="2"/>
              </a:rPr>
              <a:t> Agent rationnel</a:t>
            </a:r>
          </a:p>
          <a:p>
            <a:pPr lvl="1"/>
            <a:r>
              <a:rPr lang="fr-FR" noProof="0" dirty="0">
                <a:sym typeface="Wingdings" panose="05000000000000000000" pitchFamily="2" charset="2"/>
              </a:rPr>
              <a:t>Préférence entre les loteries: </a:t>
            </a:r>
            <a:r>
              <a:rPr lang="en-US" dirty="0">
                <a:sym typeface="Wingdings" panose="05000000000000000000" pitchFamily="2" charset="2"/>
              </a:rPr>
              <a:t>L = [p1, S1; p2, S2; . . . </a:t>
            </a:r>
            <a:r>
              <a:rPr lang="en-US" dirty="0" err="1">
                <a:sym typeface="Wingdings" panose="05000000000000000000" pitchFamily="2" charset="2"/>
              </a:rPr>
              <a:t>pn</a:t>
            </a:r>
            <a:r>
              <a:rPr lang="en-US" dirty="0">
                <a:sym typeface="Wingdings" panose="05000000000000000000" pitchFamily="2" charset="2"/>
              </a:rPr>
              <a:t>, Sn]</a:t>
            </a:r>
            <a:endParaRPr lang="fr-FR" noProof="0" dirty="0">
              <a:sym typeface="Wingdings" panose="05000000000000000000" pitchFamily="2" charset="2"/>
            </a:endParaRPr>
          </a:p>
          <a:p>
            <a:pPr lvl="1"/>
            <a:r>
              <a:rPr lang="fr-FR" noProof="0" dirty="0">
                <a:sym typeface="Wingdings" panose="05000000000000000000" pitchFamily="2" charset="2"/>
              </a:rPr>
              <a:t>Axiomes simples d’utilité</a:t>
            </a:r>
          </a:p>
          <a:p>
            <a:r>
              <a:rPr lang="fr-FR" noProof="0" dirty="0">
                <a:sym typeface="Wingdings" panose="05000000000000000000" pitchFamily="2" charset="2"/>
              </a:rPr>
              <a:t>Prise de décision simple</a:t>
            </a:r>
          </a:p>
          <a:p>
            <a:pPr lvl="1"/>
            <a:r>
              <a:rPr lang="fr-FR" noProof="0" dirty="0">
                <a:sym typeface="Wingdings" panose="05000000000000000000" pitchFamily="2" charset="2"/>
              </a:rPr>
              <a:t>Problèmes épisodiques</a:t>
            </a:r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EAEE6D9-EEA4-4E3E-8220-57A4C31D7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019550"/>
            <a:ext cx="3467100" cy="4762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F174F8F-ACB1-4E87-BBC8-0AF49AA61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650" y="4038600"/>
            <a:ext cx="21145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1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030A0"/>
                </a:solidFill>
              </a:rPr>
              <a:t>Théorie de l’utilité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fr-FR" noProof="0" dirty="0"/>
                  <a:t>Contraintes de préférences rationnelles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fr-FR" b="0" noProof="0" dirty="0">
                    <a:ea typeface="Cambria Math" panose="02040503050406030204" pitchFamily="18" charset="0"/>
                  </a:rPr>
                  <a:t> L’agent préfè</a:t>
                </a:r>
                <a:r>
                  <a:rPr lang="fr-FR" noProof="0" dirty="0">
                    <a:ea typeface="Cambria Math" panose="02040503050406030204" pitchFamily="18" charset="0"/>
                  </a:rPr>
                  <a:t>re A à 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fr-FR" b="0" noProof="0" dirty="0">
                    <a:ea typeface="Cambria Math" panose="02040503050406030204" pitchFamily="18" charset="0"/>
                  </a:rPr>
                  <a:t> L’agent est indifférent entre A et 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fr-FR" b="0" noProof="0" dirty="0">
                    <a:ea typeface="Cambria Math" panose="02040503050406030204" pitchFamily="18" charset="0"/>
                  </a:rPr>
                  <a:t> L’agent préfère A à B ou est indifférent</a:t>
                </a:r>
              </a:p>
              <a:p>
                <a:r>
                  <a:rPr lang="fr-FR" noProof="0" dirty="0">
                    <a:ea typeface="Cambria Math" panose="02040503050406030204" pitchFamily="18" charset="0"/>
                  </a:rPr>
                  <a:t>Préférences raisonnables</a:t>
                </a:r>
              </a:p>
              <a:p>
                <a:pPr lvl="1"/>
                <a:r>
                  <a:rPr lang="fr-FR" b="0" noProof="0" dirty="0">
                    <a:ea typeface="Cambria Math" panose="02040503050406030204" pitchFamily="18" charset="0"/>
                  </a:rPr>
                  <a:t>Ordonnancement	</a:t>
                </a:r>
                <a:r>
                  <a:rPr lang="fr-FR" dirty="0">
                    <a:ea typeface="Cambria Math" panose="02040503050406030204" pitchFamily="18" charset="0"/>
                  </a:rPr>
                  <a:t> Monotonie </a:t>
                </a:r>
                <a:r>
                  <a:rPr lang="fr-FR" b="0" noProof="0" dirty="0">
                    <a:ea typeface="Cambria Math" panose="02040503050406030204" pitchFamily="18" charset="0"/>
                  </a:rPr>
                  <a:t>	</a:t>
                </a:r>
              </a:p>
              <a:p>
                <a:pPr lvl="1"/>
                <a:r>
                  <a:rPr lang="fr-FR" noProof="0" dirty="0">
                    <a:ea typeface="Cambria Math" panose="02040503050406030204" pitchFamily="18" charset="0"/>
                  </a:rPr>
                  <a:t>Transitivité	</a:t>
                </a:r>
                <a:r>
                  <a:rPr lang="fr-FR" dirty="0">
                    <a:ea typeface="Cambria Math" panose="02040503050406030204" pitchFamily="18" charset="0"/>
                  </a:rPr>
                  <a:t> 	</a:t>
                </a:r>
                <a:r>
                  <a:rPr lang="fr-FR" dirty="0" err="1">
                    <a:ea typeface="Cambria Math" panose="02040503050406030204" pitchFamily="18" charset="0"/>
                  </a:rPr>
                  <a:t>Décomposabilité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:r>
                  <a:rPr lang="fr-FR" noProof="0" dirty="0">
                    <a:ea typeface="Cambria Math" panose="02040503050406030204" pitchFamily="18" charset="0"/>
                  </a:rPr>
                  <a:t>	</a:t>
                </a:r>
              </a:p>
              <a:p>
                <a:pPr lvl="1"/>
                <a:r>
                  <a:rPr lang="fr-FR" b="0" noProof="0" dirty="0">
                    <a:ea typeface="Cambria Math" panose="02040503050406030204" pitchFamily="18" charset="0"/>
                  </a:rPr>
                  <a:t>Continuité</a:t>
                </a:r>
              </a:p>
              <a:p>
                <a:pPr lvl="1"/>
                <a:r>
                  <a:rPr lang="fr-FR" dirty="0">
                    <a:ea typeface="Cambria Math" panose="02040503050406030204" pitchFamily="18" charset="0"/>
                  </a:rPr>
                  <a:t>Substituabilité </a:t>
                </a:r>
                <a:r>
                  <a:rPr lang="fr-FR" b="0" noProof="0" dirty="0">
                    <a:ea typeface="Cambria Math" panose="02040503050406030204" pitchFamily="18" charset="0"/>
                  </a:rPr>
                  <a:t>	</a:t>
                </a:r>
              </a:p>
              <a:p>
                <a:r>
                  <a:rPr lang="fr-FR" b="0" noProof="0" dirty="0">
                    <a:ea typeface="Cambria Math" panose="02040503050406030204" pitchFamily="18" charset="0"/>
                  </a:rPr>
                  <a:t>Préférences </a:t>
                </a:r>
                <a:r>
                  <a:rPr lang="fr-FR" b="0" noProof="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 Utilité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 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fr-FR" b="0" noProof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fr-FR" b="0" noProof="0" dirty="0">
                    <a:ea typeface="Cambria Math" panose="02040503050406030204" pitchFamily="18" charset="0"/>
                  </a:rPr>
                  <a:t>Pas d’échelle absolue (                          ) </a:t>
                </a:r>
                <a:r>
                  <a:rPr lang="fr-FR" b="0" noProof="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  normalisation</a:t>
                </a:r>
                <a:endParaRPr lang="fr-FR" b="0" noProof="0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fr-FR" noProof="0" dirty="0"/>
                  <a:t>U pire / meilleur </a:t>
                </a:r>
                <a:r>
                  <a:rPr lang="fr-FR" noProof="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e>
                      <m:sub>
                        <m: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⊥</m:t>
                        </m:r>
                      </m:sub>
                    </m:sSub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𝑒𝑡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⊤</m:t>
                        </m:r>
                      </m:sub>
                    </m:sSub>
                    <m:r>
                      <a:rPr lang="fr-FR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</m:oMath>
                </a14:m>
                <a:r>
                  <a:rPr lang="fr-FR" noProof="0" dirty="0"/>
                  <a:t> </a:t>
                </a:r>
              </a:p>
              <a:p>
                <a:pPr lvl="3"/>
                <a:r>
                  <a:rPr lang="fr-FR" noProof="0" dirty="0">
                    <a:sym typeface="Wingdings" panose="05000000000000000000" pitchFamily="2" charset="2"/>
                  </a:rPr>
                  <a:t>Calibrage autres utilités</a:t>
                </a:r>
              </a:p>
              <a:p>
                <a:pPr lvl="4"/>
                <a:r>
                  <a:rPr lang="fr-FR" noProof="0" dirty="0">
                    <a:sym typeface="Wingdings" panose="05000000000000000000" pitchFamily="2" charset="2"/>
                  </a:rPr>
                  <a:t>  composition avec p et q ajustés jusqu’à indifférence</a:t>
                </a:r>
              </a:p>
              <a:p>
                <a:pPr lvl="3"/>
                <a:r>
                  <a:rPr lang="fr-FR" dirty="0">
                    <a:sym typeface="Wingdings" panose="05000000000000000000" pitchFamily="2" charset="2"/>
                  </a:rPr>
                  <a:t>Sécurité: </a:t>
                </a:r>
                <a:r>
                  <a:rPr lang="fr-FR" dirty="0" err="1">
                    <a:sym typeface="Wingdings" panose="05000000000000000000" pitchFamily="2" charset="2"/>
                  </a:rPr>
                  <a:t>Micromorts</a:t>
                </a:r>
                <a:r>
                  <a:rPr lang="fr-FR" dirty="0">
                    <a:sym typeface="Wingdings" panose="05000000000000000000" pitchFamily="2" charset="2"/>
                  </a:rPr>
                  <a:t> vs QALY</a:t>
                </a:r>
                <a:endParaRPr lang="fr-FR" noProof="0" dirty="0"/>
              </a:p>
              <a:p>
                <a:pPr lvl="2"/>
                <a:endParaRPr lang="fr-FR" noProof="0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  <a:blipFill>
                <a:blip r:embed="rId2"/>
                <a:stretch>
                  <a:fillRect l="-573" t="-22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C9939F-ED87-43F9-8BAC-F9727482F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699828"/>
            <a:ext cx="3181350" cy="2476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3818B88-3041-43E4-81D4-1FBD8C7BF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3119259"/>
            <a:ext cx="3352800" cy="18909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1B3CFFD-C946-4A84-BE74-911FE82BA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3990408"/>
            <a:ext cx="3044825" cy="25860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0754015-5432-4AE2-A9E7-FA2E882ED9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400" y="3376377"/>
            <a:ext cx="3652838" cy="22912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F69493B-EB6E-48B0-9C40-66A9B0AABE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3800" y="4488180"/>
            <a:ext cx="2743200" cy="42062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41F212A-1452-4075-9AC2-C3D15234A7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1687" y="4948322"/>
            <a:ext cx="1477963" cy="28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d’utilité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371601"/>
                <a:ext cx="8503920" cy="51054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fr-FR" noProof="0" dirty="0"/>
                  <a:t>Utilité de l’argent = fonction monotone, logarithmique</a:t>
                </a:r>
              </a:p>
              <a:p>
                <a:pPr lvl="1"/>
                <a:r>
                  <a:rPr lang="fr-FR" noProof="0" dirty="0"/>
                  <a:t>Evitement (+) ou recherche (-) du risque</a:t>
                </a:r>
              </a:p>
              <a:p>
                <a:pPr lvl="1"/>
                <a:r>
                  <a:rPr lang="fr-FR" noProof="0" dirty="0"/>
                  <a:t>Différence avec valeur espérée = prime d’assurance</a:t>
                </a:r>
              </a:p>
              <a:p>
                <a:pPr lvl="1"/>
                <a:r>
                  <a:rPr lang="fr-FR" noProof="0" dirty="0"/>
                  <a:t>Utilité espérée </a:t>
                </a:r>
              </a:p>
              <a:p>
                <a:pPr lvl="2"/>
                <a:r>
                  <a:rPr lang="fr-FR" noProof="0" dirty="0"/>
                  <a:t>Estimations EU (a/e)</a:t>
                </a:r>
              </a:p>
              <a:p>
                <a:pPr lvl="2"/>
                <a:r>
                  <a:rPr lang="fr-FR" noProof="0" dirty="0"/>
                  <a:t>trop optimiste (erreurs positives) = malédiction de l’optimiseur</a:t>
                </a:r>
              </a:p>
              <a:p>
                <a:pPr lvl="2"/>
                <a:r>
                  <a:rPr lang="fr-FR" noProof="0" dirty="0"/>
                  <a:t>Modèle de l’erreur d’estimation P(EU)</a:t>
                </a:r>
              </a:p>
              <a:p>
                <a:pPr lvl="1"/>
                <a:r>
                  <a:rPr lang="fr-FR" noProof="0" dirty="0"/>
                  <a:t>Humain pas rationnel</a:t>
                </a:r>
              </a:p>
              <a:p>
                <a:pPr lvl="2"/>
                <a:r>
                  <a:rPr lang="fr-FR" noProof="0" dirty="0"/>
                  <a:t>Effet de certitude, Régression fallacieuse, évitement d’ambiguïté, effet de cadrage d’ancrage</a:t>
                </a:r>
              </a:p>
              <a:p>
                <a:r>
                  <a:rPr lang="fr-FR" noProof="0" dirty="0"/>
                  <a:t>Multi Attribut</a:t>
                </a:r>
              </a:p>
              <a:p>
                <a:pPr lvl="1"/>
                <a:r>
                  <a:rPr lang="fr-FR" noProof="0" dirty="0"/>
                  <a:t>Ex: politiques publiques </a:t>
                </a:r>
                <a:r>
                  <a:rPr lang="fr-FR" noProof="0" dirty="0">
                    <a:sym typeface="Wingdings" panose="05000000000000000000" pitchFamily="2" charset="2"/>
                  </a:rPr>
                  <a:t> </a:t>
                </a:r>
                <a:r>
                  <a:rPr lang="fr-FR" noProof="0" dirty="0"/>
                  <a:t>Vecteur d’assignation</a:t>
                </a:r>
              </a:p>
              <a:p>
                <a:pPr lvl="1"/>
                <a:r>
                  <a:rPr lang="fr-FR" noProof="0" dirty="0"/>
                  <a:t>Dominance stricte ou stochastique </a:t>
                </a:r>
              </a:p>
              <a:p>
                <a:pPr lvl="2"/>
                <a:r>
                  <a:rPr lang="fr-FR" noProof="0" dirty="0">
                    <a:sym typeface="Wingdings" panose="05000000000000000000" pitchFamily="2" charset="2"/>
                  </a:rPr>
                  <a:t> distributions cumulées</a:t>
                </a:r>
              </a:p>
              <a:p>
                <a:pPr lvl="1"/>
                <a:r>
                  <a:rPr lang="fr-FR" noProof="0" dirty="0">
                    <a:sym typeface="Wingdings" panose="05000000000000000000" pitchFamily="2" charset="2"/>
                  </a:rPr>
                  <a:t>Décomposition en </a:t>
                </a: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 … 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[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fr-FR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…,</m:t>
                    </m:r>
                    <m:sSub>
                      <m:sSubPr>
                        <m:ctrlPr>
                          <a:rPr lang="fr-FR" i="1" noProof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 noProof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fr-FR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fr-FR" i="1" noProof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 noProof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fr-FR" i="1" noProof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]</m:t>
                    </m:r>
                  </m:oMath>
                </a14:m>
                <a:endParaRPr lang="fr-FR" noProof="0" dirty="0">
                  <a:sym typeface="Wingdings" panose="05000000000000000000" pitchFamily="2" charset="2"/>
                </a:endParaRPr>
              </a:p>
              <a:p>
                <a:pPr lvl="2"/>
                <a:r>
                  <a:rPr lang="fr-FR" noProof="0" dirty="0"/>
                  <a:t>Indépendance préférentielle </a:t>
                </a:r>
                <a:r>
                  <a:rPr lang="en-US" dirty="0"/>
                  <a:t>(&lt;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&gt; vs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&gt;) </a:t>
                </a:r>
                <a:br>
                  <a:rPr lang="en-US" dirty="0"/>
                </a:br>
                <a:r>
                  <a:rPr lang="fr-FR" noProof="0" dirty="0"/>
                  <a:t>ou préférentielle mutuelle </a:t>
                </a:r>
                <a:r>
                  <a:rPr lang="en-US" dirty="0"/>
                  <a:t>(</a:t>
                </a:r>
                <a:r>
                  <a:rPr lang="fr-FR" dirty="0"/>
                  <a:t>{Noise, </a:t>
                </a:r>
                <a:r>
                  <a:rPr lang="fr-FR" dirty="0" err="1"/>
                  <a:t>Cost</a:t>
                </a:r>
                <a:r>
                  <a:rPr lang="fr-FR" dirty="0"/>
                  <a:t> ,</a:t>
                </a:r>
                <a:r>
                  <a:rPr lang="fr-FR" dirty="0" err="1"/>
                  <a:t>Deaths</a:t>
                </a:r>
                <a:r>
                  <a:rPr lang="fr-FR" dirty="0"/>
                  <a:t>})</a:t>
                </a:r>
              </a:p>
              <a:p>
                <a:pPr lvl="3"/>
                <a:r>
                  <a:rPr lang="fr-FR" noProof="0" dirty="0"/>
                  <a:t>Théorème: fonction de valeur additive</a:t>
                </a:r>
              </a:p>
              <a:p>
                <a:pPr lvl="2"/>
                <a:r>
                  <a:rPr lang="fr-FR" noProof="0" dirty="0"/>
                  <a:t>Avec des loteries: Indépendance des utilités</a:t>
                </a:r>
              </a:p>
              <a:p>
                <a:pPr lvl="3"/>
                <a:r>
                  <a:rPr lang="fr-FR" dirty="0"/>
                  <a:t>Théorème: Fonction d’utilité multiplicative</a:t>
                </a:r>
                <a:endParaRPr lang="fr-FR" noProof="0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371601"/>
                <a:ext cx="8503920" cy="5105400"/>
              </a:xfrm>
              <a:blipFill>
                <a:blip r:embed="rId2"/>
                <a:stretch>
                  <a:fillRect l="-358" t="-1909" b="-71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97" y="1828800"/>
            <a:ext cx="1790603" cy="131445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3941534"/>
            <a:ext cx="2381250" cy="177165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78006FA-DF61-4A64-A2FB-3E343EF88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4460081"/>
            <a:ext cx="1892808" cy="49291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A1F5676-63EE-45B7-87E8-C4C9F195C3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5689714"/>
            <a:ext cx="1600200" cy="33008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62F4B3D-8AD7-41D9-B497-D900F334C3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8513" y="6076570"/>
            <a:ext cx="3765487" cy="32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6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Réseaux de décision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468439"/>
                <a:ext cx="8503920" cy="4941886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fr-FR" noProof="0" dirty="0"/>
                  <a:t>Diagramme d’influence</a:t>
                </a:r>
              </a:p>
              <a:p>
                <a:pPr lvl="1"/>
                <a:r>
                  <a:rPr lang="fr-FR" noProof="0" dirty="0"/>
                  <a:t>Construction</a:t>
                </a:r>
              </a:p>
              <a:p>
                <a:pPr lvl="2"/>
                <a:r>
                  <a:rPr lang="fr-FR" noProof="0" dirty="0"/>
                  <a:t>Nœuds de hasard</a:t>
                </a:r>
              </a:p>
              <a:p>
                <a:pPr lvl="2"/>
                <a:r>
                  <a:rPr lang="fr-FR" noProof="0" dirty="0"/>
                  <a:t>Nœuds de décision</a:t>
                </a:r>
              </a:p>
              <a:p>
                <a:pPr lvl="2"/>
                <a:r>
                  <a:rPr lang="fr-FR" noProof="0" dirty="0"/>
                  <a:t>Nœuds d’utilité</a:t>
                </a:r>
              </a:p>
              <a:p>
                <a:pPr lvl="1"/>
                <a:r>
                  <a:rPr lang="fr-FR" noProof="0" dirty="0"/>
                  <a:t>Simplification</a:t>
                </a:r>
              </a:p>
              <a:p>
                <a:pPr lvl="2"/>
                <a:r>
                  <a:rPr lang="fr-FR" noProof="0" dirty="0"/>
                  <a:t> Action-Utilité = Q-fonction</a:t>
                </a:r>
              </a:p>
              <a:p>
                <a:r>
                  <a:rPr lang="fr-FR" noProof="0" dirty="0"/>
                  <a:t>Valeur de l’information</a:t>
                </a:r>
              </a:p>
              <a:p>
                <a:pPr lvl="1"/>
                <a:r>
                  <a:rPr lang="fr-FR" noProof="0" dirty="0"/>
                  <a:t>Quelles questions poser?</a:t>
                </a:r>
              </a:p>
              <a:p>
                <a:pPr lvl="2"/>
                <a:r>
                  <a:rPr lang="fr-FR" noProof="0" dirty="0"/>
                  <a:t>Ex: Diagnostique médical</a:t>
                </a:r>
              </a:p>
              <a:p>
                <a:pPr lvl="1"/>
                <a:r>
                  <a:rPr lang="fr-FR" noProof="0" dirty="0"/>
                  <a:t>Etat de croyance, + profit espéré</a:t>
                </a:r>
              </a:p>
              <a:p>
                <a:pPr lvl="2"/>
                <a:r>
                  <a:rPr lang="fr-FR" noProof="0" dirty="0"/>
                  <a:t>Ex: Droits de forage</a:t>
                </a:r>
              </a:p>
              <a:p>
                <a:pPr lvl="1"/>
                <a:r>
                  <a:rPr lang="fr-FR" noProof="0" dirty="0"/>
                  <a:t>Valeur de l’information parfaite (VPI)</a:t>
                </a:r>
              </a:p>
              <a:p>
                <a:pPr lvl="2"/>
                <a:r>
                  <a:rPr lang="fr-FR" noProof="0" dirty="0"/>
                  <a:t> = Moyenne des U espérées </a:t>
                </a:r>
                <a:br>
                  <a:rPr lang="fr-FR" noProof="0" dirty="0"/>
                </a:br>
                <a:r>
                  <a:rPr lang="fr-FR" noProof="0" dirty="0"/>
                  <a:t>sachant observations</a:t>
                </a:r>
                <a:endParaRPr lang="fr-FR" b="0" noProof="0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n-US" dirty="0">
                    <a:ea typeface="Cambria Math" panose="02040503050406030204" pitchFamily="18" charset="0"/>
                  </a:rPr>
                  <a:t>VPI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&amp; </a:t>
                </a:r>
                <a:r>
                  <a:rPr lang="da-DK" dirty="0"/>
                  <a:t>VPI(Ej) + VPI(Ek) ≠  VPI(Ej,Ek) = VPI(Ej) + VPI(Ek/Ej) = VPI(Ek) + VPI(Ej/Ek)</a:t>
                </a:r>
                <a:endParaRPr lang="fr-FR" noProof="0" dirty="0"/>
              </a:p>
              <a:p>
                <a:pPr lvl="1"/>
                <a:r>
                  <a:rPr lang="fr-FR" noProof="0" dirty="0"/>
                  <a:t>Agent-Collecte-Information</a:t>
                </a:r>
              </a:p>
              <a:p>
                <a:pPr lvl="2"/>
                <a:r>
                  <a:rPr lang="fr-FR" noProof="0" dirty="0"/>
                  <a:t>Si VIP (</a:t>
                </a:r>
                <a:r>
                  <a:rPr lang="fr-FR" noProof="0" dirty="0" err="1"/>
                  <a:t>Ej</a:t>
                </a:r>
                <a:r>
                  <a:rPr lang="fr-FR" noProof="0" dirty="0"/>
                  <a:t>) &gt; Coût (</a:t>
                </a:r>
                <a:r>
                  <a:rPr lang="fr-FR" noProof="0" dirty="0" err="1"/>
                  <a:t>Ej</a:t>
                </a:r>
                <a:r>
                  <a:rPr lang="fr-FR" noProof="0" dirty="0"/>
                  <a:t>) </a:t>
                </a:r>
                <a:r>
                  <a:rPr lang="fr-FR" noProof="0" dirty="0">
                    <a:sym typeface="Wingdings" panose="05000000000000000000" pitchFamily="2" charset="2"/>
                  </a:rPr>
                  <a:t> </a:t>
                </a:r>
                <a:r>
                  <a:rPr lang="fr-FR" noProof="0" dirty="0" err="1">
                    <a:sym typeface="Wingdings" panose="05000000000000000000" pitchFamily="2" charset="2"/>
                  </a:rPr>
                  <a:t>Requète</a:t>
                </a:r>
                <a:r>
                  <a:rPr lang="fr-FR" noProof="0" dirty="0">
                    <a:sym typeface="Wingdings" panose="05000000000000000000" pitchFamily="2" charset="2"/>
                  </a:rPr>
                  <a:t> (</a:t>
                </a:r>
                <a:r>
                  <a:rPr lang="fr-FR" noProof="0" dirty="0" err="1">
                    <a:sym typeface="Wingdings" panose="05000000000000000000" pitchFamily="2" charset="2"/>
                  </a:rPr>
                  <a:t>Ej</a:t>
                </a:r>
                <a:r>
                  <a:rPr lang="fr-FR" noProof="0" dirty="0">
                    <a:sym typeface="Wingdings" panose="05000000000000000000" pitchFamily="2" charset="2"/>
                  </a:rPr>
                  <a:t>)</a:t>
                </a:r>
              </a:p>
              <a:p>
                <a:pPr lvl="3"/>
                <a:r>
                  <a:rPr lang="fr-FR" noProof="0" dirty="0">
                    <a:sym typeface="Wingdings" panose="05000000000000000000" pitchFamily="2" charset="2"/>
                  </a:rPr>
                  <a:t>Mais algorithme Myope (1 indice)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Alternative: considérer plusieurs/plan</a:t>
                </a:r>
                <a:endParaRPr lang="fr-FR" noProof="0" dirty="0">
                  <a:sym typeface="Wingdings" panose="05000000000000000000" pitchFamily="2" charset="2"/>
                </a:endParaRPr>
              </a:p>
              <a:p>
                <a:pPr lvl="3"/>
                <a:r>
                  <a:rPr lang="fr-FR" noProof="0" dirty="0">
                    <a:sym typeface="Wingdings" panose="05000000000000000000" pitchFamily="2" charset="2"/>
                  </a:rPr>
                  <a:t>Souvent humain plutôt que max VIP (examens)</a:t>
                </a:r>
              </a:p>
              <a:p>
                <a:pPr lvl="3"/>
                <a:r>
                  <a:rPr lang="fr-FR" dirty="0">
                    <a:sym typeface="Wingdings" panose="05000000000000000000" pitchFamily="2" charset="2"/>
                  </a:rPr>
                  <a:t>Cas particulier: chasse aux trésors</a:t>
                </a:r>
              </a:p>
              <a:p>
                <a:pPr lvl="4"/>
                <a:r>
                  <a:rPr lang="fr-FR" noProof="0" dirty="0">
                    <a:sym typeface="Wingdings" panose="05000000000000000000" pitchFamily="2" charset="2"/>
                  </a:rPr>
                  <a:t>Similaire droits de forage: C(</a:t>
                </a:r>
                <a:r>
                  <a:rPr lang="fr-FR" dirty="0">
                    <a:sym typeface="Wingdings" panose="05000000000000000000" pitchFamily="2" charset="2"/>
                  </a:rPr>
                  <a:t>x), P(x) indépendants</a:t>
                </a:r>
              </a:p>
              <a:p>
                <a:pPr lvl="4"/>
                <a:r>
                  <a:rPr lang="fr-FR" noProof="0" dirty="0">
                    <a:sym typeface="Wingdings" panose="05000000000000000000" pitchFamily="2" charset="2"/>
                  </a:rPr>
                  <a:t>Ordre idéal: i&lt;j =&gt; P(i)/ C(i) &gt; P(j)/C(j)</a:t>
                </a:r>
                <a:endParaRPr lang="fr-FR" noProof="0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468439"/>
                <a:ext cx="8503920" cy="4941886"/>
              </a:xfrm>
              <a:blipFill>
                <a:blip r:embed="rId2"/>
                <a:stretch>
                  <a:fillRect l="-72" t="-1480" b="-12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411" y="936980"/>
            <a:ext cx="3043425" cy="21852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749FF77-35F3-4DB8-883C-F56B1B505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770" y="3200400"/>
            <a:ext cx="3324225" cy="4953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7BDDD45-046C-4E9A-97D0-78EC2EC72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420" y="3959107"/>
            <a:ext cx="4415834" cy="5157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ED0720D-12CB-4EDC-85BF-EEE33A9AA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5186507"/>
            <a:ext cx="4038600" cy="122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0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Système expert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1625" y="1810698"/>
            <a:ext cx="4038600" cy="38033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ace réservé du contenu 7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800600" y="1371599"/>
                <a:ext cx="4038600" cy="5038725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fr-FR" noProof="0" dirty="0"/>
                  <a:t>Développés très tôt</a:t>
                </a:r>
              </a:p>
              <a:p>
                <a:pPr lvl="1"/>
                <a:r>
                  <a:rPr lang="fr-FR" noProof="0" dirty="0"/>
                  <a:t>Années 50-80</a:t>
                </a:r>
              </a:p>
              <a:p>
                <a:pPr lvl="2"/>
                <a:r>
                  <a:rPr lang="fr-FR" dirty="0"/>
                  <a:t>Règles </a:t>
                </a:r>
                <a:r>
                  <a:rPr lang="fr-FR" dirty="0">
                    <a:sym typeface="Wingdings" panose="05000000000000000000" pitchFamily="2" charset="2"/>
                  </a:rPr>
                  <a:t> logique  réseaux de décision</a:t>
                </a:r>
                <a:endParaRPr lang="fr-FR" noProof="0" dirty="0"/>
              </a:p>
              <a:p>
                <a:pPr lvl="1"/>
                <a:r>
                  <a:rPr lang="fr-FR" noProof="0" dirty="0"/>
                  <a:t>Militaire, médical, finance</a:t>
                </a:r>
              </a:p>
              <a:p>
                <a:pPr lvl="2"/>
                <a:r>
                  <a:rPr lang="fr-FR" noProof="0" dirty="0"/>
                  <a:t>Preneur de décision (trader)</a:t>
                </a:r>
              </a:p>
              <a:p>
                <a:pPr lvl="2"/>
                <a:r>
                  <a:rPr lang="fr-FR" noProof="0" dirty="0"/>
                  <a:t> analyste (quant) </a:t>
                </a:r>
                <a:r>
                  <a:rPr lang="fr-FR" noProof="0" dirty="0">
                    <a:sym typeface="Wingdings" panose="05000000000000000000" pitchFamily="2" charset="2"/>
                  </a:rPr>
                  <a:t> actions</a:t>
                </a:r>
                <a:endParaRPr lang="fr-FR" noProof="0" dirty="0"/>
              </a:p>
              <a:p>
                <a:r>
                  <a:rPr lang="fr-FR" noProof="0" dirty="0"/>
                  <a:t>Conception</a:t>
                </a:r>
              </a:p>
              <a:p>
                <a:pPr lvl="1"/>
                <a:r>
                  <a:rPr lang="fr-FR" noProof="0" dirty="0"/>
                  <a:t>Modèle causal </a:t>
                </a:r>
              </a:p>
              <a:p>
                <a:pPr lvl="2"/>
                <a:r>
                  <a:rPr lang="fr-FR" noProof="0" dirty="0"/>
                  <a:t>Simplification (qualitatif)</a:t>
                </a:r>
              </a:p>
              <a:p>
                <a:pPr lvl="1"/>
                <a:r>
                  <a:rPr lang="fr-FR" noProof="0" dirty="0"/>
                  <a:t>Assignation des probabilités</a:t>
                </a:r>
              </a:p>
              <a:p>
                <a:pPr lvl="2"/>
                <a:r>
                  <a:rPr lang="fr-FR" noProof="0" dirty="0"/>
                  <a:t>Depuis DB / Experts</a:t>
                </a:r>
              </a:p>
              <a:p>
                <a:pPr lvl="1"/>
                <a:r>
                  <a:rPr lang="fr-FR" noProof="0" dirty="0"/>
                  <a:t>Assignation des utilités</a:t>
                </a:r>
              </a:p>
              <a:p>
                <a:pPr lvl="2"/>
                <a:r>
                  <a:rPr lang="fr-FR" noProof="0" dirty="0"/>
                  <a:t>Echelle [0,1], multi attribut</a:t>
                </a:r>
              </a:p>
              <a:p>
                <a:pPr lvl="1"/>
                <a:r>
                  <a:rPr lang="fr-FR" noProof="0" dirty="0"/>
                  <a:t>Vérification et raffinage</a:t>
                </a:r>
              </a:p>
              <a:p>
                <a:pPr lvl="2"/>
                <a:r>
                  <a:rPr lang="fr-FR" noProof="0" dirty="0"/>
                  <a:t>Étalon métier (experts)</a:t>
                </a:r>
              </a:p>
              <a:p>
                <a:pPr lvl="1"/>
                <a:r>
                  <a:rPr lang="fr-FR" noProof="0" dirty="0"/>
                  <a:t>Analyse de sensibilité </a:t>
                </a:r>
              </a:p>
              <a:p>
                <a:pPr lvl="2"/>
                <a:r>
                  <a:rPr lang="fr-FR" noProof="0" dirty="0"/>
                  <a:t>à de petites modifications</a:t>
                </a:r>
              </a:p>
              <a:p>
                <a:pPr lvl="3"/>
                <a:r>
                  <a:rPr lang="fr-FR" dirty="0">
                    <a:sym typeface="Wingdings" panose="05000000000000000000" pitchFamily="2" charset="2"/>
                  </a:rPr>
                  <a:t> </a:t>
                </a:r>
                <a:r>
                  <a:rPr lang="fr-FR" dirty="0"/>
                  <a:t>Probabilités du modèle incertaines</a:t>
                </a:r>
                <a:endParaRPr lang="fr-FR" noProof="0" dirty="0"/>
              </a:p>
              <a:p>
                <a:pPr lvl="2"/>
                <a:r>
                  <a:rPr lang="fr-FR" noProof="0" dirty="0">
                    <a:sym typeface="Wingdings" panose="05000000000000000000" pitchFamily="2" charset="2"/>
                  </a:rPr>
                  <a:t> </a:t>
                </a:r>
                <a:r>
                  <a:rPr lang="fr-FR" noProof="0" dirty="0"/>
                  <a:t>Décision robuste ou « minimax »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𝐸𝑈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fr-FR" noProof="0" dirty="0"/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ou Hyper-paramétrisation Bayésienne de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fr-FR" dirty="0">
                  <a:sym typeface="Wingdings" panose="05000000000000000000" pitchFamily="2" charset="2"/>
                </a:endParaRPr>
              </a:p>
              <a:p>
                <a:pPr lvl="3"/>
                <a:r>
                  <a:rPr lang="fr-FR" noProof="0" dirty="0">
                    <a:sym typeface="Wingdings" panose="05000000000000000000" pitchFamily="2" charset="2"/>
                  </a:rPr>
                  <a:t> Si décision robuste trop conservative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Préférences inconnues</a:t>
                </a:r>
              </a:p>
              <a:p>
                <a:pPr lvl="1"/>
                <a:r>
                  <a:rPr lang="fr-FR" noProof="0" dirty="0">
                    <a:sym typeface="Wingdings" panose="05000000000000000000" pitchFamily="2" charset="2"/>
                  </a:rPr>
                  <a:t>2 possibilités</a:t>
                </a:r>
              </a:p>
              <a:p>
                <a:pPr lvl="1"/>
                <a:r>
                  <a:rPr lang="fr-FR" noProof="0" dirty="0">
                    <a:sym typeface="Wingdings" panose="05000000000000000000" pitchFamily="2" charset="2"/>
                  </a:rPr>
                  <a:t>Préférences incertaines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Fonction d’utilité probabiliste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 Création d’une variable aléatoire dédié</a:t>
                </a:r>
              </a:p>
              <a:p>
                <a:pPr lvl="1"/>
                <a:r>
                  <a:rPr lang="fr-FR" noProof="0" dirty="0">
                    <a:sym typeface="Wingdings" panose="05000000000000000000" pitchFamily="2" charset="2"/>
                  </a:rPr>
                  <a:t>Préférences à affiner</a:t>
                </a:r>
              </a:p>
              <a:p>
                <a:pPr lvl="2"/>
                <a:r>
                  <a:rPr lang="fr-FR" noProof="0" dirty="0">
                    <a:sym typeface="Wingdings" panose="05000000000000000000" pitchFamily="2" charset="2"/>
                  </a:rPr>
                  <a:t>Possibilité d’intervention humaine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Similaire à VIP</a:t>
                </a:r>
              </a:p>
              <a:p>
                <a:pPr lvl="3"/>
                <a:r>
                  <a:rPr lang="fr-FR" noProof="0" dirty="0">
                    <a:sym typeface="Wingdings" panose="05000000000000000000" pitchFamily="2" charset="2"/>
                  </a:rPr>
                  <a:t>Ex: Off-switch </a:t>
                </a:r>
                <a:r>
                  <a:rPr lang="fr-FR" noProof="0" dirty="0" err="1">
                    <a:sym typeface="Wingdings" panose="05000000000000000000" pitchFamily="2" charset="2"/>
                  </a:rPr>
                  <a:t>game</a:t>
                </a:r>
                <a:r>
                  <a:rPr lang="fr-FR" noProof="0" dirty="0">
                    <a:sym typeface="Wingdings" panose="05000000000000000000" pitchFamily="2" charset="2"/>
                  </a:rPr>
                  <a:t> + extensions Bayésiennes</a:t>
                </a:r>
              </a:p>
            </p:txBody>
          </p:sp>
        </mc:Choice>
        <mc:Fallback xmlns="">
          <p:sp>
            <p:nvSpPr>
              <p:cNvPr id="8" name="Espace réservé du contenu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800600" y="1371599"/>
                <a:ext cx="4038600" cy="5038725"/>
              </a:xfrm>
              <a:blipFill>
                <a:blip r:embed="rId3"/>
                <a:stretch>
                  <a:fillRect t="-8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88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Questions?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18198879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Sommaire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35B01F-2079-4428-897D-278E5C9D0E54}" type="slidenum">
              <a:rPr lang="fr-FR" smtClean="0"/>
              <a:pPr>
                <a:defRPr/>
              </a:pPr>
              <a:t>89</a:t>
            </a:fld>
            <a:endParaRPr lang="fr-FR" dirty="0"/>
          </a:p>
        </p:txBody>
      </p:sp>
      <p:sp>
        <p:nvSpPr>
          <p:cNvPr id="1434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883150"/>
          </a:xfrm>
        </p:spPr>
        <p:txBody>
          <a:bodyPr>
            <a:normAutofit lnSpcReduction="10000"/>
          </a:bodyPr>
          <a:lstStyle/>
          <a:p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Quantification de l’incertitude</a:t>
            </a:r>
          </a:p>
          <a:p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Raisonnement probabiliste</a:t>
            </a:r>
          </a:p>
          <a:p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Raisonnement probabiliste temporel</a:t>
            </a:r>
          </a:p>
          <a:p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Prise de décision simple</a:t>
            </a:r>
          </a:p>
          <a:p>
            <a:r>
              <a:rPr lang="fr-FR" noProof="0" dirty="0"/>
              <a:t>Prise de décision complexe</a:t>
            </a:r>
          </a:p>
          <a:p>
            <a:pPr lvl="1"/>
            <a:r>
              <a:rPr lang="fr-FR" dirty="0"/>
              <a:t>Politiques, </a:t>
            </a:r>
            <a:r>
              <a:rPr lang="fr-FR" noProof="0" dirty="0"/>
              <a:t>Processus de décision de Markov</a:t>
            </a:r>
          </a:p>
          <a:p>
            <a:pPr lvl="1"/>
            <a:r>
              <a:rPr lang="fr-FR" dirty="0"/>
              <a:t>Théorie de jeux </a:t>
            </a:r>
          </a:p>
          <a:p>
            <a:pPr lvl="1"/>
            <a:r>
              <a:rPr lang="fr-FR" noProof="0" dirty="0"/>
              <a:t>Design de mécanismes</a:t>
            </a:r>
          </a:p>
          <a:p>
            <a:pPr lvl="1"/>
            <a:r>
              <a:rPr lang="fr-FR" noProof="0" dirty="0"/>
              <a:t>Jeux différentiels</a:t>
            </a:r>
          </a:p>
          <a:p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TP: Inférence avec des modèles probabilistes simples et temporels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356759358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A03A86"/>
                </a:solidFill>
              </a:rPr>
              <a:t>Prise de décision complexe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414065"/>
            <a:ext cx="8503920" cy="5139135"/>
          </a:xfrm>
        </p:spPr>
        <p:txBody>
          <a:bodyPr>
            <a:normAutofit fontScale="77500" lnSpcReduction="20000"/>
          </a:bodyPr>
          <a:lstStyle/>
          <a:p>
            <a:r>
              <a:rPr lang="fr-FR" noProof="0" dirty="0"/>
              <a:t>Problèmes de décision séquentiels</a:t>
            </a:r>
          </a:p>
          <a:p>
            <a:pPr lvl="1"/>
            <a:r>
              <a:rPr lang="fr-FR" noProof="0" dirty="0"/>
              <a:t>Planification = cas particulier</a:t>
            </a:r>
          </a:p>
          <a:p>
            <a:pPr lvl="1"/>
            <a:r>
              <a:rPr lang="fr-FR" noProof="0" dirty="0"/>
              <a:t>Entièrement observables</a:t>
            </a:r>
          </a:p>
          <a:p>
            <a:r>
              <a:rPr lang="fr-FR" noProof="0" dirty="0"/>
              <a:t>Processus de décision de Markov (MDP)</a:t>
            </a:r>
          </a:p>
          <a:p>
            <a:pPr lvl="1"/>
            <a:r>
              <a:rPr lang="fr-FR" noProof="0" dirty="0"/>
              <a:t>Etats s, Actions(s)</a:t>
            </a:r>
          </a:p>
          <a:p>
            <a:pPr lvl="1"/>
            <a:r>
              <a:rPr lang="fr-FR" noProof="0" dirty="0"/>
              <a:t>Modèle de transition P(s’|</a:t>
            </a:r>
            <a:r>
              <a:rPr lang="fr-FR" noProof="0" dirty="0" err="1"/>
              <a:t>s,a</a:t>
            </a:r>
            <a:r>
              <a:rPr lang="fr-FR" noProof="0" dirty="0"/>
              <a:t>)</a:t>
            </a:r>
          </a:p>
          <a:p>
            <a:pPr lvl="1"/>
            <a:r>
              <a:rPr lang="fr-FR" noProof="0" dirty="0"/>
              <a:t>Récompense R(s)</a:t>
            </a:r>
          </a:p>
          <a:p>
            <a:pPr lvl="2"/>
            <a:r>
              <a:rPr lang="en-US" dirty="0"/>
              <a:t>Ex: +1;-1 (terminal) ; -0,04 (</a:t>
            </a:r>
            <a:r>
              <a:rPr lang="en-US" dirty="0" err="1"/>
              <a:t>vitesse</a:t>
            </a:r>
            <a:r>
              <a:rPr lang="en-US" dirty="0"/>
              <a:t>)</a:t>
            </a:r>
            <a:endParaRPr lang="fr-FR" noProof="0" dirty="0"/>
          </a:p>
          <a:p>
            <a:r>
              <a:rPr lang="fr-FR" noProof="0" dirty="0"/>
              <a:t>Solution = </a:t>
            </a:r>
            <a:r>
              <a:rPr lang="fr-FR" b="1" noProof="0" dirty="0"/>
              <a:t>Politique optimale </a:t>
            </a:r>
            <a:r>
              <a:rPr lang="en-US" dirty="0"/>
              <a:t>(</a:t>
            </a:r>
            <a:r>
              <a:rPr lang="el-GR" b="1" dirty="0"/>
              <a:t>π</a:t>
            </a:r>
            <a:r>
              <a:rPr lang="fr-FR" b="1" dirty="0"/>
              <a:t>*</a:t>
            </a:r>
            <a:r>
              <a:rPr lang="fr-FR" dirty="0"/>
              <a:t>)</a:t>
            </a:r>
            <a:endParaRPr lang="fr-FR" b="1" noProof="0" dirty="0"/>
          </a:p>
          <a:p>
            <a:pPr lvl="1"/>
            <a:r>
              <a:rPr lang="fr-FR" noProof="0" dirty="0"/>
              <a:t>Fournit l’utilité espérée maximale</a:t>
            </a:r>
          </a:p>
          <a:p>
            <a:pPr lvl="2"/>
            <a:r>
              <a:rPr lang="fr-FR" dirty="0" err="1"/>
              <a:t>EU</a:t>
            </a:r>
            <a:r>
              <a:rPr lang="fr-FR" baseline="-25000" dirty="0" err="1"/>
              <a:t>h</a:t>
            </a:r>
            <a:r>
              <a:rPr lang="fr-FR" dirty="0"/>
              <a:t>([s0, s1, . . . , sn])</a:t>
            </a:r>
            <a:endParaRPr lang="en-US" dirty="0"/>
          </a:p>
          <a:p>
            <a:pPr lvl="1"/>
            <a:r>
              <a:rPr lang="fr-FR" noProof="0" dirty="0"/>
              <a:t>Horizon fini </a:t>
            </a:r>
            <a:r>
              <a:rPr lang="fr-FR" noProof="0" dirty="0">
                <a:sym typeface="Wingdings" panose="05000000000000000000" pitchFamily="2" charset="2"/>
              </a:rPr>
              <a:t> </a:t>
            </a:r>
            <a:r>
              <a:rPr lang="el-GR" b="1" dirty="0"/>
              <a:t>π</a:t>
            </a:r>
            <a:r>
              <a:rPr lang="fr-FR" b="1" dirty="0"/>
              <a:t>*</a:t>
            </a:r>
            <a:r>
              <a:rPr lang="fr-FR" noProof="0" dirty="0">
                <a:sym typeface="Wingdings" panose="05000000000000000000" pitchFamily="2" charset="2"/>
              </a:rPr>
              <a:t> non-stationnaire</a:t>
            </a:r>
          </a:p>
          <a:p>
            <a:pPr lvl="1"/>
            <a:r>
              <a:rPr lang="fr-FR" noProof="0" dirty="0">
                <a:sym typeface="Wingdings" panose="05000000000000000000" pitchFamily="2" charset="2"/>
              </a:rPr>
              <a:t>Préférences Stationnaires  récompenses </a:t>
            </a:r>
          </a:p>
          <a:p>
            <a:pPr lvl="2"/>
            <a:r>
              <a:rPr lang="fr-FR" noProof="0" dirty="0">
                <a:sym typeface="Wingdings" panose="05000000000000000000" pitchFamily="2" charset="2"/>
              </a:rPr>
              <a:t>Additives: </a:t>
            </a:r>
            <a:r>
              <a:rPr lang="fr-FR" dirty="0" err="1"/>
              <a:t>U</a:t>
            </a:r>
            <a:r>
              <a:rPr lang="fr-FR" baseline="-25000" dirty="0" err="1"/>
              <a:t>h</a:t>
            </a:r>
            <a:r>
              <a:rPr lang="pt-BR" dirty="0"/>
              <a:t>([s0, s1, s2, . . .]) = R(s0) + R(s1) + R(s2) + ...</a:t>
            </a:r>
          </a:p>
          <a:p>
            <a:pPr lvl="3"/>
            <a:r>
              <a:rPr lang="fr-FR" noProof="0" dirty="0">
                <a:sym typeface="Wingdings" panose="05000000000000000000" pitchFamily="2" charset="2"/>
              </a:rPr>
              <a:t>Besoin d’une politique appropriée (garantie de finir)</a:t>
            </a:r>
          </a:p>
          <a:p>
            <a:pPr lvl="2"/>
            <a:r>
              <a:rPr lang="fr-FR" noProof="0" dirty="0">
                <a:sym typeface="Wingdings" panose="05000000000000000000" pitchFamily="2" charset="2"/>
              </a:rPr>
              <a:t>Ou escomptées </a:t>
            </a:r>
            <a:r>
              <a:rPr lang="en-US" dirty="0">
                <a:sym typeface="Wingdings" panose="05000000000000000000" pitchFamily="2" charset="2"/>
              </a:rPr>
              <a:t>: </a:t>
            </a:r>
            <a:r>
              <a:rPr lang="fr-FR" dirty="0" err="1"/>
              <a:t>U</a:t>
            </a:r>
            <a:r>
              <a:rPr lang="fr-FR" baseline="-25000" dirty="0" err="1"/>
              <a:t>h</a:t>
            </a:r>
            <a:r>
              <a:rPr lang="pt-BR" dirty="0"/>
              <a:t>([s0, s1, s2, . . .]) = R(s0) + </a:t>
            </a:r>
            <a:r>
              <a:rPr lang="el-GR" dirty="0"/>
              <a:t>γ </a:t>
            </a:r>
            <a:r>
              <a:rPr lang="pt-BR" dirty="0"/>
              <a:t>R(s1) +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l-GR" dirty="0"/>
              <a:t>γ</a:t>
            </a:r>
            <a:r>
              <a:rPr lang="fr-FR" dirty="0"/>
              <a:t>²</a:t>
            </a:r>
            <a:r>
              <a:rPr lang="pt-BR" dirty="0"/>
              <a:t> R(s2) </a:t>
            </a:r>
          </a:p>
          <a:p>
            <a:pPr lvl="3"/>
            <a:r>
              <a:rPr lang="pt-BR" dirty="0">
                <a:sym typeface="Wingdings" panose="05000000000000000000" pitchFamily="2" charset="2"/>
              </a:rPr>
              <a:t> U bornée, Empirique, monétaire, uncertitude, stationarité</a:t>
            </a:r>
            <a:br>
              <a:rPr lang="pt-BR" dirty="0">
                <a:sym typeface="Wingdings" panose="05000000000000000000" pitchFamily="2" charset="2"/>
              </a:rPr>
            </a:br>
            <a:endParaRPr lang="pt-BR" dirty="0">
              <a:sym typeface="Wingdings" panose="05000000000000000000" pitchFamily="2" charset="2"/>
            </a:endParaRPr>
          </a:p>
          <a:p>
            <a:pPr lvl="3"/>
            <a:r>
              <a:rPr lang="pt-BR" dirty="0">
                <a:sym typeface="Wingdings" panose="05000000000000000000" pitchFamily="2" charset="2"/>
              </a:rPr>
              <a:t>Sinon, récompense moyenne</a:t>
            </a:r>
            <a:endParaRPr lang="fr-FR" noProof="0" dirty="0">
              <a:sym typeface="Wingdings" panose="05000000000000000000" pitchFamily="2" charset="2"/>
            </a:endParaRPr>
          </a:p>
          <a:p>
            <a:pPr lvl="1"/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262" y="1414065"/>
            <a:ext cx="3995738" cy="184940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175" y="3438953"/>
            <a:ext cx="2028825" cy="160972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C1698DF-EF83-4751-8E42-B39830208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84" y="5895513"/>
            <a:ext cx="3995738" cy="51307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895EDAC-5354-485C-8694-C58D13928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6593" y="3438953"/>
            <a:ext cx="15811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5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Evaluation des politiques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371599"/>
                <a:ext cx="8503920" cy="5038725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fr-FR" noProof="0" dirty="0"/>
                  <a:t>Utilité espérée en appliquant </a:t>
                </a:r>
                <a:r>
                  <a:rPr lang="el-GR" b="1" dirty="0"/>
                  <a:t>π</a:t>
                </a:r>
                <a:r>
                  <a:rPr lang="fr-FR" noProof="0" dirty="0"/>
                  <a:t> depuis l’état 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fr-FR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fr-FR" noProof="0" dirty="0"/>
              </a:p>
              <a:p>
                <a:r>
                  <a:rPr lang="fr-FR" noProof="0" dirty="0"/>
                  <a:t>Politique optimale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fr-FR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fr-FR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𝑟𝑔𝑚𝑎𝑥</m:t>
                          </m:r>
                        </m:e>
                      </m:mr>
                      <m:mr>
                        <m:e>
                          <m:r>
                            <a:rPr lang="fr-FR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mr>
                    </m:m>
                    <m:sSup>
                      <m:sSupPr>
                        <m:ctrlP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fr-FR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FR" noProof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* </a:t>
                </a:r>
                <a:r>
                  <a:rPr lang="en-US" dirty="0" err="1"/>
                  <a:t>indépendant</a:t>
                </a:r>
                <a:r>
                  <a:rPr lang="en-US" dirty="0"/>
                  <a:t> de </a:t>
                </a:r>
                <a:r>
                  <a:rPr lang="en-US" dirty="0" err="1"/>
                  <a:t>l’état</a:t>
                </a:r>
                <a:r>
                  <a:rPr lang="en-US" dirty="0"/>
                  <a:t> (</a:t>
                </a:r>
                <a:r>
                  <a:rPr lang="en-US" dirty="0" err="1"/>
                  <a:t>escompte</a:t>
                </a:r>
                <a:r>
                  <a:rPr lang="en-US" dirty="0"/>
                  <a:t>)</a:t>
                </a:r>
              </a:p>
              <a:p>
                <a:r>
                  <a:rPr lang="fr-FR" noProof="0" dirty="0"/>
                  <a:t>Utilité d’un état</a:t>
                </a:r>
              </a:p>
              <a:p>
                <a:pPr lvl="1"/>
                <a:r>
                  <a:rPr lang="en-US" dirty="0"/>
                  <a:t>U(s) = U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baseline="30000" dirty="0"/>
                  <a:t>*</a:t>
                </a:r>
                <a:r>
                  <a:rPr lang="en-US" dirty="0"/>
                  <a:t>(s)</a:t>
                </a:r>
                <a:endParaRPr lang="fr-FR" noProof="0" dirty="0"/>
              </a:p>
              <a:p>
                <a:r>
                  <a:rPr lang="fr-FR" noProof="0" dirty="0"/>
                  <a:t>Maximisation de l’utilité espérée</a:t>
                </a:r>
              </a:p>
              <a:p>
                <a:pPr lvl="1"/>
                <a:r>
                  <a:rPr lang="fr-FR" noProof="0" dirty="0"/>
                  <a:t>Relation Utilité d’un état vs successeurs </a:t>
                </a:r>
              </a:p>
              <a:p>
                <a:pPr lvl="2"/>
                <a:r>
                  <a:rPr lang="fr-FR" dirty="0"/>
                  <a:t>= Equation de Bellman</a:t>
                </a:r>
                <a:endParaRPr lang="fr-FR" noProof="0" dirty="0"/>
              </a:p>
              <a:p>
                <a:pPr lvl="1"/>
                <a:r>
                  <a:rPr lang="fr-FR" noProof="0" dirty="0"/>
                  <a:t>Fonction Action-utilité (Q-fonction)</a:t>
                </a:r>
              </a:p>
              <a:p>
                <a:r>
                  <a:rPr lang="fr-FR" noProof="0" dirty="0"/>
                  <a:t>Algorithmes pour la déterminer</a:t>
                </a:r>
              </a:p>
              <a:p>
                <a:pPr lvl="1"/>
                <a:r>
                  <a:rPr lang="fr-FR" noProof="0" dirty="0"/>
                  <a:t>Approches itérative (programmation dynamique)</a:t>
                </a:r>
              </a:p>
              <a:p>
                <a:pPr lvl="1"/>
                <a:r>
                  <a:rPr lang="fr-FR" noProof="0" dirty="0"/>
                  <a:t>Programmation linéaire, méthodes approximatives</a:t>
                </a:r>
              </a:p>
              <a:p>
                <a:r>
                  <a:rPr lang="fr-FR" dirty="0"/>
                  <a:t>Façonnage de récompenses</a:t>
                </a:r>
              </a:p>
              <a:p>
                <a:pPr lvl="1"/>
                <a:r>
                  <a:rPr lang="fr-FR" dirty="0"/>
                  <a:t>Comme pour U, R’(</a:t>
                </a:r>
                <a:r>
                  <a:rPr lang="fr-FR" dirty="0" err="1"/>
                  <a:t>s,a,s</a:t>
                </a:r>
                <a:r>
                  <a:rPr lang="fr-FR" dirty="0"/>
                  <a:t>’) = </a:t>
                </a:r>
                <a:r>
                  <a:rPr lang="fr-FR" dirty="0" err="1"/>
                  <a:t>mR</a:t>
                </a:r>
                <a:r>
                  <a:rPr lang="fr-FR" dirty="0"/>
                  <a:t>(</a:t>
                </a:r>
                <a:r>
                  <a:rPr lang="fr-FR" dirty="0" err="1"/>
                  <a:t>s,a,s</a:t>
                </a:r>
                <a:r>
                  <a:rPr lang="fr-FR" dirty="0"/>
                  <a:t>’)+b ne change pas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*</a:t>
                </a:r>
              </a:p>
              <a:p>
                <a:pPr lvl="1"/>
                <a:r>
                  <a:rPr lang="en-US" dirty="0"/>
                  <a:t>Shaping theorem: </a:t>
                </a:r>
                <a:r>
                  <a:rPr lang="en-US" dirty="0" err="1"/>
                  <a:t>utilisation</a:t>
                </a:r>
                <a:r>
                  <a:rPr lang="en-US" dirty="0"/>
                  <a:t> d’un </a:t>
                </a:r>
                <a:r>
                  <a:rPr lang="en-US" dirty="0" err="1"/>
                  <a:t>potentiel</a:t>
                </a:r>
                <a:endParaRPr lang="en-US" dirty="0"/>
              </a:p>
              <a:p>
                <a:pPr lvl="2"/>
                <a:r>
                  <a:rPr lang="fr-FR" dirty="0"/>
                  <a:t>Ne change pas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* </a:t>
                </a:r>
                <a:endParaRPr lang="fr-FR" dirty="0"/>
              </a:p>
              <a:p>
                <a:pPr lvl="2"/>
                <a:r>
                  <a:rPr lang="fr-FR" dirty="0"/>
                  <a:t>Dressage/éducation: guidage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fr-FR" dirty="0"/>
                  <a:t> gloutonne avec potentiel U</a:t>
                </a:r>
              </a:p>
              <a:p>
                <a:r>
                  <a:rPr lang="fr-FR" dirty="0"/>
                  <a:t>Représentation des </a:t>
                </a:r>
                <a:r>
                  <a:rPr lang="fr-FR" dirty="0" err="1"/>
                  <a:t>MDPs</a:t>
                </a:r>
                <a:endParaRPr lang="fr-FR" dirty="0"/>
              </a:p>
              <a:p>
                <a:pPr lvl="1"/>
                <a:r>
                  <a:rPr lang="fr-FR" dirty="0"/>
                  <a:t>Réseaux de décision dynamiques = RDD + RBD</a:t>
                </a:r>
              </a:p>
              <a:p>
                <a:endParaRPr lang="fr-FR" noProof="0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371599"/>
                <a:ext cx="8503920" cy="5038725"/>
              </a:xfrm>
              <a:blipFill>
                <a:blip r:embed="rId2"/>
                <a:stretch>
                  <a:fillRect l="-72" t="-1330" b="-4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91</a:t>
            </a:fld>
            <a:endParaRPr lang="en-US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334" y="1934568"/>
            <a:ext cx="1905000" cy="1439217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62A3BB43-BE73-47CA-8908-A58319F26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210" y="3432213"/>
            <a:ext cx="3255248" cy="404470"/>
          </a:xfrm>
          <a:prstGeom prst="rect">
            <a:avLst/>
          </a:prstGeom>
        </p:spPr>
      </p:pic>
      <p:pic>
        <p:nvPicPr>
          <p:cNvPr id="13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1D2093E2-2789-4DA5-81CE-C42799D50C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210" y="3890961"/>
            <a:ext cx="2673648" cy="3358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256522E-FF93-440D-A378-737F7D7C81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3375" y="4297855"/>
            <a:ext cx="3262918" cy="74663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EDF696A-549C-4C07-B0BF-FEC350A084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5505658"/>
            <a:ext cx="2526008" cy="28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4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05364-8B89-4196-8303-533BCF16E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 itératives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0ADB963A-7503-44ED-A129-AF65112C1E3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67178" y="1423088"/>
                <a:ext cx="8503920" cy="498723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fr-FR" dirty="0"/>
                  <a:t>Itération de la valeur</a:t>
                </a:r>
              </a:p>
              <a:p>
                <a:pPr lvl="1"/>
                <a:r>
                  <a:rPr lang="fr-FR" dirty="0"/>
                  <a:t>On démarre de </a:t>
                </a:r>
                <a:r>
                  <a:rPr lang="en-US" dirty="0"/>
                  <a:t>U</a:t>
                </a:r>
                <a:r>
                  <a:rPr lang="en-US" baseline="-25000" dirty="0"/>
                  <a:t>0</a:t>
                </a:r>
                <a:r>
                  <a:rPr lang="fr-FR" dirty="0"/>
                  <a:t> arbitraire</a:t>
                </a:r>
              </a:p>
              <a:p>
                <a:pPr lvl="1"/>
                <a:r>
                  <a:rPr lang="fr-FR" dirty="0"/>
                  <a:t>Mise à jour de Bellman</a:t>
                </a:r>
              </a:p>
              <a:p>
                <a:pPr lvl="1"/>
                <a:r>
                  <a:rPr lang="fr-FR" dirty="0"/>
                  <a:t>Convergence par contraction de facteur γ</a:t>
                </a:r>
              </a:p>
              <a:p>
                <a:pPr lvl="2"/>
                <a:r>
                  <a:rPr lang="en-US" dirty="0"/>
                  <a:t>||</a:t>
                </a:r>
                <a:r>
                  <a:rPr lang="en-US" dirty="0" err="1"/>
                  <a:t>BUi</a:t>
                </a:r>
                <a:r>
                  <a:rPr lang="en-US" dirty="0"/>
                  <a:t> −U|| ≤ </a:t>
                </a:r>
                <a:r>
                  <a:rPr lang="el-GR" dirty="0"/>
                  <a:t>γ ||</a:t>
                </a:r>
                <a:r>
                  <a:rPr lang="en-US" dirty="0"/>
                  <a:t>Ui − U|| (error dans </a:t>
                </a:r>
                <a:r>
                  <a:rPr lang="en-US" dirty="0" err="1"/>
                  <a:t>l’estimation</a:t>
                </a:r>
                <a:r>
                  <a:rPr lang="en-US" dirty="0"/>
                  <a:t>) </a:t>
                </a:r>
              </a:p>
              <a:p>
                <a:pPr lvl="3"/>
                <a:r>
                  <a:rPr lang="en-US" dirty="0" err="1"/>
                  <a:t>Dépend</a:t>
                </a:r>
                <a:r>
                  <a:rPr lang="en-US" dirty="0"/>
                  <a:t> </a:t>
                </a:r>
                <a:r>
                  <a:rPr lang="en-US" dirty="0" err="1"/>
                  <a:t>peu</a:t>
                </a:r>
                <a:r>
                  <a:rPr lang="en-US" dirty="0"/>
                  <a:t> de </a:t>
                </a:r>
                <a:r>
                  <a:rPr lang="en-US" dirty="0" err="1"/>
                  <a:t>l’erreur</a:t>
                </a:r>
                <a:r>
                  <a:rPr lang="en-US" dirty="0"/>
                  <a:t> </a:t>
                </a:r>
                <a:r>
                  <a:rPr lang="en-US" dirty="0" err="1"/>
                  <a:t>cible</a:t>
                </a:r>
                <a:r>
                  <a:rPr lang="en-US" dirty="0"/>
                  <a:t> (+), </a:t>
                </a:r>
                <a:r>
                  <a:rPr lang="en-US" dirty="0" err="1"/>
                  <a:t>mais</a:t>
                </a:r>
                <a:r>
                  <a:rPr lang="en-US" dirty="0"/>
                  <a:t> beaucoup de </a:t>
                </a:r>
                <a:r>
                  <a:rPr lang="el-GR" dirty="0"/>
                  <a:t>γ</a:t>
                </a:r>
                <a:r>
                  <a:rPr lang="fr-FR" dirty="0"/>
                  <a:t> (- prêt de 1 </a:t>
                </a:r>
                <a:r>
                  <a:rPr lang="fr-FR" dirty="0">
                    <a:sym typeface="Wingdings" panose="05000000000000000000" pitchFamily="2" charset="2"/>
                  </a:rPr>
                  <a:t> myope</a:t>
                </a:r>
                <a:r>
                  <a:rPr lang="fr-FR" dirty="0"/>
                  <a:t>)</a:t>
                </a:r>
                <a:r>
                  <a:rPr lang="en-US" dirty="0"/>
                  <a:t>   </a:t>
                </a:r>
                <a:endParaRPr lang="fr-FR" dirty="0"/>
              </a:p>
              <a:p>
                <a:pPr lvl="1"/>
                <a:r>
                  <a:rPr lang="fr-FR" dirty="0"/>
                  <a:t>Perte de politique </a:t>
                </a:r>
              </a:p>
              <a:p>
                <a:pPr lvl="2"/>
                <a:r>
                  <a:rPr lang="en-US" dirty="0"/>
                  <a:t>politique </a:t>
                </a:r>
                <a:r>
                  <a:rPr lang="en-US" dirty="0" err="1"/>
                  <a:t>d’utilité</a:t>
                </a:r>
                <a:r>
                  <a:rPr lang="en-US" dirty="0"/>
                  <a:t> </a:t>
                </a:r>
                <a:r>
                  <a:rPr lang="en-US" dirty="0" err="1"/>
                  <a:t>espérée</a:t>
                </a:r>
                <a:r>
                  <a:rPr lang="en-US" dirty="0"/>
                  <a:t> </a:t>
                </a:r>
                <a:r>
                  <a:rPr lang="en-US" dirty="0" err="1"/>
                  <a:t>maximale</a:t>
                </a:r>
                <a:r>
                  <a:rPr lang="en-US" dirty="0"/>
                  <a:t> (MEU) </a:t>
                </a:r>
                <a:r>
                  <a:rPr lang="fr-FR" dirty="0"/>
                  <a:t>||U</a:t>
                </a:r>
                <a:r>
                  <a:rPr lang="el-GR" dirty="0"/>
                  <a:t>π</a:t>
                </a:r>
                <a:r>
                  <a:rPr lang="fr-FR" dirty="0"/>
                  <a:t>i − U|| </a:t>
                </a:r>
                <a:r>
                  <a:rPr lang="fr-FR" dirty="0">
                    <a:sym typeface="Wingdings" panose="05000000000000000000" pitchFamily="2" charset="2"/>
                  </a:rPr>
                  <a:t> 0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converge souvent avant U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Itération de la politique</a:t>
                </a:r>
              </a:p>
              <a:p>
                <a:pPr lvl="1"/>
                <a:r>
                  <a:rPr lang="fr-FR" dirty="0"/>
                  <a:t>On démarre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baseline="-25000" dirty="0"/>
                  <a:t>0 </a:t>
                </a:r>
                <a:r>
                  <a:rPr lang="fr-FR" dirty="0"/>
                  <a:t> arbitraire</a:t>
                </a:r>
              </a:p>
              <a:p>
                <a:pPr lvl="1"/>
                <a:r>
                  <a:rPr lang="fr-FR" dirty="0"/>
                  <a:t>Exécute alternativement 2 étapes:</a:t>
                </a:r>
              </a:p>
              <a:p>
                <a:pPr lvl="2"/>
                <a:r>
                  <a:rPr lang="fr-FR" dirty="0"/>
                  <a:t>Evaluation de la politique</a:t>
                </a:r>
              </a:p>
              <a:p>
                <a:pPr lvl="3"/>
                <a:r>
                  <a:rPr lang="en-US" dirty="0" err="1"/>
                  <a:t>calcule</a:t>
                </a:r>
                <a:r>
                  <a:rPr lang="en-US" dirty="0"/>
                  <a:t> </a:t>
                </a:r>
                <a:r>
                  <a:rPr lang="fr-FR" dirty="0" err="1"/>
                  <a:t>Ui</a:t>
                </a:r>
                <a:r>
                  <a:rPr lang="fr-FR" dirty="0"/>
                  <a:t> =U</a:t>
                </a:r>
                <a:r>
                  <a:rPr lang="el-GR" baseline="30000" dirty="0"/>
                  <a:t>π</a:t>
                </a:r>
                <a:r>
                  <a:rPr lang="fr-FR" baseline="-25000" dirty="0"/>
                  <a:t>i</a:t>
                </a:r>
                <a:r>
                  <a:rPr lang="en-US" dirty="0"/>
                  <a:t> pour les </a:t>
                </a:r>
                <a:r>
                  <a:rPr lang="en-US" dirty="0" err="1"/>
                  <a:t>espaces</a:t>
                </a:r>
                <a:r>
                  <a:rPr lang="en-US" dirty="0"/>
                  <a:t> simples</a:t>
                </a:r>
              </a:p>
              <a:p>
                <a:pPr lvl="3"/>
                <a:r>
                  <a:rPr lang="en-US" dirty="0" err="1"/>
                  <a:t>Sinon</a:t>
                </a:r>
                <a:r>
                  <a:rPr lang="en-US" dirty="0"/>
                  <a:t> MAJ de </a:t>
                </a:r>
                <a:r>
                  <a:rPr lang="en-US" dirty="0" err="1"/>
                  <a:t>Bellmann</a:t>
                </a:r>
                <a:r>
                  <a:rPr lang="en-US" dirty="0"/>
                  <a:t> </a:t>
                </a:r>
                <a:r>
                  <a:rPr lang="en-US" dirty="0" err="1"/>
                  <a:t>simplifiée</a:t>
                </a:r>
                <a:endParaRPr lang="en-US" dirty="0"/>
              </a:p>
              <a:p>
                <a:pPr lvl="2"/>
                <a:r>
                  <a:rPr lang="fr-FR" dirty="0"/>
                  <a:t>Amélioration de la politique</a:t>
                </a:r>
              </a:p>
              <a:p>
                <a:pPr lvl="3"/>
                <a:r>
                  <a:rPr lang="en-US" dirty="0" err="1"/>
                  <a:t>calcule</a:t>
                </a:r>
                <a:r>
                  <a:rPr lang="en-US" dirty="0"/>
                  <a:t> </a:t>
                </a:r>
                <a:r>
                  <a:rPr lang="el-GR" dirty="0"/>
                  <a:t>π</a:t>
                </a:r>
                <a:r>
                  <a:rPr lang="fr-FR" baseline="-25000" dirty="0"/>
                  <a:t>i+1 </a:t>
                </a:r>
                <a:r>
                  <a:rPr lang="fr-FR" dirty="0"/>
                  <a:t>Itération de politique modifiée</a:t>
                </a:r>
              </a:p>
              <a:p>
                <a:pPr lvl="2"/>
                <a:r>
                  <a:rPr lang="fr-FR" dirty="0"/>
                  <a:t>On répète </a:t>
                </a:r>
                <a:r>
                  <a:rPr lang="fr-FR" dirty="0" err="1"/>
                  <a:t>Bellmann</a:t>
                </a:r>
                <a:r>
                  <a:rPr lang="fr-FR" dirty="0"/>
                  <a:t> simplifiée k fois (itération de valeur simplifiée)</a:t>
                </a:r>
              </a:p>
              <a:p>
                <a:r>
                  <a:rPr lang="fr-FR" dirty="0"/>
                  <a:t>Version asynchrone</a:t>
                </a:r>
              </a:p>
              <a:p>
                <a:pPr lvl="1"/>
                <a:r>
                  <a:rPr lang="fr-FR" dirty="0"/>
                  <a:t>Liberté de choisir les état à mettre à jour </a:t>
                </a:r>
                <a:r>
                  <a:rPr lang="fr-FR" dirty="0">
                    <a:sym typeface="Wingdings" panose="05000000000000000000" pitchFamily="2" charset="2"/>
                  </a:rPr>
                  <a:t></a:t>
                </a:r>
                <a:r>
                  <a:rPr lang="fr-FR" dirty="0"/>
                  <a:t>Utile avec de bonnes heuristiques</a:t>
                </a:r>
              </a:p>
              <a:p>
                <a:pPr lvl="1"/>
                <a:r>
                  <a:rPr lang="fr-FR" dirty="0"/>
                  <a:t>Ex: </a:t>
                </a:r>
                <a:r>
                  <a:rPr lang="fr-FR" dirty="0" err="1">
                    <a:hlinkClick r:id="rId2"/>
                  </a:rPr>
                  <a:t>Reinforce</a:t>
                </a: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0ADB963A-7503-44ED-A129-AF65112C1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67178" y="1423088"/>
                <a:ext cx="8503920" cy="4987238"/>
              </a:xfrm>
              <a:blipFill>
                <a:blip r:embed="rId3"/>
                <a:stretch>
                  <a:fillRect l="-287" t="-183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FB326F-75E0-4D36-9D1C-FD91CAA9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27DE45B-D244-4534-8BDA-ACCED428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92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627ADF1-3C88-490C-A11A-31C9ED052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752600"/>
            <a:ext cx="3200400" cy="38225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C1B3F7C-36E7-474D-9822-0F6E0D94D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3810000"/>
            <a:ext cx="2590800" cy="34238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18B7CB2-017A-4A8C-BC11-F97606D787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4191000"/>
            <a:ext cx="3048000" cy="39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1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2AF2F7-C73F-4926-987C-908CC933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méthodes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463A50-1A5B-4783-91B9-C193FCAC687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97552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Programmation linéaire</a:t>
            </a:r>
          </a:p>
          <a:p>
            <a:pPr lvl="1"/>
            <a:r>
              <a:rPr lang="fr-FR" dirty="0"/>
              <a:t>Bellman </a:t>
            </a:r>
            <a:r>
              <a:rPr lang="fr-FR" dirty="0">
                <a:sym typeface="Wingdings" panose="05000000000000000000" pitchFamily="2" charset="2"/>
              </a:rPr>
              <a:t> sommes et max  problème d’optimisation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Minimisation U(s) avec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Mais souvent complexité mauvaise (nombreux états/actions)</a:t>
            </a:r>
          </a:p>
          <a:p>
            <a:r>
              <a:rPr lang="fr-FR" dirty="0">
                <a:sym typeface="Wingdings" panose="05000000000000000000" pitchFamily="2" charset="2"/>
              </a:rPr>
              <a:t>Algorithmes itératifs en ligne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Méthodes offline souvent impraticables (cf. jeux)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Ex: </a:t>
            </a:r>
            <a:r>
              <a:rPr lang="fr-FR" dirty="0" err="1">
                <a:sym typeface="Wingdings" panose="05000000000000000000" pitchFamily="2" charset="2"/>
              </a:rPr>
              <a:t>Expectiminimax</a:t>
            </a:r>
            <a:r>
              <a:rPr lang="fr-FR" dirty="0">
                <a:sym typeface="Wingdings" panose="05000000000000000000" pitchFamily="2" charset="2"/>
              </a:rPr>
              <a:t>: Arbre minimax + nœuds de chance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Profondeur bornée (via </a:t>
            </a:r>
            <a:r>
              <a:rPr lang="el-GR" dirty="0"/>
              <a:t>γ</a:t>
            </a:r>
            <a:r>
              <a:rPr lang="fr-FR" dirty="0"/>
              <a:t>) ainsi que branchement (via sampling)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Programmation dynamique en temps réel (RTDP)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(décomposition en sous problèmes  Graphe = sous-MPD)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Grands espaces  méthodes de Monte-Carlo</a:t>
            </a:r>
            <a:endParaRPr lang="fr-FR" dirty="0"/>
          </a:p>
          <a:p>
            <a:r>
              <a:rPr lang="fr-FR" dirty="0"/>
              <a:t>Problèmes de bandits manchots</a:t>
            </a:r>
          </a:p>
          <a:p>
            <a:pPr lvl="1"/>
            <a:r>
              <a:rPr lang="fr-FR" dirty="0"/>
              <a:t>Machines à sous à n bras aux probabilités de gains distinctes (MAP ≈MDP)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 Compromis Exploration/Exploitation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Ex: traitements covid-19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Coefficient de </a:t>
            </a:r>
            <a:r>
              <a:rPr lang="fr-FR" dirty="0" err="1">
                <a:sym typeface="Wingdings" panose="05000000000000000000" pitchFamily="2" charset="2"/>
              </a:rPr>
              <a:t>Gittins</a:t>
            </a:r>
            <a:endParaRPr lang="fr-FR" dirty="0">
              <a:sym typeface="Wingdings" panose="05000000000000000000" pitchFamily="2" charset="2"/>
            </a:endParaRPr>
          </a:p>
          <a:p>
            <a:pPr lvl="2"/>
            <a:r>
              <a:rPr lang="fr-FR" dirty="0">
                <a:sym typeface="Wingdings" panose="05000000000000000000" pitchFamily="2" charset="2"/>
              </a:rPr>
              <a:t>une seule machine à sous: Comparaison avec récompense stationnaire </a:t>
            </a:r>
            <a:r>
              <a:rPr lang="el-GR" dirty="0">
                <a:sym typeface="Wingdings" panose="05000000000000000000" pitchFamily="2" charset="2"/>
              </a:rPr>
              <a:t>λ</a:t>
            </a:r>
            <a:r>
              <a:rPr lang="fr-FR" dirty="0">
                <a:sym typeface="Wingdings" panose="05000000000000000000" pitchFamily="2" charset="2"/>
              </a:rPr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lvl="3"/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stopping</a:t>
            </a:r>
            <a:r>
              <a:rPr lang="fr-FR" dirty="0">
                <a:sym typeface="Wingdings" panose="05000000000000000000" pitchFamily="2" charset="2"/>
              </a:rPr>
              <a:t> time T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Calcul: Cas simple: utilisation d’un Restart MDP (indifférence à T)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Approximations (MPD tronqué)</a:t>
            </a:r>
          </a:p>
          <a:p>
            <a:pPr lvl="1"/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DD3681-B97A-4F2B-A9BE-291F9E64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C69E16-C605-4CC7-92AF-B701F619A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93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B5EFAC0-83CA-43F8-84A1-D5011D57B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2008061"/>
            <a:ext cx="1828800" cy="27004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E004314-1B45-415B-8A0E-54DAA768E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5330952"/>
            <a:ext cx="1295400" cy="42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9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err="1"/>
              <a:t>PDMPOs</a:t>
            </a:r>
            <a:r>
              <a:rPr lang="fr-FR" noProof="0" dirty="0"/>
              <a:t> / </a:t>
            </a:r>
            <a:r>
              <a:rPr lang="en-US" dirty="0"/>
              <a:t>POMDPs</a:t>
            </a:r>
            <a:endParaRPr lang="fr-F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527047"/>
                <a:ext cx="6632448" cy="4883277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fr-FR" noProof="0" dirty="0"/>
                  <a:t>Partiellement observables</a:t>
                </a:r>
              </a:p>
              <a:p>
                <a:pPr lvl="1"/>
                <a:r>
                  <a:rPr lang="fr-FR" noProof="0" dirty="0"/>
                  <a:t>Modèles de capteurs (HMM)</a:t>
                </a:r>
              </a:p>
              <a:p>
                <a:pPr lvl="1"/>
                <a:r>
                  <a:rPr lang="fr-FR" noProof="0" dirty="0"/>
                  <a:t>Cf. exploration et </a:t>
                </a:r>
                <a:br>
                  <a:rPr lang="fr-FR" noProof="0" dirty="0"/>
                </a:br>
                <a:r>
                  <a:rPr lang="fr-FR" noProof="0" dirty="0"/>
                  <a:t>planification non déterministe </a:t>
                </a:r>
              </a:p>
              <a:p>
                <a:pPr lvl="2"/>
                <a:r>
                  <a:rPr lang="fr-FR" noProof="0" dirty="0">
                    <a:sym typeface="Wingdings" panose="05000000000000000000" pitchFamily="2" charset="2"/>
                  </a:rPr>
                  <a:t> </a:t>
                </a:r>
                <a:r>
                  <a:rPr lang="fr-FR" noProof="0" dirty="0"/>
                  <a:t>Etats de croyance (distribution)</a:t>
                </a:r>
              </a:p>
              <a:p>
                <a:pPr lvl="2"/>
                <a:r>
                  <a:rPr lang="fr-FR" noProof="0" dirty="0">
                    <a:sym typeface="Wingdings" panose="05000000000000000000" pitchFamily="2" charset="2"/>
                  </a:rPr>
                  <a:t> MAJ = </a:t>
                </a:r>
                <a:r>
                  <a:rPr lang="fr-FR" noProof="0" dirty="0"/>
                  <a:t>Filtrage (</a:t>
                </a:r>
                <a:r>
                  <a:rPr lang="fr-FR" noProof="0" dirty="0" err="1"/>
                  <a:t>cf</a:t>
                </a:r>
                <a:r>
                  <a:rPr lang="fr-FR" noProof="0" dirty="0"/>
                  <a:t> </a:t>
                </a:r>
                <a:r>
                  <a:rPr lang="fr-FR" noProof="0" dirty="0" err="1"/>
                  <a:t>Kalman</a:t>
                </a:r>
                <a:r>
                  <a:rPr lang="fr-FR" noProof="0" dirty="0"/>
                  <a:t>)</a:t>
                </a:r>
                <a:br>
                  <a:rPr lang="fr-FR" noProof="0" dirty="0"/>
                </a:br>
                <a:br>
                  <a:rPr lang="fr-FR" noProof="0" dirty="0"/>
                </a:br>
                <a:endParaRPr lang="fr-FR" noProof="0" dirty="0"/>
              </a:p>
              <a:p>
                <a:pPr lvl="1"/>
                <a:r>
                  <a:rPr lang="fr-FR" noProof="0" dirty="0"/>
                  <a:t>Itération de la valeur pour </a:t>
                </a:r>
                <a:r>
                  <a:rPr lang="fr-FR" noProof="0" dirty="0" err="1"/>
                  <a:t>PDMPOs</a:t>
                </a:r>
                <a:endParaRPr lang="fr-FR" noProof="0" dirty="0"/>
              </a:p>
              <a:p>
                <a:pPr lvl="2"/>
                <a:r>
                  <a:rPr lang="fr-FR" noProof="0" dirty="0"/>
                  <a:t>= Plan conditionnel</a:t>
                </a:r>
              </a:p>
              <a:p>
                <a:pPr lvl="2"/>
                <a:r>
                  <a:rPr lang="fr-FR" noProof="0" dirty="0"/>
                  <a:t>Divise l’espace de croyance </a:t>
                </a:r>
                <a:br>
                  <a:rPr lang="fr-FR" noProof="0" dirty="0"/>
                </a:br>
                <a:r>
                  <a:rPr lang="fr-FR" noProof="0" dirty="0"/>
                  <a:t>en régions</a:t>
                </a:r>
              </a:p>
              <a:p>
                <a:r>
                  <a:rPr lang="fr-FR" noProof="0" dirty="0"/>
                  <a:t>Agents en ligne</a:t>
                </a:r>
              </a:p>
              <a:p>
                <a:pPr lvl="1"/>
                <a:r>
                  <a:rPr lang="fr-FR" noProof="0" dirty="0"/>
                  <a:t>Modèles de transition / capteur</a:t>
                </a:r>
              </a:p>
              <a:p>
                <a:pPr lvl="1"/>
                <a:r>
                  <a:rPr lang="fr-FR" noProof="0" dirty="0"/>
                  <a:t>Nœuds de décision et d’utilité</a:t>
                </a:r>
              </a:p>
              <a:p>
                <a:r>
                  <a:rPr lang="fr-FR" noProof="0" dirty="0">
                    <a:sym typeface="Wingdings" panose="05000000000000000000" pitchFamily="2" charset="2"/>
                  </a:rPr>
                  <a:t></a:t>
                </a:r>
                <a:r>
                  <a:rPr lang="fr-FR" noProof="0" dirty="0"/>
                  <a:t> Réseau de décision dynamique</a:t>
                </a:r>
              </a:p>
              <a:p>
                <a:pPr lvl="1"/>
                <a:r>
                  <a:rPr lang="fr-FR" noProof="0" dirty="0"/>
                  <a:t>Mise à jour de l’état de croyance</a:t>
                </a:r>
                <a14:m>
                  <m:oMath xmlns:m="http://schemas.openxmlformats.org/officeDocument/2006/math">
                    <m:r>
                      <a:rPr lang="fr-FR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𝐸𝑥𝑝𝑒𝑐𝑡𝑖𝑚𝑖𝑛𝑖𝑚𝑎𝑥</m:t>
                    </m:r>
                  </m:oMath>
                </a14:m>
                <a:endParaRPr lang="fr-FR" b="0" noProof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fr-FR" dirty="0">
                    <a:ea typeface="Cambria Math" panose="02040503050406030204" pitchFamily="18" charset="0"/>
                  </a:rPr>
                  <a:t>Approximations: Filtrage particulaire + Monte Carlo </a:t>
                </a:r>
                <a:r>
                  <a:rPr lang="fr-FR" dirty="0" err="1">
                    <a:ea typeface="Cambria Math" panose="02040503050406030204" pitchFamily="18" charset="0"/>
                  </a:rPr>
                  <a:t>playouts</a:t>
                </a:r>
                <a:endParaRPr lang="fr-FR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fr-FR" b="0" noProof="0" dirty="0">
                    <a:ea typeface="Cambria Math" panose="02040503050406030204" pitchFamily="18" charset="0"/>
                  </a:rPr>
                  <a:t>Monte Carlo planning = POMCP</a:t>
                </a:r>
              </a:p>
              <a:p>
                <a:pPr lvl="2"/>
                <a:endParaRPr lang="fr-FR" b="0" noProof="0" dirty="0">
                  <a:ea typeface="Cambria Math" panose="02040503050406030204" pitchFamily="18" charset="0"/>
                </a:endParaRPr>
              </a:p>
              <a:p>
                <a:pPr lvl="1"/>
                <a:endParaRPr lang="fr-FR" noProof="0" dirty="0"/>
              </a:p>
              <a:p>
                <a:pPr lvl="1"/>
                <a:endParaRPr lang="fr-FR" noProof="0" dirty="0"/>
              </a:p>
              <a:p>
                <a:pPr lvl="1"/>
                <a:endParaRPr lang="fr-FR" noProof="0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527047"/>
                <a:ext cx="6632448" cy="4883277"/>
              </a:xfrm>
              <a:blipFill>
                <a:blip r:embed="rId2"/>
                <a:stretch>
                  <a:fillRect l="-460" t="-1995" b="-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94</a:t>
            </a:fld>
            <a:endParaRPr lang="en-US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1" y="1037036"/>
            <a:ext cx="3869436" cy="302802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375" y="4133613"/>
            <a:ext cx="4238625" cy="12573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D2BB055-DAB7-40A1-9710-E50ADDC23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056960"/>
            <a:ext cx="2743200" cy="41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67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95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Questions?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96943786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Plan du cours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0B7BF-8379-44F7-AF5B-6228F8D518DA}" type="slidenum">
              <a:rPr lang="en-US"/>
              <a:pPr>
                <a:defRPr/>
              </a:pPr>
              <a:t>96</a:t>
            </a:fld>
            <a:endParaRPr lang="en-US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Introduction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Résolution de problèmes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Bases de connaissances et logique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Incertitude et modèles probabilistes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Théorie des jeux 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Apprentissage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Traitement du langage naturel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Présentation projets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210357998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Projets de groupe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35B01F-2079-4428-897D-278E5C9D0E54}" type="slidenum">
              <a:rPr lang="fr-FR" smtClean="0"/>
              <a:pPr>
                <a:defRPr/>
              </a:pPr>
              <a:t>97</a:t>
            </a:fld>
            <a:endParaRPr lang="fr-FR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5249990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fr-FR" noProof="0" dirty="0"/>
              <a:t>Moteur de recherche augmenté par le raisonnement et le langage naturel</a:t>
            </a:r>
          </a:p>
          <a:p>
            <a:pPr lvl="1"/>
            <a:r>
              <a:rPr lang="fr-FR" noProof="0" dirty="0"/>
              <a:t>Grammaire et sémantique des contenus et des requêtes. </a:t>
            </a:r>
            <a:r>
              <a:rPr lang="fr-FR" noProof="0" dirty="0" err="1"/>
              <a:t>Lucene.Net</a:t>
            </a:r>
            <a:r>
              <a:rPr lang="fr-FR" noProof="0" dirty="0"/>
              <a:t>, </a:t>
            </a:r>
            <a:r>
              <a:rPr lang="fr-FR" noProof="0" dirty="0" err="1"/>
              <a:t>OpenNLP</a:t>
            </a:r>
            <a:r>
              <a:rPr lang="fr-FR" noProof="0" dirty="0"/>
              <a:t>, </a:t>
            </a:r>
            <a:r>
              <a:rPr lang="fr-FR" noProof="0" dirty="0" err="1"/>
              <a:t>SharpRDF</a:t>
            </a:r>
            <a:r>
              <a:rPr lang="fr-FR" noProof="0" dirty="0"/>
              <a:t>, FOL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Conception de bots de services sur réseaux sociaux</a:t>
            </a:r>
          </a:p>
          <a:p>
            <a:pPr lvl="1"/>
            <a:r>
              <a:rPr lang="fr-FR" noProof="0" dirty="0"/>
              <a:t>Chat Bots, AIML, </a:t>
            </a:r>
            <a:r>
              <a:rPr lang="fr-FR" noProof="0" dirty="0" err="1"/>
              <a:t>Reddit</a:t>
            </a:r>
            <a:r>
              <a:rPr lang="fr-FR" noProof="0" dirty="0"/>
              <a:t> et agents de service, NLP, RDF, APIs 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Conception d'un modèle d'inférence pour l’analyse de sentiment</a:t>
            </a:r>
          </a:p>
          <a:p>
            <a:pPr lvl="1"/>
            <a:r>
              <a:rPr lang="fr-FR" noProof="0" dirty="0"/>
              <a:t>Conception d’un modèle probabiliste, </a:t>
            </a:r>
            <a:r>
              <a:rPr lang="fr-FR" noProof="0" dirty="0" err="1"/>
              <a:t>Infer.Net</a:t>
            </a:r>
            <a:r>
              <a:rPr lang="fr-FR" noProof="0" dirty="0"/>
              <a:t>, démarche expérimentale, </a:t>
            </a:r>
            <a:r>
              <a:rPr lang="fr-FR" noProof="0" dirty="0" err="1"/>
              <a:t>Reddit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Création d'une plateforme sémantique LDP à partir d'un index structuré.</a:t>
            </a:r>
          </a:p>
          <a:p>
            <a:pPr lvl="1"/>
            <a:r>
              <a:rPr lang="fr-FR" noProof="0" dirty="0"/>
              <a:t>Structuration et ouverture des données = </a:t>
            </a:r>
            <a:r>
              <a:rPr lang="fr-FR" noProof="0" dirty="0" err="1"/>
              <a:t>Linked</a:t>
            </a:r>
            <a:r>
              <a:rPr lang="fr-FR" noProof="0" dirty="0"/>
              <a:t> Data. </a:t>
            </a:r>
            <a:r>
              <a:rPr lang="fr-FR" noProof="0" dirty="0" err="1"/>
              <a:t>Lucene.Net</a:t>
            </a:r>
            <a:r>
              <a:rPr lang="fr-FR" noProof="0" dirty="0"/>
              <a:t>, </a:t>
            </a:r>
            <a:r>
              <a:rPr lang="fr-FR" noProof="0" dirty="0" err="1"/>
              <a:t>SharpRDF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Résolution de Captchas par </a:t>
            </a:r>
            <a:r>
              <a:rPr lang="fr-FR" noProof="0" dirty="0" err="1"/>
              <a:t>deep</a:t>
            </a:r>
            <a:r>
              <a:rPr lang="fr-FR" noProof="0" dirty="0"/>
              <a:t> </a:t>
            </a:r>
            <a:r>
              <a:rPr lang="fr-FR" noProof="0" dirty="0" err="1"/>
              <a:t>learning</a:t>
            </a:r>
            <a:endParaRPr lang="fr-FR" noProof="0" dirty="0"/>
          </a:p>
          <a:p>
            <a:pPr lvl="1"/>
            <a:r>
              <a:rPr lang="fr-FR" noProof="0" dirty="0"/>
              <a:t>Apprentissage via un Adapteur DNN, Réseaux de dernières génération. </a:t>
            </a:r>
            <a:r>
              <a:rPr lang="fr-FR" noProof="0" dirty="0" err="1"/>
              <a:t>TensorFlow</a:t>
            </a:r>
            <a:r>
              <a:rPr lang="fr-FR" noProof="0" dirty="0"/>
              <a:t>, CNTK, </a:t>
            </a:r>
            <a:r>
              <a:rPr lang="fr-FR" noProof="0" dirty="0" err="1"/>
              <a:t>Encog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Entrainement de stratégies de trading algorithmiques sur crypto monnaies.</a:t>
            </a:r>
          </a:p>
          <a:p>
            <a:pPr lvl="1"/>
            <a:r>
              <a:rPr lang="fr-FR" noProof="0" dirty="0"/>
              <a:t>Expérience DNN Bitcoin, </a:t>
            </a:r>
            <a:r>
              <a:rPr lang="fr-FR" noProof="0" dirty="0" err="1"/>
              <a:t>Encog</a:t>
            </a:r>
            <a:r>
              <a:rPr lang="fr-FR" noProof="0" dirty="0"/>
              <a:t> et machine </a:t>
            </a:r>
            <a:r>
              <a:rPr lang="fr-FR" noProof="0" dirty="0" err="1"/>
              <a:t>learning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Amélioration par l'apprentissage d'un agent joueur de Go simple</a:t>
            </a:r>
          </a:p>
          <a:p>
            <a:pPr lvl="1"/>
            <a:r>
              <a:rPr lang="fr-FR" noProof="0" dirty="0"/>
              <a:t>Le Go et l’IA, Récentes avancées. Go </a:t>
            </a:r>
            <a:r>
              <a:rPr lang="fr-FR" noProof="0" dirty="0" err="1"/>
              <a:t>Traxx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Evolution de vaisseaux spatiaux par algorithmes génétiques dans le jeu de la vie.</a:t>
            </a:r>
          </a:p>
          <a:p>
            <a:pPr lvl="1"/>
            <a:r>
              <a:rPr lang="fr-FR" noProof="0" dirty="0"/>
              <a:t>Approches évolutionnistes, automates cellulaires, Bac a sable. </a:t>
            </a:r>
            <a:r>
              <a:rPr lang="fr-FR" noProof="0" dirty="0" err="1"/>
              <a:t>Golly</a:t>
            </a:r>
            <a:r>
              <a:rPr lang="fr-FR" noProof="0" dirty="0"/>
              <a:t>, </a:t>
            </a:r>
            <a:r>
              <a:rPr lang="fr-FR" noProof="0" dirty="0" err="1"/>
              <a:t>Encog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Pilotage d'un cluster de cache distribué pour le portage d’applications  dans le Cloud</a:t>
            </a:r>
          </a:p>
          <a:p>
            <a:pPr lvl="1"/>
            <a:r>
              <a:rPr lang="fr-FR" noProof="0" dirty="0"/>
              <a:t>Caches distribués, </a:t>
            </a:r>
            <a:r>
              <a:rPr lang="fr-FR" noProof="0" dirty="0" err="1"/>
              <a:t>scaling</a:t>
            </a:r>
            <a:r>
              <a:rPr lang="fr-FR" noProof="0" dirty="0"/>
              <a:t>, stratégies et clustering. Redis</a:t>
            </a:r>
          </a:p>
        </p:txBody>
      </p:sp>
    </p:spTree>
    <p:extLst>
      <p:ext uri="{BB962C8B-B14F-4D97-AF65-F5344CB8AC3E}">
        <p14:creationId xmlns:p14="http://schemas.microsoft.com/office/powerpoint/2010/main" val="101976863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98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Merci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fr-FR" noProof="0" dirty="0"/>
              <a:t>Jean-Sylvain Boige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fr-FR" noProof="0" dirty="0">
                <a:hlinkClick r:id="rId3"/>
              </a:rPr>
              <a:t>jsboige@myia.org</a:t>
            </a:r>
            <a:r>
              <a:rPr lang="fr-FR" noProof="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05184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94955</TotalTime>
  <Words>8070</Words>
  <Application>Microsoft Office PowerPoint</Application>
  <PresentationFormat>Affichage à l'écran (4:3)</PresentationFormat>
  <Paragraphs>1236</Paragraphs>
  <Slides>98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98</vt:i4>
      </vt:variant>
    </vt:vector>
  </HeadingPairs>
  <TitlesOfParts>
    <vt:vector size="105" baseType="lpstr">
      <vt:lpstr>Arial</vt:lpstr>
      <vt:lpstr>Calibri</vt:lpstr>
      <vt:lpstr>Cambria Math</vt:lpstr>
      <vt:lpstr>Georgia</vt:lpstr>
      <vt:lpstr>Wingdings</vt:lpstr>
      <vt:lpstr>Wingdings 2</vt:lpstr>
      <vt:lpstr>Civic</vt:lpstr>
      <vt:lpstr>Incertitude et modèles probabilistes</vt:lpstr>
      <vt:lpstr>Plan du cours</vt:lpstr>
      <vt:lpstr>Sommaire</vt:lpstr>
      <vt:lpstr>Incertitude</vt:lpstr>
      <vt:lpstr>Méthodes face à l’incertitude</vt:lpstr>
      <vt:lpstr>Probabilité</vt:lpstr>
      <vt:lpstr>Prendre des décisions dans l’incertitude</vt:lpstr>
      <vt:lpstr>Syntaxe</vt:lpstr>
      <vt:lpstr>Axiomes des probabilités</vt:lpstr>
      <vt:lpstr>Probabilités a priori</vt:lpstr>
      <vt:lpstr>Probabilités des variables continues</vt:lpstr>
      <vt:lpstr>Probabilités conditionnelles</vt:lpstr>
      <vt:lpstr>Inférence par énumération</vt:lpstr>
      <vt:lpstr>Normalisation</vt:lpstr>
      <vt:lpstr>Indépendance</vt:lpstr>
      <vt:lpstr>Indépendance conditionnelle</vt:lpstr>
      <vt:lpstr>Règle de Bayes</vt:lpstr>
      <vt:lpstr>Bayes et indépendance conditionnelle</vt:lpstr>
      <vt:lpstr>Résumé</vt:lpstr>
      <vt:lpstr>Questions?</vt:lpstr>
      <vt:lpstr>Sommaire</vt:lpstr>
      <vt:lpstr>Réseaux Bayesiens</vt:lpstr>
      <vt:lpstr>Example</vt:lpstr>
      <vt:lpstr>Exemple</vt:lpstr>
      <vt:lpstr>Example (suite)</vt:lpstr>
      <vt:lpstr>Compacité</vt:lpstr>
      <vt:lpstr>Sémantiques</vt:lpstr>
      <vt:lpstr>Construction de réseaux Bayésiens</vt:lpstr>
      <vt:lpstr>Exemple</vt:lpstr>
      <vt:lpstr>Exemple</vt:lpstr>
      <vt:lpstr>Exemple</vt:lpstr>
      <vt:lpstr>Exemple</vt:lpstr>
      <vt:lpstr>Exemple</vt:lpstr>
      <vt:lpstr>Example contd.</vt:lpstr>
      <vt:lpstr>Représentation efficace</vt:lpstr>
      <vt:lpstr>Variables continues</vt:lpstr>
      <vt:lpstr>Inférence exacte dans les réseaux Bayésiens</vt:lpstr>
      <vt:lpstr>Inférence approchée dans les RB</vt:lpstr>
      <vt:lpstr>Modèles relationnels du premier ordre</vt:lpstr>
      <vt:lpstr>Résumé réseaux bayésiens</vt:lpstr>
      <vt:lpstr>Questions?</vt:lpstr>
      <vt:lpstr>Sommaire</vt:lpstr>
      <vt:lpstr>Raisonner dans le temps ou l’espace</vt:lpstr>
      <vt:lpstr>Modèles de Markov</vt:lpstr>
      <vt:lpstr>Distribution de probabilités</vt:lpstr>
      <vt:lpstr>Indépendance conditionnelle</vt:lpstr>
      <vt:lpstr>Exemple: Chaîne de Markov</vt:lpstr>
      <vt:lpstr>Inférence sur chaînes de Markov</vt:lpstr>
      <vt:lpstr>Distribution conjointe de modèle de Markov</vt:lpstr>
      <vt:lpstr>Récapitulatif modèles de Markov</vt:lpstr>
      <vt:lpstr>Algorithme Mini-Forward</vt:lpstr>
      <vt:lpstr>Exemple d’exécution Mini-Forward</vt:lpstr>
      <vt:lpstr>Distributions stationnaires </vt:lpstr>
      <vt:lpstr>Exemple: distribution stationnaire</vt:lpstr>
      <vt:lpstr>Application : Analyse des liens web</vt:lpstr>
      <vt:lpstr>Hidden Markov Models</vt:lpstr>
      <vt:lpstr>Example</vt:lpstr>
      <vt:lpstr>Hidden Markov Models </vt:lpstr>
      <vt:lpstr>HMM Computations</vt:lpstr>
      <vt:lpstr>Real HMM Examples </vt:lpstr>
      <vt:lpstr>Real HMM Examples </vt:lpstr>
      <vt:lpstr>Real HMM Examples </vt:lpstr>
      <vt:lpstr>Conditional Independence </vt:lpstr>
      <vt:lpstr>Conditional Independence </vt:lpstr>
      <vt:lpstr>Conditional Independence </vt:lpstr>
      <vt:lpstr>HMM Notation</vt:lpstr>
      <vt:lpstr>HMM Problem 1</vt:lpstr>
      <vt:lpstr>HMM Problem 2</vt:lpstr>
      <vt:lpstr>HMM Problem 3</vt:lpstr>
      <vt:lpstr>Exhaustive Search Solution</vt:lpstr>
      <vt:lpstr>Exhaustive Search Solution</vt:lpstr>
      <vt:lpstr>A better solution: dynamic programming</vt:lpstr>
      <vt:lpstr>A better solution: dynamic programming</vt:lpstr>
      <vt:lpstr>A better solution: dynamic programming</vt:lpstr>
      <vt:lpstr>A better solution: dynamic programming</vt:lpstr>
      <vt:lpstr>Filtres de Kalman</vt:lpstr>
      <vt:lpstr>Réseaux bayésiens dynamiques</vt:lpstr>
      <vt:lpstr>Résumé raisonnement temporel</vt:lpstr>
      <vt:lpstr>Questions?</vt:lpstr>
      <vt:lpstr>Programmation probabiliste</vt:lpstr>
      <vt:lpstr>Sommaire</vt:lpstr>
      <vt:lpstr>Agent fondé sur l’utilité</vt:lpstr>
      <vt:lpstr>Prise de décision</vt:lpstr>
      <vt:lpstr>Théorie de l’utilité </vt:lpstr>
      <vt:lpstr>Fonctions d’utilité</vt:lpstr>
      <vt:lpstr>Réseaux de décision</vt:lpstr>
      <vt:lpstr>Système expert</vt:lpstr>
      <vt:lpstr>Questions?</vt:lpstr>
      <vt:lpstr>Sommaire</vt:lpstr>
      <vt:lpstr>Prise de décision complexe</vt:lpstr>
      <vt:lpstr>Evaluation des politiques</vt:lpstr>
      <vt:lpstr>Méthodes itératives</vt:lpstr>
      <vt:lpstr>Autres méthodes</vt:lpstr>
      <vt:lpstr>PDMPOs / POMDPs</vt:lpstr>
      <vt:lpstr>Questions?</vt:lpstr>
      <vt:lpstr>Plan du cours</vt:lpstr>
      <vt:lpstr>Projets de groupe</vt:lpstr>
      <vt:lpstr>Merci</vt:lpstr>
    </vt:vector>
  </TitlesOfParts>
  <Company>Aricie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Intelligence Artificielle - 4 - Incertitude et modèles probabilistes</dc:title>
  <dc:creator>jsboige@aricie.fr</dc:creator>
  <cp:lastModifiedBy>Jean-Sylvain BOIGE</cp:lastModifiedBy>
  <cp:revision>1142</cp:revision>
  <cp:lastPrinted>2017-11-23T14:32:16Z</cp:lastPrinted>
  <dcterms:created xsi:type="dcterms:W3CDTF">2003-12-17T02:04:52Z</dcterms:created>
  <dcterms:modified xsi:type="dcterms:W3CDTF">2022-12-12T06:56:12Z</dcterms:modified>
</cp:coreProperties>
</file>