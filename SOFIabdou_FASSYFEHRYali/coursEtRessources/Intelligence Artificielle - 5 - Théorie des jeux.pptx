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handoutMasterIdLst>
    <p:handoutMasterId r:id="rId32"/>
  </p:handoutMasterIdLst>
  <p:sldIdLst>
    <p:sldId id="271" r:id="rId2"/>
    <p:sldId id="301" r:id="rId3"/>
    <p:sldId id="478" r:id="rId4"/>
    <p:sldId id="488" r:id="rId5"/>
    <p:sldId id="493" r:id="rId6"/>
    <p:sldId id="494" r:id="rId7"/>
    <p:sldId id="489" r:id="rId8"/>
    <p:sldId id="495" r:id="rId9"/>
    <p:sldId id="496" r:id="rId10"/>
    <p:sldId id="497" r:id="rId11"/>
    <p:sldId id="498" r:id="rId12"/>
    <p:sldId id="499" r:id="rId13"/>
    <p:sldId id="523" r:id="rId14"/>
    <p:sldId id="517" r:id="rId15"/>
    <p:sldId id="479" r:id="rId16"/>
    <p:sldId id="518" r:id="rId17"/>
    <p:sldId id="519" r:id="rId18"/>
    <p:sldId id="521" r:id="rId19"/>
    <p:sldId id="520" r:id="rId20"/>
    <p:sldId id="524" r:id="rId21"/>
    <p:sldId id="525" r:id="rId22"/>
    <p:sldId id="522" r:id="rId23"/>
    <p:sldId id="491" r:id="rId24"/>
    <p:sldId id="501" r:id="rId25"/>
    <p:sldId id="502" r:id="rId26"/>
    <p:sldId id="484" r:id="rId27"/>
    <p:sldId id="481" r:id="rId28"/>
    <p:sldId id="299" r:id="rId29"/>
    <p:sldId id="294" r:id="rId30"/>
  </p:sldIdLst>
  <p:sldSz cx="9144000" cy="6858000" type="screen4x3"/>
  <p:notesSz cx="7099300" cy="10236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3A86"/>
    <a:srgbClr val="FF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49" autoAdjust="0"/>
  </p:normalViewPr>
  <p:slideViewPr>
    <p:cSldViewPr>
      <p:cViewPr varScale="1">
        <p:scale>
          <a:sx n="105" d="100"/>
          <a:sy n="105" d="100"/>
        </p:scale>
        <p:origin x="121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94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3587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4" y="1"/>
            <a:ext cx="3076363" cy="513587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r">
              <a:defRPr sz="1200"/>
            </a:lvl1pPr>
          </a:lstStyle>
          <a:p>
            <a:fld id="{2B671DB1-D8D3-445E-9A62-BE0A5865C6FB}" type="datetimeFigureOut">
              <a:rPr lang="fr-FR" smtClean="0"/>
              <a:t>14/12/2022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2614"/>
            <a:ext cx="3076363" cy="513586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4" y="9722614"/>
            <a:ext cx="3076363" cy="513586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r">
              <a:defRPr sz="1200"/>
            </a:lvl1pPr>
          </a:lstStyle>
          <a:p>
            <a:fld id="{7F23C267-0122-43D1-B407-EAA818737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71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/>
          <a:lstStyle>
            <a:lvl1pPr algn="r">
              <a:defRPr sz="1200" smtClean="0"/>
            </a:lvl1pPr>
          </a:lstStyle>
          <a:p>
            <a:pPr>
              <a:defRPr/>
            </a:pPr>
            <a:fld id="{B23438C5-24B8-4989-83F7-2EB645DA4A4C}" type="datetimeFigureOut">
              <a:rPr lang="en-US"/>
              <a:pPr>
                <a:defRPr/>
              </a:pPr>
              <a:t>12/13/2022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32" tIns="47366" rIns="94732" bIns="4736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2196"/>
            <a:ext cx="5679440" cy="4606291"/>
          </a:xfrm>
          <a:prstGeom prst="rect">
            <a:avLst/>
          </a:prstGeom>
        </p:spPr>
        <p:txBody>
          <a:bodyPr vert="horz" lIns="94732" tIns="47366" rIns="94732" bIns="47366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2614"/>
            <a:ext cx="3076363" cy="511811"/>
          </a:xfrm>
          <a:prstGeom prst="rect">
            <a:avLst/>
          </a:prstGeom>
        </p:spPr>
        <p:txBody>
          <a:bodyPr vert="horz" lIns="94732" tIns="47366" rIns="94732" bIns="47366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975085-D210-42E3-9DA5-1BD091B514E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56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69696" indent="-2960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4148" indent="-23683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7807" indent="-23683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1466" indent="-23683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5126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78785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2444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26103" indent="-2368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1EF0F7-EC37-4755-9A60-1FE41815C606}" type="slidenum">
              <a:rPr lang="en-US"/>
              <a:pPr eaLnBrk="1" hangingPunct="1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8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05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93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35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6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26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75085-D210-42E3-9DA5-1BD091B514E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0AEFBDC-A3CB-40D5-AD96-4A1D9C4B329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4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26BDF-2056-494C-B9F5-D80B600916BD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3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4CDA650-C733-4B3F-84C7-0A41941D1F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88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DF9D0-F2CF-434D-931A-F58F3DF9AE56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8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0C87601F-A0CC-4FF1-A9FB-2E121684AD2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08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D5AAD-D846-4522-8294-21FF8733AF3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1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ABBAE50-AFCE-44E0-A18B-9FA68072FF45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9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80ECC4E-4E64-464C-B031-3B7895E46F3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384500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1A3C6-8353-4FA5-B86E-DF44646D08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244818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104DD-729A-48C7-88DB-9F2EAD288CD0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9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FA56E-A205-4820-980D-6A952AF7E0E1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</p:spTree>
    <p:extLst>
      <p:ext uri="{BB962C8B-B14F-4D97-AF65-F5344CB8AC3E}">
        <p14:creationId xmlns:p14="http://schemas.microsoft.com/office/powerpoint/2010/main" val="2763509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9F51C7E-CBF5-4B89-ABC5-E9F3581DB76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hyperlink" Target="https://ayowel.github.io/tru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00.png"/><Relationship Id="rId7" Type="http://schemas.openxmlformats.org/officeDocument/2006/relationships/image" Target="../media/image27.png"/><Relationship Id="rId2" Type="http://schemas.openxmlformats.org/officeDocument/2006/relationships/hyperlink" Target="https://upload.wikimedia.org/wikipedia/commons/3/32/2x2chart11060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hyperlink" Target="https://fr.wikipedia.org/wiki/Th%C3%A9orie_du_choix_socia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en.wikipedia.org/wiki/Condorcet_method#Two-method_system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hyperlink" Target="http://images.math.cnrs.fr/La-democratie-objet-d-etude.html" TargetMode="External"/><Relationship Id="rId7" Type="http://schemas.openxmlformats.org/officeDocument/2006/relationships/image" Target="../media/image48.png"/><Relationship Id="rId2" Type="http://schemas.openxmlformats.org/officeDocument/2006/relationships/hyperlink" Target="https://en.wikipedia.org/wiki/Comparison_of_electoral_system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remade.dauphine.fr/~cardaliaguet/CoursJeuxDiff.pdf" TargetMode="External"/><Relationship Id="rId2" Type="http://schemas.openxmlformats.org/officeDocument/2006/relationships/hyperlink" Target="https://en.wikipedia.org/wiki/Rapidly-exploring_random_tre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jsboige@myia.or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286000"/>
          </a:xfrm>
        </p:spPr>
        <p:txBody>
          <a:bodyPr>
            <a:normAutofit fontScale="92500"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noProof="0" dirty="0"/>
              <a:t>Intelligence Artificielle - V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fr-FR" noProof="0" dirty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fr-FR" noProof="0" dirty="0"/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noProof="0" dirty="0"/>
              <a:t>Analyse stratégique</a:t>
            </a:r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/>
              <a:t>Jeux Bayésiens</a:t>
            </a:r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noProof="0" dirty="0"/>
              <a:t>Théorie des mécanismes</a:t>
            </a:r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/>
              <a:t>Jeux différentiels</a:t>
            </a:r>
            <a:endParaRPr lang="fr-FR" noProof="0" dirty="0"/>
          </a:p>
          <a:p>
            <a:pPr marL="742950" lvl="1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fr-FR" noProof="0" dirty="0"/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5CFD81-0950-49DD-AA2C-96CCB76D865D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331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Théorie des jeux</a:t>
            </a:r>
            <a:br>
              <a:rPr lang="fr-FR" noProof="0" dirty="0"/>
            </a:br>
            <a:endParaRPr lang="fr-F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Plan du cours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0B7BF-8379-44F7-AF5B-6228F8D518DA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Résolution de problèmes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Bases de connaissances et logique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Incertitude et modèles probabilistes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Théorie des jeux</a:t>
            </a:r>
            <a:endParaRPr lang="fr-FR" noProof="0" dirty="0"/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Apprentissage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Traitement du langage naturel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Présentation projets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188890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Théorie des jeux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5176" y="1468438"/>
            <a:ext cx="4764024" cy="5084762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Environnement multi-agent</a:t>
            </a:r>
          </a:p>
          <a:p>
            <a:pPr lvl="1"/>
            <a:r>
              <a:rPr lang="fr-FR" dirty="0"/>
              <a:t>Un seul Décideur</a:t>
            </a:r>
          </a:p>
          <a:p>
            <a:pPr lvl="2"/>
            <a:r>
              <a:rPr lang="fr-FR" dirty="0"/>
              <a:t>Planification / Synchronisation</a:t>
            </a:r>
          </a:p>
          <a:p>
            <a:pPr lvl="2"/>
            <a:r>
              <a:rPr lang="fr-FR" dirty="0"/>
              <a:t>Multi-Effecteurs / Multi-corps (découplage)</a:t>
            </a:r>
          </a:p>
          <a:p>
            <a:pPr lvl="3"/>
            <a:r>
              <a:rPr lang="fr-FR" dirty="0"/>
              <a:t>Centralisé (state = pool) vs décentralisé</a:t>
            </a:r>
          </a:p>
          <a:p>
            <a:pPr lvl="1"/>
            <a:r>
              <a:rPr lang="fr-FR" dirty="0"/>
              <a:t>Décideurs multiples </a:t>
            </a:r>
            <a:r>
              <a:rPr lang="fr-FR" dirty="0">
                <a:sym typeface="Wingdings" panose="05000000000000000000" pitchFamily="2" charset="2"/>
              </a:rPr>
              <a:t> théorie des jeux</a:t>
            </a:r>
            <a:endParaRPr lang="fr-FR" dirty="0"/>
          </a:p>
          <a:p>
            <a:pPr lvl="2"/>
            <a:r>
              <a:rPr lang="fr-FR" dirty="0"/>
              <a:t>But commun / buts propres</a:t>
            </a:r>
          </a:p>
          <a:p>
            <a:pPr lvl="3"/>
            <a:r>
              <a:rPr lang="fr-FR" dirty="0"/>
              <a:t>d’adversité et/ou collaboratif</a:t>
            </a:r>
          </a:p>
          <a:p>
            <a:pPr lvl="2"/>
            <a:r>
              <a:rPr lang="fr-FR" dirty="0"/>
              <a:t>Information parfaite / imparfaite</a:t>
            </a:r>
          </a:p>
          <a:p>
            <a:pPr lvl="2"/>
            <a:r>
              <a:rPr lang="fr-FR" dirty="0"/>
              <a:t>A un tour: Joueurs, actions, récompenses</a:t>
            </a:r>
          </a:p>
          <a:p>
            <a:pPr lvl="3"/>
            <a:r>
              <a:rPr lang="fr-FR" dirty="0"/>
              <a:t>Ex: Morra (2 doigts)</a:t>
            </a:r>
            <a:endParaRPr lang="fr-FR" noProof="0" dirty="0"/>
          </a:p>
          <a:p>
            <a:r>
              <a:rPr lang="fr-FR" noProof="0" dirty="0"/>
              <a:t>Etudes des interdépendances stratégiques</a:t>
            </a:r>
          </a:p>
          <a:p>
            <a:pPr lvl="1"/>
            <a:r>
              <a:rPr lang="fr-FR" noProof="0" dirty="0"/>
              <a:t>Objectif double</a:t>
            </a:r>
          </a:p>
          <a:p>
            <a:pPr lvl="2"/>
            <a:r>
              <a:rPr lang="fr-FR" noProof="0" dirty="0"/>
              <a:t>Design d’agent: Quelle est la meilleure stratégie?</a:t>
            </a:r>
          </a:p>
          <a:p>
            <a:pPr lvl="2"/>
            <a:r>
              <a:rPr lang="fr-FR" noProof="0" dirty="0"/>
              <a:t>Design de mécanisme: Quelles sont les bonnes règles?</a:t>
            </a:r>
          </a:p>
          <a:p>
            <a:pPr lvl="1"/>
            <a:r>
              <a:rPr lang="fr-FR" dirty="0"/>
              <a:t>Justifications</a:t>
            </a:r>
          </a:p>
          <a:p>
            <a:pPr lvl="2"/>
            <a:r>
              <a:rPr lang="fr-FR" dirty="0"/>
              <a:t>Les maths deviennent compliquées</a:t>
            </a:r>
          </a:p>
          <a:p>
            <a:pPr lvl="3"/>
            <a:r>
              <a:rPr lang="fr-FR" dirty="0"/>
              <a:t>Fournit des outils de comptabilité</a:t>
            </a:r>
          </a:p>
          <a:p>
            <a:pPr lvl="2"/>
            <a:r>
              <a:rPr lang="fr-FR" dirty="0"/>
              <a:t>Identifier les situations analogues</a:t>
            </a:r>
          </a:p>
          <a:p>
            <a:pPr lvl="3"/>
            <a:r>
              <a:rPr lang="fr-FR" dirty="0"/>
              <a:t>Compréhension des schémas habituels</a:t>
            </a:r>
            <a:endParaRPr lang="fr-FR" noProof="0" dirty="0"/>
          </a:p>
          <a:p>
            <a:r>
              <a:rPr lang="fr-FR" noProof="0" dirty="0"/>
              <a:t>Optimisation de stratégies</a:t>
            </a:r>
          </a:p>
          <a:p>
            <a:pPr lvl="1"/>
            <a:r>
              <a:rPr lang="fr-FR" noProof="0" dirty="0"/>
              <a:t>Pure / mixte (randomisée)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Solution = profil rationnel = </a:t>
            </a:r>
            <a:r>
              <a:rPr lang="fr-FR" noProof="0" dirty="0">
                <a:sym typeface="Wingdings" panose="05000000000000000000" pitchFamily="2" charset="2"/>
              </a:rPr>
              <a:t>assignation de stratégies</a:t>
            </a:r>
          </a:p>
          <a:p>
            <a:r>
              <a:rPr lang="fr-FR" noProof="0" dirty="0">
                <a:sym typeface="Wingdings" panose="05000000000000000000" pitchFamily="2" charset="2"/>
              </a:rPr>
              <a:t>Von Neumann  Maximin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Jeux à somme nulle</a:t>
            </a:r>
          </a:p>
          <a:p>
            <a:pPr lvl="1"/>
            <a:r>
              <a:rPr lang="fr-FR" noProof="0" dirty="0">
                <a:sym typeface="Wingdings" panose="05000000000000000000" pitchFamily="2" charset="2"/>
              </a:rPr>
              <a:t>Changement de règles  séquence </a:t>
            </a:r>
            <a:r>
              <a:rPr lang="pt-BR" dirty="0"/>
              <a:t>UE,O ≤ U ≤ UO,E</a:t>
            </a:r>
            <a:endParaRPr lang="fr-FR" noProof="0" dirty="0">
              <a:sym typeface="Wingdings" panose="05000000000000000000" pitchFamily="2" charset="2"/>
            </a:endParaRPr>
          </a:p>
          <a:p>
            <a:pPr lvl="2"/>
            <a:r>
              <a:rPr lang="fr-FR" noProof="0" dirty="0">
                <a:sym typeface="Wingdings" panose="05000000000000000000" pitchFamily="2" charset="2"/>
              </a:rPr>
              <a:t>Ex: Morra: p = 7/12, U(E)= -1/12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17535"/>
            <a:ext cx="3806825" cy="460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9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Analyse stratégique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5176" y="1468438"/>
            <a:ext cx="6516624" cy="4941887"/>
          </a:xfrm>
        </p:spPr>
        <p:txBody>
          <a:bodyPr>
            <a:normAutofit fontScale="77500" lnSpcReduction="20000"/>
          </a:bodyPr>
          <a:lstStyle/>
          <a:p>
            <a:r>
              <a:rPr lang="fr-FR" dirty="0">
                <a:sym typeface="Wingdings" panose="05000000000000000000" pitchFamily="2" charset="2"/>
              </a:rPr>
              <a:t>Jeux simultanés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Matrice de gains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Dilemme du prisonnier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Parler ou se taire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Stratégie pure strictement dominante (stable)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Mais Pareto dominée (global mais instable)</a:t>
            </a:r>
          </a:p>
          <a:p>
            <a:r>
              <a:rPr lang="fr-FR" noProof="0" dirty="0"/>
              <a:t>IESDS</a:t>
            </a:r>
          </a:p>
          <a:p>
            <a:pPr lvl="1"/>
            <a:r>
              <a:rPr lang="fr-FR" noProof="0" dirty="0"/>
              <a:t>Elimination itérative des stratégies strictement dominées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Réduction progressive de la matrice</a:t>
            </a:r>
          </a:p>
          <a:p>
            <a:r>
              <a:rPr lang="fr-FR" dirty="0">
                <a:sym typeface="Wingdings" panose="05000000000000000000" pitchFamily="2" charset="2"/>
              </a:rPr>
              <a:t>Equilibre de Nash: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optimum local dans l’espace des politiques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Ex: chasse au cerf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Aucun agent n’a de motivation à changer de stratégie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=Une loi que personne n’enfreint sans la police (Feu rouge)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Garanti d’exister / importance de la Coordination</a:t>
            </a:r>
          </a:p>
          <a:p>
            <a:r>
              <a:rPr lang="fr-FR" dirty="0">
                <a:sym typeface="Wingdings" panose="05000000000000000000" pitchFamily="2" charset="2"/>
              </a:rPr>
              <a:t>Meilleure réponse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Etant donnée les autres choix.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Equilibre de Nash = meilleure réponse pour tous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pPr lvl="1"/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7BDA90D-31A7-436B-9228-5F8687D70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134" y="2040886"/>
            <a:ext cx="1828800" cy="16929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EEE21C5-C3C1-4244-823B-887EC603F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57" y="1249736"/>
            <a:ext cx="1641143" cy="133280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36B1AF8-3BE4-4FB3-8446-C6A7BAC9E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35" y="5088886"/>
            <a:ext cx="1889765" cy="169291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059E222-693F-4F87-8E5F-AA5D4961B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3847624"/>
            <a:ext cx="1197014" cy="110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5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0E4883-EE2C-4C89-9C8C-16AACD03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7030A0"/>
                </a:solidFill>
              </a:rPr>
              <a:t>Stratégies mixtes</a:t>
            </a:r>
            <a:endParaRPr 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0A5A68E-6A63-4EA2-89D9-D7EA6E285BF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625" y="1542288"/>
                <a:ext cx="6403848" cy="478231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fr-FR" dirty="0">
                    <a:sym typeface="Wingdings" panose="05000000000000000000" pitchFamily="2" charset="2"/>
                  </a:rPr>
                  <a:t>Occurrences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Ex: Penalty, pile ou face: Jeux à somme nulle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Distribution probabiliste de stratégies pures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Théorème de Nash: 1 équilibre doit exister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Algorithme de stratégie mixte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Utilités espérées  équations pour l’indifférence à l’équilibre.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Ex: Jeu à somme nulle avec différents poids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𝐸𝑈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−3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𝜎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𝐸𝑈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𝜎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=1/6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𝐸𝑈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𝑈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𝜎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𝐿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−2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𝐸𝑈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𝐿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=1/3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Calcul des gains espérés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Somme pondérée par les probabilités individuelles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Ex: Bataille des sexes (boxe vs ballet): 2 équilibres purs + mixte  1/3 vs 2/3  gain 2/3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Mieux vaut concéder la défaite (galanterie?)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0A5A68E-6A63-4EA2-89D9-D7EA6E285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625" y="1542288"/>
                <a:ext cx="6403848" cy="4782312"/>
              </a:xfrm>
              <a:blipFill>
                <a:blip r:embed="rId2"/>
                <a:stretch>
                  <a:fillRect l="-666" t="-2293" b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5C6608-BFEC-4627-96A9-91325C0E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E9153B-9CAB-40E4-B8DD-3A30BD45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076DE62-5B50-4CD8-8950-09E6515F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447800"/>
            <a:ext cx="1905000" cy="178159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4F423B-BC30-4E1E-B4D7-93C96BE56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276600"/>
            <a:ext cx="1905000" cy="172004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5A61DAC-BF2C-4641-B998-C58EB5015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473" y="5034791"/>
            <a:ext cx="1867781" cy="170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9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3BBAE9-CC63-4060-B968-ABB2956D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A03A86"/>
                </a:solidFill>
              </a:rPr>
              <a:t>Equilibres de stratégie mixte</a:t>
            </a:r>
            <a:endParaRPr lang="en-US" dirty="0">
              <a:solidFill>
                <a:srgbClr val="A03A8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2550E3-A6D7-4E20-BCD5-52CEE33701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FR" dirty="0"/>
                  <a:t>Stratégie mixte dominant strictement une pure</a:t>
                </a:r>
              </a:p>
              <a:p>
                <a:pPr lvl="1"/>
                <a:r>
                  <a:rPr lang="fr-FR" dirty="0"/>
                  <a:t>Ex: 3 lignes, milieu dominée, calcul des probas</a:t>
                </a:r>
              </a:p>
              <a:p>
                <a:r>
                  <a:rPr lang="fr-FR" dirty="0"/>
                  <a:t>Dominance faible</a:t>
                </a:r>
              </a:p>
              <a:p>
                <a:pPr lvl="1"/>
                <a:r>
                  <a:rPr lang="fr-FR" dirty="0"/>
                  <a:t>Domine ou indifférente (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≿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Elimination itérative</a:t>
                </a:r>
              </a:p>
              <a:p>
                <a:pPr lvl="2"/>
                <a:r>
                  <a:rPr lang="fr-FR" b="0" dirty="0">
                    <a:ea typeface="Cambria Math" panose="02040503050406030204" pitchFamily="18" charset="0"/>
                  </a:rPr>
                  <a:t>Mais reste autres équilibres</a:t>
                </a:r>
              </a:p>
              <a:p>
                <a:r>
                  <a:rPr lang="fr-FR" b="0" dirty="0">
                    <a:ea typeface="Cambria Math" panose="02040503050406030204" pitchFamily="18" charset="0"/>
                  </a:rPr>
                  <a:t>Equilibres infinis</a:t>
                </a: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Ex: équilibres partiellement mixtes</a:t>
                </a:r>
              </a:p>
              <a:p>
                <a:r>
                  <a:rPr lang="fr-FR" b="0" dirty="0">
                    <a:ea typeface="Cambria Math" panose="02040503050406030204" pitchFamily="18" charset="0"/>
                  </a:rPr>
                  <a:t>Règle impaire:</a:t>
                </a: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Presque tous les jeux ont un nombre impair d’équilibres</a:t>
                </a:r>
              </a:p>
              <a:p>
                <a:pPr lvl="1"/>
                <a:r>
                  <a:rPr lang="fr-FR" b="0" dirty="0">
                    <a:ea typeface="Cambria Math" panose="02040503050406030204" pitchFamily="18" charset="0"/>
                  </a:rPr>
                  <a:t>Nombre infini ou pair généralement lié à la dominance faible</a:t>
                </a:r>
              </a:p>
              <a:p>
                <a:pPr lvl="2"/>
                <a:r>
                  <a:rPr lang="fr-FR" dirty="0">
                    <a:ea typeface="Cambria Math" panose="02040503050406030204" pitchFamily="18" charset="0"/>
                  </a:rPr>
                  <a:t>Ex nb pair: l’argent gratuit</a:t>
                </a:r>
              </a:p>
              <a:p>
                <a:pPr lvl="2"/>
                <a:r>
                  <a:rPr lang="fr-FR" b="0" dirty="0">
                    <a:ea typeface="Cambria Math" panose="02040503050406030204" pitchFamily="18" charset="0"/>
                  </a:rPr>
                  <a:t>Sinon généralement vérifier si on n’a pas oublié une mixte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2550E3-A6D7-4E20-BCD5-52CEE3370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  <a:blipFill>
                <a:blip r:embed="rId2"/>
                <a:stretch>
                  <a:fillRect l="-645" t="-17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C2D01D-55B5-4D57-B3C0-766CF23E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C3B404-8EA8-42D8-9529-4F9D9A27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EFB8B9A-AB17-4339-91F6-B4AD0CC9A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353" y="1447800"/>
            <a:ext cx="1823847" cy="22128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B785F6E-0267-4ED1-A150-CA1DB9CDA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775" y="2318801"/>
            <a:ext cx="1584826" cy="14396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E5D80E8-80ED-462E-B22C-D6EB2DB41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522" y="3355882"/>
            <a:ext cx="1028831" cy="15302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B7F0120-41F2-48B5-BE28-C81A663DC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4539" y="5562600"/>
            <a:ext cx="1134661" cy="106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4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030A0"/>
                </a:solidFill>
              </a:rPr>
              <a:t>Jeux séquentiels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5176" y="1468438"/>
            <a:ext cx="5449824" cy="4941887"/>
          </a:xfrm>
        </p:spPr>
        <p:txBody>
          <a:bodyPr>
            <a:normAutofit fontScale="70000" lnSpcReduction="20000"/>
          </a:bodyPr>
          <a:lstStyle/>
          <a:p>
            <a:r>
              <a:rPr lang="fr-FR" dirty="0">
                <a:sym typeface="Wingdings" panose="05000000000000000000" pitchFamily="2" charset="2"/>
              </a:rPr>
              <a:t>Jeux à tours successifs: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Conflits, négociations etc.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Jeu de la guerre des prix (in/out)</a:t>
            </a:r>
          </a:p>
          <a:p>
            <a:pPr lvl="2"/>
            <a:r>
              <a:rPr lang="fr-FR" dirty="0" err="1">
                <a:sym typeface="Wingdings" panose="05000000000000000000" pitchFamily="2" charset="2"/>
              </a:rPr>
              <a:t>Accept</a:t>
            </a:r>
            <a:r>
              <a:rPr lang="fr-FR" dirty="0">
                <a:sym typeface="Wingdings" panose="05000000000000000000" pitchFamily="2" charset="2"/>
              </a:rPr>
              <a:t>, out = équilibres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Matrice = cf. dominance faible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Mais différence = menace crédible?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Equilibre parfait de sous-jeu (SPE)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Sous-jeu </a:t>
            </a:r>
            <a:r>
              <a:rPr lang="fr-FR" dirty="0" err="1">
                <a:sym typeface="Wingdings" panose="05000000000000000000" pitchFamily="2" charset="2"/>
              </a:rPr>
              <a:t>Firm</a:t>
            </a:r>
            <a:r>
              <a:rPr lang="fr-FR" dirty="0">
                <a:sym typeface="Wingdings" panose="05000000000000000000" pitchFamily="2" charset="2"/>
              </a:rPr>
              <a:t> 2  </a:t>
            </a:r>
            <a:r>
              <a:rPr lang="fr-FR" dirty="0" err="1">
                <a:sym typeface="Wingdings" panose="05000000000000000000" pitchFamily="2" charset="2"/>
              </a:rPr>
              <a:t>accept</a:t>
            </a:r>
            <a:r>
              <a:rPr lang="fr-FR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« out » plus en équilibre  q des menaces crédibles</a:t>
            </a:r>
          </a:p>
          <a:p>
            <a:r>
              <a:rPr lang="fr-FR" dirty="0">
                <a:sym typeface="Wingdings" panose="05000000000000000000" pitchFamily="2" charset="2"/>
              </a:rPr>
              <a:t>Induction arrière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Jeu de l’escalade à la guerre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On démarre par la fin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Les sous-jeux finaux éclairent les premiers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 « </a:t>
            </a:r>
            <a:r>
              <a:rPr lang="fr-FR" dirty="0" err="1">
                <a:sym typeface="Wingdings" panose="05000000000000000000" pitchFamily="2" charset="2"/>
              </a:rPr>
              <a:t>Accept</a:t>
            </a:r>
            <a:r>
              <a:rPr lang="fr-FR" dirty="0">
                <a:sym typeface="Wingdings" panose="05000000000000000000" pitchFamily="2" charset="2"/>
              </a:rPr>
              <a:t> » stratégie optimale</a:t>
            </a:r>
          </a:p>
          <a:p>
            <a:r>
              <a:rPr lang="fr-FR" dirty="0">
                <a:sym typeface="Wingdings" panose="05000000000000000000" pitchFamily="2" charset="2"/>
              </a:rPr>
              <a:t>Equilibres parfait de sous-jeu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Importance de repérer tous les chemins / nœuds de décision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&lt;</a:t>
            </a:r>
            <a:r>
              <a:rPr lang="fr-FR" dirty="0" err="1">
                <a:sym typeface="Wingdings" panose="05000000000000000000" pitchFamily="2" charset="2"/>
              </a:rPr>
              <a:t>Accept</a:t>
            </a:r>
            <a:r>
              <a:rPr lang="fr-FR" dirty="0">
                <a:sym typeface="Wingdings" panose="05000000000000000000" pitchFamily="2" charset="2"/>
              </a:rPr>
              <a:t>, </a:t>
            </a:r>
            <a:r>
              <a:rPr lang="fr-FR" dirty="0" err="1">
                <a:sym typeface="Wingdings" panose="05000000000000000000" pitchFamily="2" charset="2"/>
              </a:rPr>
              <a:t>War</a:t>
            </a:r>
            <a:r>
              <a:rPr lang="fr-FR" dirty="0">
                <a:sym typeface="Wingdings" panose="05000000000000000000" pitchFamily="2" charset="2"/>
              </a:rPr>
              <a:t>&gt;; &lt;Escalade&gt;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Equilibres de sous-jeu parfaits multiples (rare)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Sous-jeu du bas   </a:t>
            </a:r>
            <a:r>
              <a:rPr lang="fr-FR" dirty="0" err="1">
                <a:sym typeface="Wingdings" panose="05000000000000000000" pitchFamily="2" charset="2"/>
              </a:rPr>
              <a:t>cf</a:t>
            </a:r>
            <a:r>
              <a:rPr lang="fr-FR" dirty="0">
                <a:sym typeface="Wingdings" panose="05000000000000000000" pitchFamily="2" charset="2"/>
              </a:rPr>
              <a:t> simultané : mixte  EU(1) = -1/3  mixte infini</a:t>
            </a:r>
          </a:p>
          <a:p>
            <a:pPr lvl="1"/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4FCBF06-7508-42C2-A563-5D8D7E72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487010"/>
            <a:ext cx="1524000" cy="15609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E2D5A69-1436-4F0D-BAE4-69263DBC6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3267075"/>
            <a:ext cx="3133725" cy="13049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FB0756D-A7BD-4150-8656-A33B1076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86839"/>
            <a:ext cx="2409825" cy="153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8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0F695-405E-490B-8416-3890A0B4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7030A0"/>
                </a:solidFill>
              </a:rPr>
              <a:t>Jeux à étapes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F9C4E5-1C58-4EA3-A45F-3BFA0720E8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40000" lnSpcReduction="20000"/>
          </a:bodyPr>
          <a:lstStyle/>
          <a:p>
            <a:r>
              <a:rPr lang="fr-FR" dirty="0"/>
              <a:t>Plusieurs manches</a:t>
            </a:r>
          </a:p>
          <a:p>
            <a:pPr lvl="1"/>
            <a:r>
              <a:rPr lang="fr-FR" dirty="0"/>
              <a:t>Sous-jeux simultanés, Gains indépendants, connaissance du passé</a:t>
            </a:r>
          </a:p>
          <a:p>
            <a:pPr lvl="1"/>
            <a:r>
              <a:rPr lang="fr-FR" dirty="0"/>
              <a:t>Difficile à dessiner (exponentiel)</a:t>
            </a:r>
          </a:p>
          <a:p>
            <a:pPr lvl="1"/>
            <a:r>
              <a:rPr lang="fr-FR" dirty="0"/>
              <a:t>Théorèmes: </a:t>
            </a:r>
          </a:p>
          <a:p>
            <a:pPr lvl="2"/>
            <a:r>
              <a:rPr lang="fr-FR" dirty="0"/>
              <a:t>Dernière étape </a:t>
            </a:r>
            <a:r>
              <a:rPr lang="fr-FR" dirty="0">
                <a:sym typeface="Wingdings" panose="05000000000000000000" pitchFamily="2" charset="2"/>
              </a:rPr>
              <a:t> Equilibre de Nash (passé pas modifiable)</a:t>
            </a:r>
          </a:p>
          <a:p>
            <a:pPr lvl="2"/>
            <a:r>
              <a:rPr lang="fr-FR" dirty="0"/>
              <a:t>Autres: jouer équilibres de Nash = 1 équilibre de sous-jeu</a:t>
            </a:r>
          </a:p>
          <a:p>
            <a:pPr lvl="2"/>
            <a:r>
              <a:rPr lang="fr-FR" dirty="0"/>
              <a:t>Mais Autres équilibres de sous-jeu possibles (coopération)</a:t>
            </a:r>
          </a:p>
          <a:p>
            <a:r>
              <a:rPr lang="fr-FR" dirty="0">
                <a:sym typeface="Wingdings" panose="05000000000000000000" pitchFamily="2" charset="2"/>
              </a:rPr>
              <a:t>Stratégies de punition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Prisonnier puis Argent gratuit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 équilibre faible (0,0) = menace de punition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 meilleur équilibre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Menaces « crédibles » importantes</a:t>
            </a:r>
          </a:p>
          <a:p>
            <a:r>
              <a:rPr lang="fr-FR" dirty="0">
                <a:sym typeface="Wingdings" panose="05000000000000000000" pitchFamily="2" charset="2"/>
              </a:rPr>
              <a:t>Se lier les mains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brûler le pont derrière soi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 Pas de possibilités de retraite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 Rend la menace crédible</a:t>
            </a:r>
          </a:p>
          <a:p>
            <a:r>
              <a:rPr lang="fr-FR" dirty="0">
                <a:sym typeface="Wingdings" panose="05000000000000000000" pitchFamily="2" charset="2"/>
              </a:rPr>
              <a:t>Problèmes d’engagement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fouille: superficielle, complète, chien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Pb = pas d’engagement crédible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Induction arrière K9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 l’ordre est important</a:t>
            </a:r>
          </a:p>
          <a:p>
            <a:r>
              <a:rPr lang="fr-FR" dirty="0">
                <a:sym typeface="Wingdings" panose="05000000000000000000" pitchFamily="2" charset="2"/>
              </a:rPr>
              <a:t>Problèmes de l’induction arrière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le millepattes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Equilibre pessimiste, pas constaté dans la pratique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Hypothèses  Maths  conclusions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Pb ici: hypothèses: rationalité limitée</a:t>
            </a:r>
          </a:p>
          <a:p>
            <a:r>
              <a:rPr lang="fr-FR" dirty="0">
                <a:sym typeface="Wingdings" panose="05000000000000000000" pitchFamily="2" charset="2"/>
              </a:rPr>
              <a:t>Induction avant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Induction arrière = futur rationnel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Induction avant = passé rationnel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« pub </a:t>
            </a:r>
            <a:r>
              <a:rPr lang="fr-FR" dirty="0" err="1">
                <a:sym typeface="Wingdings" panose="05000000000000000000" pitchFamily="2" charset="2"/>
              </a:rPr>
              <a:t>hunt</a:t>
            </a:r>
            <a:r>
              <a:rPr lang="fr-FR" dirty="0">
                <a:sym typeface="Wingdings" panose="05000000000000000000" pitchFamily="2" charset="2"/>
              </a:rPr>
              <a:t> »  supprime un équilibre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Mais parfois solutions controversées</a:t>
            </a:r>
          </a:p>
          <a:p>
            <a:r>
              <a:rPr lang="fr-FR" dirty="0">
                <a:sym typeface="Wingdings" panose="05000000000000000000" pitchFamily="2" charset="2"/>
              </a:rPr>
              <a:t>Version sociétale: dilemmes répétés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Punition perpétuelle, œil pour œil etc.</a:t>
            </a:r>
          </a:p>
          <a:p>
            <a:pPr lvl="1"/>
            <a:r>
              <a:rPr lang="fr-FR" dirty="0">
                <a:sym typeface="Wingdings" panose="05000000000000000000" pitchFamily="2" charset="2"/>
                <a:hlinkClick r:id="rId2"/>
              </a:rPr>
              <a:t>Evolution de la confiance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51A495-F170-4F4A-9E51-57B45126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A69213-87E9-4419-87B4-6436D5DF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031877F-D85F-42C7-BB11-2EF5FD6A1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907" y="3124200"/>
            <a:ext cx="2038093" cy="11049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1A2E7B7-9D34-4802-A8C8-6AD472E08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133101"/>
            <a:ext cx="1852613" cy="125373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3ED7758-76FB-4A10-949C-925F9D8F6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4230706"/>
            <a:ext cx="1524000" cy="11794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1AC2076-CD66-4D61-A033-1D0D9FBA6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587" y="2057400"/>
            <a:ext cx="2081213" cy="10560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FC1E022-DF5A-4CD2-A73D-7CA22FC84E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353" y="5460403"/>
            <a:ext cx="2038093" cy="11755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6F542C7-4A23-4472-9296-E920CFE119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427825"/>
            <a:ext cx="2210248" cy="1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8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A9801-35D6-4186-85A9-A4F5EEE5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Formes stratégiques avancées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20F6F01-650C-4A6F-AA9D-29E84D2F77F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949953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fr-FR" dirty="0"/>
                  <a:t>Objectif: raisonner avec des variables</a:t>
                </a:r>
              </a:p>
              <a:p>
                <a:pPr lvl="1"/>
                <a:r>
                  <a:rPr lang="fr-FR" dirty="0"/>
                  <a:t>Ex: bataille des sexes, A&gt;B&gt;C, </a:t>
                </a:r>
                <a:r>
                  <a:rPr lang="fr-FR" dirty="0">
                    <a:sym typeface="Wingdings" panose="05000000000000000000" pitchFamily="2" charset="2"/>
                  </a:rPr>
                  <a:t>Algorithme de stratégie mixte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−2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</m:den>
                    </m:f>
                  </m:oMath>
                </a14:m>
                <a:r>
                  <a:rPr lang="fr-FR" b="0" dirty="0">
                    <a:sym typeface="Wingdings" panose="05000000000000000000" pitchFamily="2" charset="2"/>
                  </a:rPr>
                  <a:t> et 0&lt;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fr-FR" b="0" dirty="0">
                    <a:sym typeface="Wingdings" panose="05000000000000000000" pitchFamily="2" charset="2"/>
                  </a:rPr>
                  <a:t>&lt;1 (ok avec a&gt;b&gt;c)</a:t>
                </a:r>
              </a:p>
              <a:p>
                <a:pPr lvl="2"/>
                <a:r>
                  <a:rPr lang="fr-FR" dirty="0"/>
                  <a:t>Ajustement des variables </a:t>
                </a:r>
                <a:r>
                  <a:rPr lang="fr-FR" dirty="0">
                    <a:sym typeface="Wingdings" panose="05000000000000000000" pitchFamily="2" charset="2"/>
                  </a:rPr>
                  <a:t> changement des équilibres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  <a:hlinkClick r:id="rId2"/>
                  </a:rPr>
                  <a:t>Ex: Topologie complète 2x2</a:t>
                </a:r>
                <a:endParaRPr lang="fr-FR" dirty="0">
                  <a:sym typeface="Wingdings" panose="05000000000000000000" pitchFamily="2" charset="2"/>
                </a:endParaRPr>
              </a:p>
              <a:p>
                <a:r>
                  <a:rPr lang="fr-FR" dirty="0"/>
                  <a:t>Ex: Equilibre de lame de couteau</a:t>
                </a:r>
              </a:p>
              <a:p>
                <a:pPr lvl="2"/>
                <a:r>
                  <a:rPr lang="fr-FR" dirty="0"/>
                  <a:t>X&gt;0 </a:t>
                </a:r>
                <a:r>
                  <a:rPr lang="fr-FR" dirty="0">
                    <a:sym typeface="Wingdings" panose="05000000000000000000" pitchFamily="2" charset="2"/>
                  </a:rPr>
                  <a:t>Up, </a:t>
                </a:r>
                <a:r>
                  <a:rPr lang="fr-FR" dirty="0" err="1">
                    <a:sym typeface="Wingdings" panose="05000000000000000000" pitchFamily="2" charset="2"/>
                  </a:rPr>
                  <a:t>Left</a:t>
                </a:r>
                <a:r>
                  <a:rPr lang="fr-FR" dirty="0">
                    <a:sym typeface="Wingdings" panose="05000000000000000000" pitchFamily="2" charset="2"/>
                  </a:rPr>
                  <a:t> vs x&lt;0down,right, x=0 tous</a:t>
                </a:r>
              </a:p>
              <a:p>
                <a:pPr lvl="2"/>
                <a:r>
                  <a:rPr lang="fr-FR" dirty="0" err="1">
                    <a:sym typeface="Wingdings" panose="05000000000000000000" pitchFamily="2" charset="2"/>
                  </a:rPr>
                  <a:t>Left</a:t>
                </a:r>
                <a:r>
                  <a:rPr lang="fr-FR" dirty="0">
                    <a:sym typeface="Wingdings" panose="05000000000000000000" pitchFamily="2" charset="2"/>
                  </a:rPr>
                  <a:t>-down instable autour de x=0 lame de couteau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Probabilité faible  Equilibre pas naturel  dominance faible  ignoré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Modèles causaux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Propriétés causales des inputs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Ex: bas coût guerre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Statiques comparées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Calcul des gradients % paramètres aux équilibres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Ex: Football: penalty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0&lt;x&lt;1 (coté faible)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Stratégie mixte: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𝐾𝐿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1+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𝐷𝑅</m:t>
                        </m:r>
                      </m:sub>
                    </m:sSub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𝐾𝐿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1+</m:t>
                        </m:r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²)</m:t>
                        </m:r>
                      </m:den>
                    </m:f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&lt;0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il tire d’avantage son côté faible (compense)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Ex: Pierre, papier, ciseaux (pas de stratégie pure  cycle)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Support des stratégies mixtes= stratégies pures dans le mix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 de Nash de stratégies mixte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EU égales dans le support et inférieur en dehors 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Cf pile ou face, et si on change les poids?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Théorème: 2 joueurs, symétrique à somme nulle  EU = 0 (sinon copie)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 stratégie mixte à 3 supports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Résolution: indifférence: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𝜎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 ciseaux pour compenser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20F6F01-650C-4A6F-AA9D-29E84D2F7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949953"/>
              </a:xfrm>
              <a:blipFill>
                <a:blip r:embed="rId3"/>
                <a:stretch>
                  <a:fillRect t="-7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68AC79-39B4-4E29-B73B-49B9E55A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915535-FF25-4029-A1CD-55A53C8C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609B20-E1F3-457F-8558-EE9EFC6E3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57410"/>
            <a:ext cx="1259505" cy="11427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C0AAD9A-CF5A-4FC9-8DB5-7C4639240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36" y="1503012"/>
            <a:ext cx="1259898" cy="11042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6EFB245-0A61-452E-9006-9C43E3628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041" y="4142707"/>
            <a:ext cx="1236760" cy="111990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415C44-B304-481C-B497-247D79754C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946" y="3089185"/>
            <a:ext cx="2405063" cy="75915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CFFE6C6-BA8C-4726-BB59-887CC11D29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600" y="2819400"/>
            <a:ext cx="2252663" cy="133845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4ED13DA-10E3-4EA1-84D7-00C83D4A89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799" y="5305991"/>
            <a:ext cx="1484801" cy="132340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46BA944-4D91-4A1F-8136-F89BB1AA26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9868" y="5305991"/>
            <a:ext cx="1562100" cy="136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8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19A13-A4EF-47A8-BA6E-90321C25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Espaces de stratégies infinis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9535EA-103B-49D4-8DF2-81A4797C9B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6327648" cy="4949953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Jeux sans équilibre</a:t>
            </a:r>
          </a:p>
          <a:p>
            <a:pPr lvl="1"/>
            <a:r>
              <a:rPr lang="fr-FR" dirty="0"/>
              <a:t>Jusqu’ici, nombre fini de stratégies pures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Matrices + théorèmes de Nash</a:t>
            </a:r>
            <a:endParaRPr lang="fr-FR" dirty="0"/>
          </a:p>
          <a:p>
            <a:pPr lvl="1"/>
            <a:r>
              <a:rPr lang="fr-FR" dirty="0"/>
              <a:t>Certains jeux ont une infinité de stratégies pures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 pas de matrice et pas forcément d’équilibre de Nash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Ex: Joueur 1: x&gt;0, Joueur 2: y&gt;0, gain </a:t>
            </a:r>
            <a:r>
              <a:rPr lang="fr-FR" dirty="0" err="1">
                <a:sym typeface="Wingdings" panose="05000000000000000000" pitchFamily="2" charset="2"/>
              </a:rPr>
              <a:t>xy</a:t>
            </a:r>
            <a:r>
              <a:rPr lang="fr-FR" dirty="0">
                <a:sym typeface="Wingdings" panose="05000000000000000000" pitchFamily="2" charset="2"/>
              </a:rPr>
              <a:t> pour les deux</a:t>
            </a:r>
          </a:p>
          <a:p>
            <a:r>
              <a:rPr lang="fr-FR" dirty="0">
                <a:sym typeface="Wingdings" panose="05000000000000000000" pitchFamily="2" charset="2"/>
              </a:rPr>
              <a:t>Duels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100 m, 2 balles, se rapprochent, peuvent tirer quand ils souhaitent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Précisions différentes mais 0% à 100m, 100% à 0m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  Equilibre = même distance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(preuve par contradiction)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Ex: date de sortie de produits concurrents</a:t>
            </a:r>
          </a:p>
          <a:p>
            <a:r>
              <a:rPr lang="fr-FR" dirty="0">
                <a:sym typeface="Wingdings" panose="05000000000000000000" pitchFamily="2" charset="2"/>
              </a:rPr>
              <a:t>Loi de Hotelling et l’électeur médian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2 vendeurs de glace sur la plage, choix de l’emplacement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Equilibre = les deux au milieu.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Principe important en politique: théorèmes de l’électeur médian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Vainqueur de Condorcet (</a:t>
            </a:r>
            <a:r>
              <a:rPr lang="fr-FR" dirty="0" err="1">
                <a:sym typeface="Wingdings" panose="05000000000000000000" pitchFamily="2" charset="2"/>
              </a:rPr>
              <a:t>cf</a:t>
            </a:r>
            <a:r>
              <a:rPr lang="fr-FR" dirty="0">
                <a:sym typeface="Wingdings" panose="05000000000000000000" pitchFamily="2" charset="2"/>
              </a:rPr>
              <a:t> Choix social)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EF8BE4-6685-42BA-A957-1A53BCF1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B26D6E-3D83-4AE5-9E69-38E6821B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8F86614-1A1D-4437-8345-DE1DE7523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87" y="5215151"/>
            <a:ext cx="2005013" cy="49984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21E02BE-670C-4AB5-A724-9D63EBEFF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961737"/>
            <a:ext cx="2824163" cy="5152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EA32E8-4A97-46DF-BD60-69A4DF49E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39" y="3965191"/>
            <a:ext cx="2576980" cy="45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8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61E027-9684-4E1D-AA8F-EDC4ADA3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Jeux Bayésiens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03AEBB-0499-422F-8D24-DD53147690F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390193"/>
                <a:ext cx="8503920" cy="502013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fr-FR" dirty="0"/>
                  <a:t>Information incomplète</a:t>
                </a:r>
              </a:p>
              <a:p>
                <a:pPr lvl="1"/>
                <a:r>
                  <a:rPr lang="fr-FR" dirty="0"/>
                  <a:t>Sur les autres joueurs (ex: récompenses)</a:t>
                </a:r>
              </a:p>
              <a:p>
                <a:pPr lvl="1"/>
                <a:r>
                  <a:rPr lang="fr-FR" dirty="0"/>
                  <a:t>Représentation = Distribution de probabilité sur les types de joueurs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Information imparfaite  Analyse probabiliste sur les états de croyance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Formalisation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N joueurs, Ω états de la nature, A</a:t>
                </a:r>
                <a:r>
                  <a:rPr lang="fr-FR" baseline="-25000" dirty="0">
                    <a:sym typeface="Wingdings" panose="05000000000000000000" pitchFamily="2" charset="2"/>
                  </a:rPr>
                  <a:t>i </a:t>
                </a:r>
                <a:r>
                  <a:rPr lang="fr-FR" dirty="0">
                    <a:sym typeface="Wingdings" panose="05000000000000000000" pitchFamily="2" charset="2"/>
                  </a:rPr>
                  <a:t>actions du joueur i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T</a:t>
                </a:r>
                <a:r>
                  <a:rPr lang="fr-FR" baseline="-25000" dirty="0">
                    <a:sym typeface="Wingdings" panose="05000000000000000000" pitchFamily="2" charset="2"/>
                  </a:rPr>
                  <a:t>i </a:t>
                </a:r>
                <a:r>
                  <a:rPr lang="fr-FR" dirty="0">
                    <a:sym typeface="Wingdings" panose="05000000000000000000" pitchFamily="2" charset="2"/>
                  </a:rPr>
                  <a:t>type du joueur i, définit par </a:t>
                </a:r>
                <a:r>
                  <a:rPr lang="el-GR" dirty="0">
                    <a:sym typeface="Wingdings" panose="05000000000000000000" pitchFamily="2" charset="2"/>
                  </a:rPr>
                  <a:t>τ</a:t>
                </a:r>
                <a:r>
                  <a:rPr lang="fr-FR" baseline="-25000" dirty="0">
                    <a:sym typeface="Wingdings" panose="05000000000000000000" pitchFamily="2" charset="2"/>
                  </a:rPr>
                  <a:t>i</a:t>
                </a:r>
                <a:r>
                  <a:rPr lang="fr-FR" dirty="0">
                    <a:sym typeface="Wingdings" panose="05000000000000000000" pitchFamily="2" charset="2"/>
                  </a:rPr>
                  <a:t>, C</a:t>
                </a:r>
                <a:r>
                  <a:rPr lang="fr-FR" baseline="-25000" dirty="0">
                    <a:sym typeface="Wingdings" panose="05000000000000000000" pitchFamily="2" charset="2"/>
                  </a:rPr>
                  <a:t>i</a:t>
                </a:r>
                <a:r>
                  <a:rPr lang="fr-FR" dirty="0">
                    <a:sym typeface="Wingdings" panose="05000000000000000000" pitchFamily="2" charset="2"/>
                  </a:rPr>
                  <a:t> actions pour le type T</a:t>
                </a:r>
                <a:r>
                  <a:rPr lang="fr-FR" baseline="-25000" dirty="0">
                    <a:sym typeface="Wingdings" panose="05000000000000000000" pitchFamily="2" charset="2"/>
                  </a:rPr>
                  <a:t>i</a:t>
                </a:r>
              </a:p>
              <a:p>
                <a:pPr lvl="1"/>
                <a:r>
                  <a:rPr lang="fr-FR" dirty="0" err="1">
                    <a:sym typeface="Wingdings" panose="05000000000000000000" pitchFamily="2" charset="2"/>
                  </a:rPr>
                  <a:t>U</a:t>
                </a:r>
                <a:r>
                  <a:rPr lang="fr-FR" baseline="-25000" dirty="0" err="1">
                    <a:sym typeface="Wingdings" panose="05000000000000000000" pitchFamily="2" charset="2"/>
                  </a:rPr>
                  <a:t>i</a:t>
                </a:r>
                <a:r>
                  <a:rPr lang="fr-FR" dirty="0">
                    <a:sym typeface="Wingdings" panose="05000000000000000000" pitchFamily="2" charset="2"/>
                  </a:rPr>
                  <a:t> récompense pour i, p</a:t>
                </a:r>
                <a:r>
                  <a:rPr lang="fr-FR" baseline="-25000" dirty="0">
                    <a:sym typeface="Wingdings" panose="05000000000000000000" pitchFamily="2" charset="2"/>
                  </a:rPr>
                  <a:t>i</a:t>
                </a:r>
                <a:r>
                  <a:rPr lang="fr-FR" dirty="0">
                    <a:sym typeface="Wingdings" panose="05000000000000000000" pitchFamily="2" charset="2"/>
                  </a:rPr>
                  <a:t> distribution de probabilité des types de joueurs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Stratégies pures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  <m:r>
                      <a:rPr lang="fr-FR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|(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),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)∈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𝐶𝑖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,∀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𝑡𝑖</m:t>
                    </m:r>
                    <m:r>
                      <a:rPr lang="fr-F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Equilibres de Nash Bayésien</a:t>
                </a:r>
                <a:endParaRPr lang="fr-FR" baseline="-250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Objectif = maximisation de la récompense espérée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Problème: de nombreux équilibres sans restrictions supplémentaires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Ex: Dilemme du Shérif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 criminel (p) vs civil (1-p), tirer ou pas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Stratégies dominantes: tirer pour criminel, pas pour civil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 Pour le Shérif: E(tirer) = p-1, E(pas) = -2p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 p&gt;1/3 = tirer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03AEBB-0499-422F-8D24-DD5314769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390193"/>
                <a:ext cx="8503920" cy="5020131"/>
              </a:xfrm>
              <a:blipFill>
                <a:blip r:embed="rId2"/>
                <a:stretch>
                  <a:fillRect l="-573" t="-2184" b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2C045F-29EC-4D2E-8D17-638ED0C4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E2EFAD7-5012-4F13-90BB-B950F288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6A9B2C-5107-4538-9FED-596FBCEEC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57" y="2590800"/>
            <a:ext cx="2711668" cy="3048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1493EB6-A01A-4079-8C18-A2A05E441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837" y="5777407"/>
            <a:ext cx="1881188" cy="7361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2399523-DFB1-45FD-8E67-39B102968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837" y="5033998"/>
            <a:ext cx="1899822" cy="7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4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96326-4BA8-4B3D-B4E3-408E6672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Equilibres Bayésiens parfaits (PBE)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C978A0F-B778-4086-B432-DBF9821324E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468439"/>
                <a:ext cx="8503920" cy="4941886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fr-FR" dirty="0">
                    <a:sym typeface="Wingdings" panose="05000000000000000000" pitchFamily="2" charset="2"/>
                  </a:rPr>
                  <a:t>Jeux séquentiels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Rappel SPE  équilibres non plausibles (menaces et promesses non crédibles)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Systèmes de croyance: assignations de probabilités sur les types.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« Consistant » pour un profile stratégique Probabilités d’atteindre les nœuds par application des stratégies (Bayes) 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Rationalité séquentielle: récompense espérée maximale pour un système de croyance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Définition PBE: 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Profile stratégique et système de croyance consistant tels que les stratégies sont séquentiellement rationnelles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Jeux de signalisation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Emetteur S (connait son type)  message m, Récepteur R ou « principal » (ne le connait pas)  action a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Etats de croyance du récepteur: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𝜇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𝑡𝑖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, maximisation de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a:rPr lang="fr-FR" i="1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  <m:sup/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𝜇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fr-FR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e>
                        </m:d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𝑈</m:t>
                        </m:r>
                        <m:r>
                          <a:rPr lang="fr-FR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𝑡𝑖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nary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 action </a:t>
                </a:r>
                <a:r>
                  <a:rPr lang="fr-FR" i="1" dirty="0">
                    <a:sym typeface="Wingdings" panose="05000000000000000000" pitchFamily="2" charset="2"/>
                  </a:rPr>
                  <a:t>a*(m)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Emetteur maximise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fr-FR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fr-FR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 message m*(t)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3 catégories de PBE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 de mise en commun (</a:t>
                </a:r>
                <a:r>
                  <a:rPr lang="fr-FR" dirty="0" err="1">
                    <a:sym typeface="Wingdings" panose="05000000000000000000" pitchFamily="2" charset="2"/>
                  </a:rPr>
                  <a:t>pooling</a:t>
                </a:r>
                <a:r>
                  <a:rPr lang="fr-FR" dirty="0">
                    <a:sym typeface="Wingdings" panose="05000000000000000000" pitchFamily="2" charset="2"/>
                  </a:rPr>
                  <a:t>): Les émetteurs choisissent le même message (pas de signal)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 de séparation (</a:t>
                </a:r>
                <a:r>
                  <a:rPr lang="fr-FR" dirty="0" err="1">
                    <a:sym typeface="Wingdings" panose="05000000000000000000" pitchFamily="2" charset="2"/>
                  </a:rPr>
                  <a:t>separating</a:t>
                </a:r>
                <a:r>
                  <a:rPr lang="fr-FR" dirty="0">
                    <a:sym typeface="Wingdings" panose="05000000000000000000" pitchFamily="2" charset="2"/>
                  </a:rPr>
                  <a:t>): Messages toujours différents  croyance devient déterministe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Semi-séparation (ou partial-</a:t>
                </a:r>
                <a:r>
                  <a:rPr lang="fr-FR" dirty="0" err="1">
                    <a:sym typeface="Wingdings" panose="05000000000000000000" pitchFamily="2" charset="2"/>
                  </a:rPr>
                  <a:t>pooling</a:t>
                </a:r>
                <a:r>
                  <a:rPr lang="fr-FR" dirty="0">
                    <a:sym typeface="Wingdings" panose="05000000000000000000" pitchFamily="2" charset="2"/>
                  </a:rPr>
                  <a:t>): Mixte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Exemples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Jeu de réputation: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cf. la guerre des prix: </a:t>
                </a:r>
                <a:r>
                  <a:rPr lang="fr-FR" dirty="0" err="1">
                    <a:sym typeface="Wingdings" panose="05000000000000000000" pitchFamily="2" charset="2"/>
                  </a:rPr>
                  <a:t>Sane</a:t>
                </a:r>
                <a:r>
                  <a:rPr lang="fr-FR" dirty="0">
                    <a:sym typeface="Wingdings" panose="05000000000000000000" pitchFamily="2" charset="2"/>
                  </a:rPr>
                  <a:t> (p) vs </a:t>
                </a:r>
                <a:r>
                  <a:rPr lang="fr-FR" dirty="0" err="1">
                    <a:sym typeface="Wingdings" panose="05000000000000000000" pitchFamily="2" charset="2"/>
                  </a:rPr>
                  <a:t>crazy</a:t>
                </a:r>
                <a:r>
                  <a:rPr lang="fr-FR" dirty="0">
                    <a:sym typeface="Wingdings" panose="05000000000000000000" pitchFamily="2" charset="2"/>
                  </a:rPr>
                  <a:t> (1-p) Prey vs </a:t>
                </a:r>
                <a:r>
                  <a:rPr lang="fr-FR" dirty="0" err="1">
                    <a:sym typeface="Wingdings" panose="05000000000000000000" pitchFamily="2" charset="2"/>
                  </a:rPr>
                  <a:t>Accomodate</a:t>
                </a:r>
                <a:r>
                  <a:rPr lang="fr-FR" dirty="0">
                    <a:sym typeface="Wingdings" panose="05000000000000000000" pitchFamily="2" charset="2"/>
                  </a:rPr>
                  <a:t> (signal), </a:t>
                </a:r>
                <a:r>
                  <a:rPr lang="fr-FR" dirty="0" err="1">
                    <a:sym typeface="Wingdings" panose="05000000000000000000" pitchFamily="2" charset="2"/>
                  </a:rPr>
                  <a:t>Stay</a:t>
                </a:r>
                <a:r>
                  <a:rPr lang="fr-FR" dirty="0">
                    <a:sym typeface="Wingdings" panose="05000000000000000000" pitchFamily="2" charset="2"/>
                  </a:rPr>
                  <a:t> vs Exit?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M1&gt;D1&gt;P1, D2&gt;0&gt;P2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 de séparation (</a:t>
                </a:r>
                <a:r>
                  <a:rPr lang="fr-FR" dirty="0" err="1">
                    <a:sym typeface="Wingdings" panose="05000000000000000000" pitchFamily="2" charset="2"/>
                  </a:rPr>
                  <a:t>Sane</a:t>
                </a:r>
                <a:r>
                  <a:rPr lang="fr-FR" dirty="0">
                    <a:sym typeface="Wingdings" panose="05000000000000000000" pitchFamily="2" charset="2"/>
                  </a:rPr>
                  <a:t>  </a:t>
                </a:r>
                <a:r>
                  <a:rPr lang="fr-FR" dirty="0" err="1">
                    <a:sym typeface="Wingdings" panose="05000000000000000000" pitchFamily="2" charset="2"/>
                  </a:rPr>
                  <a:t>accomodate</a:t>
                </a:r>
                <a:r>
                  <a:rPr lang="fr-FR" dirty="0">
                    <a:sym typeface="Wingdings" panose="05000000000000000000" pitchFamily="2" charset="2"/>
                  </a:rPr>
                  <a:t>)  D1+D1</a:t>
                </a:r>
                <a:r>
                  <a:rPr lang="en-US" dirty="0"/>
                  <a:t> ≥ </a:t>
                </a:r>
                <a:r>
                  <a:rPr lang="fr-FR" dirty="0">
                    <a:sym typeface="Wingdings" panose="05000000000000000000" pitchFamily="2" charset="2"/>
                  </a:rPr>
                  <a:t>P1+M1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 de mise en commun</a:t>
                </a:r>
                <a:r>
                  <a:rPr lang="nn-NO" i="1" dirty="0"/>
                  <a:t> p</a:t>
                </a:r>
                <a:r>
                  <a:rPr lang="nn-NO" dirty="0"/>
                  <a:t> D2 + (1-</a:t>
                </a:r>
                <a:r>
                  <a:rPr lang="nn-NO" i="1" dirty="0"/>
                  <a:t>p</a:t>
                </a:r>
                <a:r>
                  <a:rPr lang="nn-NO" dirty="0"/>
                  <a:t>) P2 ≤ 0 et </a:t>
                </a:r>
                <a:r>
                  <a:rPr lang="en-US" dirty="0"/>
                  <a:t>D1+D1&lt;P1+M1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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L’émetteur</a:t>
                </a:r>
                <a:r>
                  <a:rPr lang="en-US" dirty="0">
                    <a:sym typeface="Wingdings" panose="05000000000000000000" pitchFamily="2" charset="2"/>
                  </a:rPr>
                  <a:t> se fait passer pour </a:t>
                </a:r>
                <a:r>
                  <a:rPr lang="en-US" dirty="0" err="1">
                    <a:sym typeface="Wingdings" panose="05000000000000000000" pitchFamily="2" charset="2"/>
                  </a:rPr>
                  <a:t>prédateur</a:t>
                </a:r>
                <a:r>
                  <a:rPr lang="en-US" dirty="0">
                    <a:sym typeface="Wingdings" panose="05000000000000000000" pitchFamily="2" charset="2"/>
                  </a:rPr>
                  <a:t> (“reputation”)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</a:t>
                </a:r>
                <a:r>
                  <a:rPr lang="en-US" dirty="0" err="1">
                    <a:sym typeface="Wingdings" panose="05000000000000000000" pitchFamily="2" charset="2"/>
                  </a:rPr>
                  <a:t>inon</a:t>
                </a:r>
                <a:r>
                  <a:rPr lang="en-US" dirty="0">
                    <a:sym typeface="Wingdings" panose="05000000000000000000" pitchFamily="2" charset="2"/>
                  </a:rPr>
                  <a:t> pas </a:t>
                </a:r>
                <a:r>
                  <a:rPr lang="en-US" dirty="0" err="1">
                    <a:sym typeface="Wingdings" panose="05000000000000000000" pitchFamily="2" charset="2"/>
                  </a:rPr>
                  <a:t>d’équilibre</a:t>
                </a:r>
                <a:r>
                  <a:rPr lang="en-US" dirty="0">
                    <a:sym typeface="Wingdings" panose="05000000000000000000" pitchFamily="2" charset="2"/>
                  </a:rPr>
                  <a:t> PBE de strategies </a:t>
                </a:r>
                <a:r>
                  <a:rPr lang="en-US" dirty="0" err="1">
                    <a:sym typeface="Wingdings" panose="05000000000000000000" pitchFamily="2" charset="2"/>
                  </a:rPr>
                  <a:t>pures</a:t>
                </a:r>
                <a:r>
                  <a:rPr lang="en-US" dirty="0">
                    <a:sym typeface="Wingdings" panose="05000000000000000000" pitchFamily="2" charset="2"/>
                  </a:rPr>
                  <a:t>  PBE de strategies </a:t>
                </a:r>
                <a:r>
                  <a:rPr lang="en-US" dirty="0" err="1">
                    <a:sym typeface="Wingdings" panose="05000000000000000000" pitchFamily="2" charset="2"/>
                  </a:rPr>
                  <a:t>mixtes</a:t>
                </a:r>
                <a:endParaRPr lang="fr-FR" dirty="0">
                  <a:sym typeface="Wingdings" panose="05000000000000000000" pitchFamily="2" charset="2"/>
                </a:endParaRP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Jeu d’éducation: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Doué (p) ou pas (1-p), diplômé ou pas (signal), Embauche, Salaire?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PBE de séparation privilégié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Bière-quiche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Fort (p) </a:t>
                </a:r>
                <a:r>
                  <a:rPr lang="fr-FR">
                    <a:sym typeface="Wingdings" panose="05000000000000000000" pitchFamily="2" charset="2"/>
                  </a:rPr>
                  <a:t>ou faible(1-p), </a:t>
                </a:r>
                <a:r>
                  <a:rPr lang="fr-FR" dirty="0">
                    <a:sym typeface="Wingdings" panose="05000000000000000000" pitchFamily="2" charset="2"/>
                  </a:rPr>
                  <a:t>bière ou quiche (signal), duel?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P=0.9  Equilibre = </a:t>
                </a:r>
                <a:r>
                  <a:rPr lang="fr-FR" dirty="0" err="1">
                    <a:sym typeface="Wingdings" panose="05000000000000000000" pitchFamily="2" charset="2"/>
                  </a:rPr>
                  <a:t>pooling</a:t>
                </a:r>
                <a:r>
                  <a:rPr lang="fr-FR" dirty="0">
                    <a:sym typeface="Wingdings" panose="05000000000000000000" pitchFamily="2" charset="2"/>
                  </a:rPr>
                  <a:t> (sinon signal pour duel)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P=0.2  Stratégies mixtes: P(</a:t>
                </a:r>
                <a:r>
                  <a:rPr lang="fr-FR" dirty="0" err="1">
                    <a:sym typeface="Wingdings" panose="05000000000000000000" pitchFamily="2" charset="2"/>
                  </a:rPr>
                  <a:t>Bière|faible</a:t>
                </a:r>
                <a:r>
                  <a:rPr lang="fr-FR" dirty="0">
                    <a:sym typeface="Wingdings" panose="05000000000000000000" pitchFamily="2" charset="2"/>
                  </a:rPr>
                  <a:t>) = 1/4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C978A0F-B778-4086-B432-DBF9821324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468439"/>
                <a:ext cx="8503920" cy="4941886"/>
              </a:xfrm>
              <a:blipFill>
                <a:blip r:embed="rId2"/>
                <a:stretch>
                  <a:fillRect t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F1D731-3BE4-4A62-8D3D-710AA225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B4DB0B-2FAB-430A-A531-B7688A96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0494CB-8638-469E-ADB9-9EC98F477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018" y="3824546"/>
            <a:ext cx="2353005" cy="9600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F94C2EB-7733-48A1-88FD-399748ADC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800600"/>
            <a:ext cx="2209419" cy="105651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ED84483-2C0B-4CEC-8489-FCE07FEFE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412" y="5568967"/>
            <a:ext cx="1500188" cy="113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69608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7C75F-F23D-4236-B214-A40A4407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Jeux coopératifs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66F01A5-714F-4C09-BB2D-293744FB98B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fr-FR" dirty="0"/>
                  <a:t>Jeux d’assistance</a:t>
                </a:r>
              </a:p>
              <a:p>
                <a:pPr lvl="1"/>
                <a:r>
                  <a:rPr lang="fr-FR" dirty="0"/>
                  <a:t>2 joueurs, récompense </a:t>
                </a:r>
                <a:r>
                  <a:rPr lang="el-GR" dirty="0"/>
                  <a:t>θ</a:t>
                </a:r>
                <a:r>
                  <a:rPr lang="fr-FR" dirty="0"/>
                  <a:t> incertaine pour l’assistant p(</a:t>
                </a:r>
                <a:r>
                  <a:rPr lang="el-GR" dirty="0"/>
                  <a:t>θ</a:t>
                </a:r>
                <a:r>
                  <a:rPr lang="fr-FR" dirty="0"/>
                  <a:t>)</a:t>
                </a:r>
              </a:p>
              <a:p>
                <a:pPr lvl="1"/>
                <a:r>
                  <a:rPr lang="fr-FR" dirty="0"/>
                  <a:t>Ex: Jeu du trombone: </a:t>
                </a:r>
              </a:p>
              <a:p>
                <a:pPr lvl="2"/>
                <a:r>
                  <a:rPr lang="fr-FR" dirty="0"/>
                  <a:t>Trombone vs Agrafe, prix </a:t>
                </a:r>
                <a:r>
                  <a:rPr lang="el-GR" dirty="0"/>
                  <a:t>θ</a:t>
                </a:r>
                <a:r>
                  <a:rPr lang="fr-FR" dirty="0"/>
                  <a:t>, robot observe et construit  </a:t>
                </a:r>
              </a:p>
              <a:p>
                <a:pPr lvl="2"/>
                <a:r>
                  <a:rPr lang="fr-FR" dirty="0"/>
                  <a:t>Signal 2,0 | 1,1 | 0,2, Réponse 90,0 | 50,50 |0,90</a:t>
                </a:r>
              </a:p>
              <a:p>
                <a:pPr lvl="2"/>
                <a:r>
                  <a:rPr lang="fr-FR" dirty="0"/>
                  <a:t>Nash </a:t>
                </a:r>
                <a:r>
                  <a:rPr lang="fr-FR" dirty="0">
                    <a:sym typeface="Wingdings" panose="05000000000000000000" pitchFamily="2" charset="2"/>
                  </a:rPr>
                  <a:t> </a:t>
                </a:r>
                <a:r>
                  <a:rPr lang="fr-FR" b="1" dirty="0">
                    <a:sym typeface="Wingdings" panose="05000000000000000000" pitchFamily="2" charset="2"/>
                  </a:rPr>
                  <a:t>meilleure réponse myope incrémentale </a:t>
                </a:r>
                <a:r>
                  <a:rPr lang="fr-FR" dirty="0">
                    <a:sym typeface="Wingdings" panose="05000000000000000000" pitchFamily="2" charset="2"/>
                  </a:rPr>
                  <a:t>[0,446 ; 0,554] en deux étapes</a:t>
                </a:r>
                <a:endParaRPr lang="fr-FR" dirty="0"/>
              </a:p>
              <a:p>
                <a:pPr lvl="1"/>
                <a:r>
                  <a:rPr lang="fr-FR" dirty="0"/>
                  <a:t>Cas général ~ similaire à un POMDP + </a:t>
                </a:r>
                <a:r>
                  <a:rPr lang="el-GR" dirty="0"/>
                  <a:t>θ</a:t>
                </a:r>
                <a:r>
                  <a:rPr lang="fr-FR" dirty="0"/>
                  <a:t> </a:t>
                </a:r>
                <a:r>
                  <a:rPr lang="fr-FR" dirty="0">
                    <a:sym typeface="Wingdings" panose="05000000000000000000" pitchFamily="2" charset="2"/>
                  </a:rPr>
                  <a:t></a:t>
                </a:r>
                <a:r>
                  <a:rPr lang="fr-FR" dirty="0"/>
                  <a:t> Difficile mais bonnes abstractions</a:t>
                </a:r>
              </a:p>
              <a:p>
                <a:r>
                  <a:rPr lang="fr-FR" dirty="0"/>
                  <a:t>Théorie des jeux coopératifs</a:t>
                </a:r>
              </a:p>
              <a:p>
                <a:pPr lvl="1"/>
                <a:r>
                  <a:rPr lang="fr-FR" dirty="0"/>
                  <a:t>Utilité transférable de </a:t>
                </a:r>
                <a:r>
                  <a:rPr lang="fr-FR" b="1" dirty="0"/>
                  <a:t>coalition </a:t>
                </a:r>
              </a:p>
              <a:p>
                <a:pPr lvl="2"/>
                <a:r>
                  <a:rPr lang="fr-FR" dirty="0"/>
                  <a:t>Fonction de caractéristique G= {</a:t>
                </a:r>
                <a:r>
                  <a:rPr lang="fr-FR" dirty="0" err="1"/>
                  <a:t>N,v</a:t>
                </a:r>
                <a:r>
                  <a:rPr lang="fr-FR" dirty="0"/>
                  <a:t>} V(C</a:t>
                </a:r>
                <a:r>
                  <a:rPr lang="fr-FR" dirty="0">
                    <a:effectLst/>
                    <a:latin typeface="Arial" panose="020B0604020202020204" pitchFamily="34" charset="0"/>
                  </a:rPr>
                  <a:t> ⊆ </a:t>
                </a:r>
                <a:r>
                  <a:rPr lang="fr-FR" dirty="0"/>
                  <a:t>N)</a:t>
                </a:r>
                <a:r>
                  <a:rPr lang="fr-FR" dirty="0">
                    <a:effectLst/>
                    <a:latin typeface="Arial" panose="020B0604020202020204" pitchFamily="34" charset="0"/>
                  </a:rPr>
                  <a:t> ≥ 0</a:t>
                </a:r>
              </a:p>
              <a:p>
                <a:pPr lvl="2"/>
                <a:r>
                  <a:rPr lang="fr-FR" dirty="0">
                    <a:latin typeface="Arial" panose="020B0604020202020204" pitchFamily="34" charset="0"/>
                  </a:rPr>
                  <a:t>Partitions = Structures de Coalitions  CS(N)</a:t>
                </a:r>
              </a:p>
              <a:p>
                <a:pPr lvl="2"/>
                <a:r>
                  <a:rPr lang="fr-FR" dirty="0">
                    <a:latin typeface="Arial" panose="020B0604020202020204" pitchFamily="34" charset="0"/>
                  </a:rPr>
                  <a:t>Vecteur de récompense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>
                  <a:latin typeface="Arial" panose="020B0604020202020204" pitchFamily="34" charset="0"/>
                </a:endParaRPr>
              </a:p>
              <a:p>
                <a:pPr lvl="1"/>
                <a:r>
                  <a:rPr lang="fr-FR" dirty="0">
                    <a:latin typeface="Arial" panose="020B0604020202020204" pitchFamily="34" charset="0"/>
                  </a:rPr>
                  <a:t>Stratégies</a:t>
                </a:r>
              </a:p>
              <a:p>
                <a:pPr lvl="2"/>
                <a:r>
                  <a:rPr lang="fr-FR" b="1" dirty="0">
                    <a:latin typeface="Arial" panose="020B0604020202020204" pitchFamily="34" charset="0"/>
                  </a:rPr>
                  <a:t>Imputation</a:t>
                </a:r>
                <a:r>
                  <a:rPr lang="fr-FR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fr-FR" dirty="0">
                  <a:latin typeface="Arial" panose="020B0604020202020204" pitchFamily="34" charset="0"/>
                </a:endParaRPr>
              </a:p>
              <a:p>
                <a:pPr lvl="2"/>
                <a:r>
                  <a:rPr lang="fr-FR" b="1" dirty="0">
                    <a:latin typeface="Arial" panose="020B0604020202020204" pitchFamily="34" charset="0"/>
                  </a:rPr>
                  <a:t>Noyau</a:t>
                </a:r>
                <a:r>
                  <a:rPr lang="fr-FR" dirty="0">
                    <a:latin typeface="Arial" panose="020B0604020202020204" pitchFamily="34" charset="0"/>
                  </a:rPr>
                  <a:t> = imputations x telles 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dirty="0">
                    <a:latin typeface="Arial" panose="020B0604020202020204" pitchFamily="34" charset="0"/>
                  </a:rPr>
                  <a:t> </a:t>
                </a:r>
              </a:p>
              <a:p>
                <a:pPr lvl="2"/>
                <a:r>
                  <a:rPr lang="fr-FR" dirty="0">
                    <a:latin typeface="Arial" panose="020B0604020202020204" pitchFamily="34" charset="0"/>
                  </a:rPr>
                  <a:t>Grande coalition pas possible si noyau vide + noyau ne donne pas la répartition</a:t>
                </a:r>
              </a:p>
              <a:p>
                <a:pPr lvl="2"/>
                <a:r>
                  <a:rPr lang="fr-FR" b="1" dirty="0">
                    <a:latin typeface="Arial" panose="020B0604020202020204" pitchFamily="34" charset="0"/>
                  </a:rPr>
                  <a:t>Valeur de Shapley</a:t>
                </a:r>
                <a:r>
                  <a:rPr lang="fr-FR" dirty="0">
                    <a:latin typeface="Arial" panose="020B0604020202020204" pitchFamily="34" charset="0"/>
                  </a:rPr>
                  <a:t> = contribution marginale (avec – sans),  moyennée sur toutes les permutations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  <m:sup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fr-FR" dirty="0">
                  <a:latin typeface="Arial" panose="020B0604020202020204" pitchFamily="34" charset="0"/>
                </a:endParaRPr>
              </a:p>
              <a:p>
                <a:pPr lvl="2"/>
                <a:r>
                  <a:rPr lang="fr-FR" dirty="0">
                    <a:latin typeface="Arial" panose="020B0604020202020204" pitchFamily="34" charset="0"/>
                  </a:rPr>
                  <a:t>Axiomes d’</a:t>
                </a:r>
                <a:r>
                  <a:rPr lang="fr-FR" b="1" dirty="0">
                    <a:latin typeface="Arial" panose="020B0604020202020204" pitchFamily="34" charset="0"/>
                  </a:rPr>
                  <a:t>imputation juste</a:t>
                </a:r>
                <a:r>
                  <a:rPr lang="fr-FR" dirty="0">
                    <a:latin typeface="Arial" panose="020B0604020202020204" pitchFamily="34" charset="0"/>
                  </a:rPr>
                  <a:t> (Efficace, joueur nul pas récompensé, symétrie, additivité) </a:t>
                </a:r>
                <a:r>
                  <a:rPr lang="fr-FR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Shapley unique solution</a:t>
                </a:r>
                <a:endParaRPr lang="fr-FR" dirty="0">
                  <a:latin typeface="Arial" panose="020B0604020202020204" pitchFamily="34" charset="0"/>
                </a:endParaRPr>
              </a:p>
              <a:p>
                <a:pPr lvl="1"/>
                <a:r>
                  <a:rPr lang="fr-FR" dirty="0">
                    <a:latin typeface="Arial" panose="020B0604020202020204" pitchFamily="34" charset="0"/>
                  </a:rPr>
                  <a:t>Calculs</a:t>
                </a:r>
              </a:p>
              <a:p>
                <a:pPr lvl="2"/>
                <a:r>
                  <a:rPr lang="fr-FR" dirty="0">
                    <a:latin typeface="Arial" panose="020B0604020202020204" pitchFamily="34" charset="0"/>
                  </a:rPr>
                  <a:t>Difficulté de représentation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fr-FR" dirty="0">
                    <a:latin typeface="Arial" panose="020B0604020202020204" pitchFamily="34" charset="0"/>
                  </a:rPr>
                  <a:t> coalitions)</a:t>
                </a:r>
              </a:p>
              <a:p>
                <a:pPr lvl="2"/>
                <a:r>
                  <a:rPr lang="fr-FR" b="1" dirty="0">
                    <a:latin typeface="Arial" panose="020B0604020202020204" pitchFamily="34" charset="0"/>
                  </a:rPr>
                  <a:t>Réseaux de contribution marginale</a:t>
                </a:r>
              </a:p>
              <a:p>
                <a:pPr lvl="3"/>
                <a:r>
                  <a:rPr lang="fr-FR" dirty="0">
                    <a:latin typeface="Arial" panose="020B0604020202020204" pitchFamily="34" charset="0"/>
                  </a:rPr>
                  <a:t>Représentation compacte incomplète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fr-FR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v(C) par addition</a:t>
                </a:r>
              </a:p>
              <a:p>
                <a:pPr lvl="3"/>
                <a:r>
                  <a:rPr lang="fr-FR" dirty="0">
                    <a:latin typeface="Arial" panose="020B0604020202020204" pitchFamily="34" charset="0"/>
                  </a:rPr>
                  <a:t>Valeur de Shapley facile à calculer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fr-FR" dirty="0">
                  <a:latin typeface="Arial" panose="020B0604020202020204" pitchFamily="34" charset="0"/>
                </a:endParaRPr>
              </a:p>
              <a:p>
                <a:pPr lvl="3"/>
                <a:r>
                  <a:rPr lang="fr-FR" dirty="0">
                    <a:latin typeface="Arial" panose="020B0604020202020204" pitchFamily="34" charset="0"/>
                  </a:rPr>
                  <a:t>Version complète: C </a:t>
                </a:r>
                <a:r>
                  <a:rPr lang="fr-FR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 </a:t>
                </a:r>
                <a:r>
                  <a:rPr lang="fr-FR" dirty="0">
                    <a:latin typeface="Arial" panose="020B0604020202020204" pitchFamily="34" charset="0"/>
                  </a:rPr>
                  <a:t>propositions logiques </a:t>
                </a:r>
                <a:r>
                  <a:rPr lang="fr-FR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 plus difficile mais polynomial</a:t>
                </a:r>
                <a:endParaRPr lang="fr-FR" dirty="0">
                  <a:latin typeface="Arial" panose="020B0604020202020204" pitchFamily="34" charset="0"/>
                </a:endParaRPr>
              </a:p>
              <a:p>
                <a:pPr lvl="2"/>
                <a:r>
                  <a:rPr lang="fr-FR" dirty="0">
                    <a:latin typeface="Arial" panose="020B0604020202020204" pitchFamily="34" charset="0"/>
                  </a:rPr>
                  <a:t>Structures de coalition pour le meilleur </a:t>
                </a:r>
                <a:r>
                  <a:rPr lang="fr-FR" b="1" dirty="0">
                    <a:latin typeface="Arial" panose="020B0604020202020204" pitchFamily="34" charset="0"/>
                  </a:rPr>
                  <a:t>gain social</a:t>
                </a:r>
              </a:p>
              <a:p>
                <a:pPr lvl="3"/>
                <a:r>
                  <a:rPr lang="fr-FR" dirty="0">
                    <a:latin typeface="Arial" panose="020B0604020202020204" pitchFamily="34" charset="0"/>
                  </a:rPr>
                  <a:t>Exemple: Productivité: Maximisation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𝑠𝑤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𝐶𝑆</m:t>
                        </m:r>
                      </m:sub>
                      <m:sup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fr-FR" dirty="0">
                    <a:latin typeface="Arial" panose="020B0604020202020204" pitchFamily="34" charset="0"/>
                  </a:rPr>
                  <a:t> </a:t>
                </a:r>
              </a:p>
              <a:p>
                <a:pPr lvl="3"/>
                <a:r>
                  <a:rPr lang="fr-FR" dirty="0">
                    <a:latin typeface="Arial" panose="020B0604020202020204" pitchFamily="34" charset="0"/>
                  </a:rPr>
                  <a:t>Problème de partitionnement NP-Hard </a:t>
                </a:r>
              </a:p>
              <a:p>
                <a:pPr lvl="3"/>
                <a:r>
                  <a:rPr lang="fr-FR" dirty="0">
                    <a:latin typeface="Arial" panose="020B0604020202020204" pitchFamily="34" charset="0"/>
                  </a:rPr>
                  <a:t>mais de bons résultats avec une exploration limitée du </a:t>
                </a:r>
                <a:r>
                  <a:rPr lang="fr-FR" b="1" dirty="0">
                    <a:latin typeface="Arial" panose="020B0604020202020204" pitchFamily="34" charset="0"/>
                  </a:rPr>
                  <a:t>graphe de structure de coalition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66F01A5-714F-4C09-BB2D-293744FB98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  <a:blipFill>
                <a:blip r:embed="rId2"/>
                <a:stretch>
                  <a:fillRect t="-7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B1D10C-0415-4061-AAFE-0C2E8FA9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AF9CBC-0DE7-441A-86C9-95E6E505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54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Conception de mécanismes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8"/>
                <a:ext cx="8503920" cy="4797552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fr-FR" noProof="0" dirty="0"/>
                  <a:t>Théorie des jeux inverse</a:t>
                </a:r>
              </a:p>
              <a:p>
                <a:pPr lvl="1"/>
                <a:r>
                  <a:rPr lang="fr-FR" noProof="0" dirty="0"/>
                  <a:t>Si les agents sont rationnels, quelles sont les bonnes règles ?</a:t>
                </a:r>
              </a:p>
              <a:p>
                <a:pPr lvl="2"/>
                <a:r>
                  <a:rPr lang="fr-FR" noProof="0" dirty="0"/>
                  <a:t>pour maximiser une utilité globale?</a:t>
                </a:r>
              </a:p>
              <a:p>
                <a:pPr lvl="1"/>
                <a:r>
                  <a:rPr lang="fr-FR" noProof="0" dirty="0"/>
                  <a:t>Dans le cadre Bayésien d’information imparfaite</a:t>
                </a:r>
              </a:p>
              <a:p>
                <a:pPr lvl="2"/>
                <a:r>
                  <a:rPr lang="fr-FR" noProof="0" dirty="0"/>
                  <a:t>Le « principal » souhaite inciter les autres joueurs à révéler leur vraie utilité</a:t>
                </a:r>
              </a:p>
              <a:p>
                <a:r>
                  <a:rPr lang="fr-FR" dirty="0"/>
                  <a:t>Formalisme</a:t>
                </a:r>
              </a:p>
              <a:p>
                <a:pPr lvl="1"/>
                <a:r>
                  <a:rPr lang="fr-FR" noProof="0" dirty="0"/>
                  <a:t>Le principal choisit la structure de récompense y()</a:t>
                </a:r>
              </a:p>
              <a:p>
                <a:pPr lvl="1"/>
                <a:r>
                  <a:rPr lang="fr-FR" dirty="0"/>
                  <a:t>Les agents de type de profile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r-FR" dirty="0"/>
                  <a:t> déclarent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fr-FR" dirty="0"/>
              </a:p>
              <a:p>
                <a:pPr lvl="2"/>
                <a:r>
                  <a:rPr lang="fr-FR" noProof="0" dirty="0"/>
                  <a:t>Et peuvent mentir</a:t>
                </a:r>
              </a:p>
              <a:p>
                <a:pPr lvl="1"/>
                <a:r>
                  <a:rPr lang="fr-FR" dirty="0"/>
                  <a:t>Le principal considère une fonction de choix social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fr-FR" noProof="0" dirty="0"/>
                  <a:t>À implémenter par le mécanisme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noProof="0" dirty="0"/>
              </a:p>
              <a:p>
                <a:pPr lvl="1"/>
                <a:r>
                  <a:rPr lang="fr-FR" dirty="0"/>
                  <a:t>Question de la stratégie de déclaration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 importante</a:t>
                </a:r>
                <a:endParaRPr lang="fr-FR" noProof="0" dirty="0"/>
              </a:p>
              <a:p>
                <a:r>
                  <a:rPr lang="fr-FR" dirty="0"/>
                  <a:t>Principe de révélation</a:t>
                </a:r>
              </a:p>
              <a:p>
                <a:pPr lvl="1"/>
                <a:r>
                  <a:rPr lang="fr-FR" dirty="0"/>
                  <a:t>Mécanisme incitatif vérace ou </a:t>
                </a:r>
                <a:r>
                  <a:rPr lang="fr-FR" dirty="0" err="1"/>
                  <a:t>Insentive</a:t>
                </a:r>
                <a:r>
                  <a:rPr lang="fr-FR" dirty="0"/>
                  <a:t>-compatible (IC)</a:t>
                </a:r>
              </a:p>
              <a:p>
                <a:pPr lvl="2"/>
                <a:r>
                  <a:rPr lang="fr-FR" dirty="0"/>
                  <a:t>Non manipulable = </a:t>
                </a:r>
                <a:r>
                  <a:rPr lang="fr-FR" dirty="0" err="1"/>
                  <a:t>Strategy</a:t>
                </a:r>
                <a:r>
                  <a:rPr lang="fr-FR" dirty="0"/>
                  <a:t> proof et révélateur des vrais préférences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=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Principe: </a:t>
                </a:r>
              </a:p>
              <a:p>
                <a:pPr lvl="2"/>
                <a:r>
                  <a:rPr lang="fr-FR" dirty="0"/>
                  <a:t>S’il existe un mécanisme y implémentant une fonction de choix social f,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 </a:t>
                </a:r>
                <a:r>
                  <a:rPr lang="fr-FR" dirty="0"/>
                  <a:t>alors il existe une version IC</a:t>
                </a:r>
              </a:p>
              <a:p>
                <a:pPr lvl="1"/>
                <a:r>
                  <a:rPr lang="fr-FR" dirty="0"/>
                  <a:t>2 versions:</a:t>
                </a:r>
              </a:p>
              <a:p>
                <a:pPr lvl="2"/>
                <a:r>
                  <a:rPr lang="fr-FR" dirty="0"/>
                  <a:t>DSIC: Implémentation de f en stratégies dominantes </a:t>
                </a:r>
              </a:p>
              <a:p>
                <a:pPr lvl="2"/>
                <a:r>
                  <a:rPr lang="fr-FR" dirty="0"/>
                  <a:t>BNIC (Equilibre de Nash Bayésien): plus faible</a:t>
                </a:r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8"/>
                <a:ext cx="8503920" cy="4797552"/>
              </a:xfrm>
              <a:blipFill>
                <a:blip r:embed="rId2"/>
                <a:stretch>
                  <a:fillRect l="-72" t="-15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1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1CAC6F2-082F-4807-8007-5B24EA0E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Allocation de ressources par les enchères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ce réservé du contenu 7">
                <a:extLst>
                  <a:ext uri="{FF2B5EF4-FFF2-40B4-BE49-F238E27FC236}">
                    <a16:creationId xmlns:a16="http://schemas.microsoft.com/office/drawing/2014/main" id="{CA9741BF-6F5E-467D-9A5D-B6175BD9A0C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468437"/>
                <a:ext cx="8503920" cy="5008563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fr-FR" dirty="0"/>
                  <a:t>Enchères individuelles</a:t>
                </a:r>
              </a:p>
              <a:p>
                <a:pPr lvl="1"/>
                <a:r>
                  <a:rPr lang="fr-FR" dirty="0"/>
                  <a:t>Valeur privée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/>
                  <a:t> de l’objet par l’individu i</a:t>
                </a:r>
              </a:p>
              <a:p>
                <a:pPr lvl="1"/>
                <a:r>
                  <a:rPr lang="fr-FR" dirty="0"/>
                  <a:t>Enchère anglaise (prix de réserve puis ascendant)</a:t>
                </a:r>
              </a:p>
              <a:p>
                <a:pPr lvl="2"/>
                <a:r>
                  <a:rPr lang="fr-FR" dirty="0"/>
                  <a:t>Efficace mais risque de collusion</a:t>
                </a:r>
              </a:p>
              <a:p>
                <a:pPr lvl="2"/>
                <a:r>
                  <a:rPr lang="fr-FR" dirty="0"/>
                  <a:t>Ex: Droits du foot + téléphonie (20M€ vs 18,18M€)</a:t>
                </a:r>
              </a:p>
              <a:p>
                <a:pPr lvl="1"/>
                <a:r>
                  <a:rPr lang="fr-FR" dirty="0"/>
                  <a:t>Nécessité d’une stratégie dominante </a:t>
                </a:r>
                <a:r>
                  <a:rPr lang="fr-FR" dirty="0">
                    <a:sym typeface="Wingdings" panose="05000000000000000000" pitchFamily="2" charset="2"/>
                  </a:rPr>
                  <a:t> mécanisme « non stratégique »</a:t>
                </a:r>
                <a:endParaRPr lang="fr-FR" dirty="0"/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 Enchère de </a:t>
                </a:r>
                <a:r>
                  <a:rPr lang="fr-FR" dirty="0" err="1">
                    <a:sym typeface="Wingdings" panose="05000000000000000000" pitchFamily="2" charset="2"/>
                  </a:rPr>
                  <a:t>Vickrey</a:t>
                </a:r>
                <a:r>
                  <a:rPr lang="fr-FR" dirty="0">
                    <a:sym typeface="Wingdings" panose="05000000000000000000" pitchFamily="2" charset="2"/>
                  </a:rPr>
                  <a:t> (second prix)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Equilibres infinis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Equilibre de Nash </a:t>
                </a:r>
                <a:r>
                  <a:rPr lang="fr-FR" dirty="0"/>
                  <a:t>DSIC </a:t>
                </a:r>
                <a:r>
                  <a:rPr lang="fr-FR" dirty="0">
                    <a:sym typeface="Wingdings" panose="05000000000000000000" pitchFamily="2" charset="2"/>
                  </a:rPr>
                  <a:t>= chacun déclare la valeur « honnête »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cf. déviations pour gagnant et perdant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Très répandu: eBay, </a:t>
                </a:r>
                <a:r>
                  <a:rPr lang="fr-FR" dirty="0" err="1">
                    <a:sym typeface="Wingdings" panose="05000000000000000000" pitchFamily="2" charset="2"/>
                  </a:rPr>
                  <a:t>Adwords</a:t>
                </a:r>
                <a:r>
                  <a:rPr lang="fr-FR" dirty="0">
                    <a:sym typeface="Wingdings" panose="05000000000000000000" pitchFamily="2" charset="2"/>
                  </a:rPr>
                  <a:t> etc.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Théorème d’équivalence de revenue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est privée, le deuxième prix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 est l’espérance de revenue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Problème multi-items  1 seul mécanisme DSIC:  prix pondéré par les gains marginaux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Bien commun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Tragédie des communs (ex: pollution)  stratégie de pollution dominante mais pas optimale (Pareto)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Nécessité d’expliciter les externalités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Ex: taxe carbone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Mécanisme de </a:t>
                </a:r>
                <a:r>
                  <a:rPr lang="fr-FR" dirty="0" err="1">
                    <a:sym typeface="Wingdings" panose="05000000000000000000" pitchFamily="2" charset="2"/>
                  </a:rPr>
                  <a:t>Vickrey</a:t>
                </a:r>
                <a:r>
                  <a:rPr lang="fr-FR" dirty="0">
                    <a:sym typeface="Wingdings" panose="05000000000000000000" pitchFamily="2" charset="2"/>
                  </a:rPr>
                  <a:t>-Clarke-Groves (VCG)</a:t>
                </a:r>
              </a:p>
              <a:p>
                <a:pPr lvl="1"/>
                <a:r>
                  <a:rPr lang="fr-FR" dirty="0"/>
                  <a:t>N Enchérisseurs </a:t>
                </a:r>
                <a:r>
                  <a:rPr lang="fr-FR" dirty="0" err="1"/>
                  <a:t>e</a:t>
                </a:r>
                <a:r>
                  <a:rPr lang="fr-FR" baseline="-25000" dirty="0" err="1"/>
                  <a:t>i</a:t>
                </a:r>
                <a:r>
                  <a:rPr lang="fr-FR" dirty="0"/>
                  <a:t> déclarent leur utilité de M ressources </a:t>
                </a:r>
                <a:r>
                  <a:rPr lang="fr-FR" dirty="0" err="1"/>
                  <a:t>b</a:t>
                </a:r>
                <a:r>
                  <a:rPr lang="fr-FR" baseline="-25000" dirty="0" err="1"/>
                  <a:t>j</a:t>
                </a:r>
                <a:endParaRPr lang="fr-FR" baseline="-25000" dirty="0"/>
              </a:p>
              <a:p>
                <a:pPr lvl="1"/>
                <a:r>
                  <a:rPr lang="fr-FR" dirty="0"/>
                  <a:t>Allocation des ressources aux enchérisseurs A </a:t>
                </a:r>
              </a:p>
              <a:p>
                <a:pPr lvl="2"/>
                <a:r>
                  <a:rPr lang="fr-FR" dirty="0"/>
                  <a:t>tels que la somme B des utilités est maximale / B</a:t>
                </a:r>
                <a:r>
                  <a:rPr lang="fr-FR" baseline="-25000" dirty="0"/>
                  <a:t>-j</a:t>
                </a:r>
                <a:r>
                  <a:rPr lang="fr-FR" dirty="0"/>
                  <a:t> somme des utilités sans j</a:t>
                </a:r>
              </a:p>
              <a:p>
                <a:pPr lvl="2"/>
                <a:r>
                  <a:rPr lang="fr-FR" dirty="0"/>
                  <a:t>W</a:t>
                </a:r>
                <a:r>
                  <a:rPr lang="fr-FR" baseline="-25000" dirty="0"/>
                  <a:t>-i</a:t>
                </a:r>
                <a:r>
                  <a:rPr lang="fr-FR" dirty="0"/>
                  <a:t> allocation maximale si i n’est pas dans le jeu</a:t>
                </a:r>
              </a:p>
              <a:p>
                <a:pPr lvl="1"/>
                <a:r>
                  <a:rPr lang="fr-FR" dirty="0"/>
                  <a:t>Taxe </a:t>
                </a:r>
                <a:r>
                  <a:rPr lang="fr-FR" dirty="0" err="1"/>
                  <a:t>T</a:t>
                </a:r>
                <a:r>
                  <a:rPr lang="fr-FR" baseline="-25000" dirty="0" err="1"/>
                  <a:t>i,j</a:t>
                </a:r>
                <a:r>
                  <a:rPr lang="fr-FR" dirty="0"/>
                  <a:t> = </a:t>
                </a:r>
                <a:endParaRPr lang="fr-FR" baseline="-2500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8" name="Espace réservé du contenu 7">
                <a:extLst>
                  <a:ext uri="{FF2B5EF4-FFF2-40B4-BE49-F238E27FC236}">
                    <a16:creationId xmlns:a16="http://schemas.microsoft.com/office/drawing/2014/main" id="{CA9741BF-6F5E-467D-9A5D-B6175BD9A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468437"/>
                <a:ext cx="8503920" cy="5008563"/>
              </a:xfrm>
              <a:blipFill>
                <a:blip r:embed="rId2"/>
                <a:stretch>
                  <a:fillRect t="-10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9707FA-E258-4078-B009-EB393800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0E945E-22CC-4EA6-A070-DE4C356E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CDF9D0-F2CF-434D-931A-F58F3DF9AE5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40158FB-D803-4737-9CC4-DBABA9414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5650198"/>
            <a:ext cx="123825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3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4B4BD-AFA5-4799-89B8-DFB690ED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Allocation par les votes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1A6EDE-D0AB-4C7C-9F59-39DAABF728C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502615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fr-FR" dirty="0">
                    <a:hlinkClick r:id="rId2"/>
                  </a:rPr>
                  <a:t>Théorie du choix social</a:t>
                </a:r>
                <a:endParaRPr lang="fr-FR" dirty="0"/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 18è siècle: Adam Smith, Borda, Condorcet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Préférences individuelles rationnelles  </a:t>
                </a:r>
                <a:r>
                  <a:rPr lang="fr-FR" b="1" dirty="0">
                    <a:sym typeface="Wingdings" panose="05000000000000000000" pitchFamily="2" charset="2"/>
                  </a:rPr>
                  <a:t>Ordre de préférence social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Propriétés d’une bonne </a:t>
                </a:r>
                <a:r>
                  <a:rPr lang="fr-FR" b="1" dirty="0">
                    <a:sym typeface="Wingdings" panose="05000000000000000000" pitchFamily="2" charset="2"/>
                  </a:rPr>
                  <a:t>fonction de choix social</a:t>
                </a: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1 - Condition de Pareto / critère d’unanimité: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≻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FR" dirty="0"/>
                  <a:t>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i="0" dirty="0">
                    <a:latin typeface="+mj-lt"/>
                    <a:ea typeface="Cambria Math" panose="02040503050406030204" pitchFamily="18" charset="0"/>
                    <a:sym typeface="Wingdings" panose="05000000000000000000" pitchFamily="2" charset="2"/>
                  </a:rPr>
                  <a:t>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FR" dirty="0"/>
                  <a:t> pour tous les votants</a:t>
                </a:r>
              </a:p>
              <a:p>
                <a:pPr lvl="1"/>
                <a:r>
                  <a:rPr lang="fr-FR" dirty="0"/>
                  <a:t>2 - Indépendance des alternatives non pertinentes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≻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FR" dirty="0"/>
                  <a:t> est stable si une préférence non liée est changée</a:t>
                </a:r>
              </a:p>
              <a:p>
                <a:pPr lvl="1"/>
                <a:r>
                  <a:rPr lang="fr-FR" dirty="0"/>
                  <a:t>3 - Pas de dictature</a:t>
                </a:r>
              </a:p>
              <a:p>
                <a:pPr lvl="2"/>
                <a:r>
                  <a:rPr lang="fr-FR" dirty="0"/>
                  <a:t> les Préférences d’un votant ne doivent pas primer sur les autres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Série de résultats négatifs:</a:t>
                </a:r>
                <a:r>
                  <a:rPr lang="fr-FR" i="1" dirty="0">
                    <a:sym typeface="Wingdings" panose="05000000000000000000" pitchFamily="2" charset="2"/>
                  </a:rPr>
                  <a:t> </a:t>
                </a:r>
              </a:p>
              <a:p>
                <a:pPr lvl="1"/>
                <a:r>
                  <a:rPr lang="fr-FR" b="1" dirty="0">
                    <a:sym typeface="Wingdings" panose="05000000000000000000" pitchFamily="2" charset="2"/>
                  </a:rPr>
                  <a:t>Paradoxe de Condorcet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A,B,C  2/3 de mécontents</a:t>
                </a:r>
              </a:p>
              <a:p>
                <a:pPr lvl="1"/>
                <a:r>
                  <a:rPr lang="fr-FR" b="1" dirty="0"/>
                  <a:t>Théorème de Arrow</a:t>
                </a:r>
                <a:r>
                  <a:rPr lang="fr-FR" dirty="0"/>
                  <a:t>: </a:t>
                </a:r>
              </a:p>
              <a:p>
                <a:pPr lvl="2"/>
                <a:r>
                  <a:rPr lang="fr-FR" dirty="0"/>
                  <a:t>Impossible de satisfaire 1, 2 et 3 simultanément avec 3 options ou plus</a:t>
                </a:r>
              </a:p>
              <a:p>
                <a:pPr lvl="1"/>
                <a:r>
                  <a:rPr lang="fr-FR" b="1" dirty="0">
                    <a:sym typeface="Wingdings" panose="05000000000000000000" pitchFamily="2" charset="2"/>
                  </a:rPr>
                  <a:t>Théorème de </a:t>
                </a:r>
                <a:r>
                  <a:rPr lang="fr-FR" b="1" dirty="0" err="1">
                    <a:sym typeface="Wingdings" panose="05000000000000000000" pitchFamily="2" charset="2"/>
                  </a:rPr>
                  <a:t>Gibbard-Satterthwaite</a:t>
                </a:r>
                <a:endParaRPr lang="fr-FR" b="1" dirty="0"/>
              </a:p>
              <a:p>
                <a:pPr lvl="2"/>
                <a:r>
                  <a:rPr lang="fr-FR" dirty="0"/>
                  <a:t>Déclaration stratégique de mauvaises préférences? (= incitatif vérace? Ex: vote utile / par défaut)</a:t>
                </a:r>
              </a:p>
              <a:p>
                <a:pPr lvl="2"/>
                <a:r>
                  <a:rPr lang="fr-FR" dirty="0"/>
                  <a:t>Toute fonction de choix social déterministe avec la condition de Pareto avec plus de 2 choix est manipulable ou dictatoriale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 solutions stochastiques</a:t>
                </a: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1A6EDE-D0AB-4C7C-9F59-39DAABF72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5026153"/>
              </a:xfrm>
              <a:blipFill>
                <a:blip r:embed="rId3"/>
                <a:stretch>
                  <a:fillRect l="-287" t="-16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6E6ED0-75C7-476A-A43D-404E29C9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C2D153-B02C-4B97-AA6D-D8863899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01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DF971-F629-4255-86EB-A52FC628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Critère</a:t>
            </a:r>
            <a:r>
              <a:rPr lang="en-US" dirty="0"/>
              <a:t> de Condorcet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2CBDCD-C9F5-4D93-B8B6-21FD5BC0AF3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6022848" cy="4572000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Condition du </a:t>
            </a:r>
            <a:r>
              <a:rPr lang="fr-FR" b="1" dirty="0"/>
              <a:t>vainqueur de Condorcet</a:t>
            </a:r>
          </a:p>
          <a:p>
            <a:pPr lvl="1"/>
            <a:r>
              <a:rPr lang="fr-FR" dirty="0"/>
              <a:t>La meilleure aux autres options prises paire à paire</a:t>
            </a:r>
          </a:p>
          <a:p>
            <a:pPr lvl="2"/>
            <a:r>
              <a:rPr lang="fr-FR" dirty="0"/>
              <a:t>Exemple: </a:t>
            </a:r>
            <a:r>
              <a:rPr lang="fr-FR" dirty="0">
                <a:sym typeface="Wingdings" panose="05000000000000000000" pitchFamily="2" charset="2"/>
              </a:rPr>
              <a:t>Uninominal à 2 tours: Bayrou vainqueur de Condorcet mais pas au 2è tour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Théorème: </a:t>
            </a:r>
            <a:r>
              <a:rPr lang="fr-FR" b="1" dirty="0">
                <a:sym typeface="Wingdings" panose="05000000000000000000" pitchFamily="2" charset="2"/>
              </a:rPr>
              <a:t>Indifférence aux petits candidats</a:t>
            </a:r>
            <a:r>
              <a:rPr lang="fr-FR" dirty="0">
                <a:sym typeface="Wingdings" panose="05000000000000000000" pitchFamily="2" charset="2"/>
              </a:rPr>
              <a:t>: Vainqueur de Condorcet stable aux changements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Mais paradoxe de Condorcet: pas de garantie d’existence </a:t>
            </a:r>
          </a:p>
          <a:p>
            <a:pPr lvl="1"/>
            <a:r>
              <a:rPr lang="fr-FR" b="1" dirty="0">
                <a:sym typeface="Wingdings" panose="05000000000000000000" pitchFamily="2" charset="2"/>
              </a:rPr>
              <a:t>Théorèmes de l’électeur médian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1</a:t>
            </a:r>
            <a:r>
              <a:rPr lang="fr-FR" baseline="30000" dirty="0">
                <a:sym typeface="Wingdings" panose="05000000000000000000" pitchFamily="2" charset="2"/>
              </a:rPr>
              <a:t>er</a:t>
            </a:r>
            <a:r>
              <a:rPr lang="fr-FR" dirty="0">
                <a:sym typeface="Wingdings" panose="05000000000000000000" pitchFamily="2" charset="2"/>
              </a:rPr>
              <a:t> théorème: Gauche – droite  existence du vainqueur  électeur médian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2è théorème: Gauche – droite + valeur intrinsèque</a:t>
            </a:r>
          </a:p>
          <a:p>
            <a:r>
              <a:rPr lang="fr-FR" dirty="0">
                <a:sym typeface="Wingdings" panose="05000000000000000000" pitchFamily="2" charset="2"/>
              </a:rPr>
              <a:t>Si pas de vainqueur de Condorcet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Méthodes de Condorcet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 résolution si pas de vainqueur</a:t>
            </a:r>
          </a:p>
          <a:p>
            <a:pPr lvl="2"/>
            <a:r>
              <a:rPr lang="fr-FR" dirty="0">
                <a:sym typeface="Wingdings" panose="05000000000000000000" pitchFamily="2" charset="2"/>
                <a:hlinkClick r:id="rId2"/>
              </a:rPr>
              <a:t>Une ou deux méthodes</a:t>
            </a:r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dirty="0">
                <a:sym typeface="Wingdings" panose="05000000000000000000" pitchFamily="2" charset="2"/>
              </a:rPr>
              <a:t>Exemple à une méthode: Méthode </a:t>
            </a:r>
            <a:r>
              <a:rPr lang="fr-FR" b="1" dirty="0">
                <a:sym typeface="Wingdings" panose="05000000000000000000" pitchFamily="2" charset="2"/>
              </a:rPr>
              <a:t>Minimax</a:t>
            </a:r>
            <a:r>
              <a:rPr lang="fr-FR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Celui qui fait le mieux au pire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Mais très stratégique (ex: anarchistes)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Méthode de </a:t>
            </a:r>
            <a:r>
              <a:rPr lang="fr-FR" b="1" dirty="0"/>
              <a:t>Schulze</a:t>
            </a:r>
            <a:r>
              <a:rPr lang="fr-FR" dirty="0"/>
              <a:t>: </a:t>
            </a:r>
          </a:p>
          <a:p>
            <a:pPr lvl="2"/>
            <a:r>
              <a:rPr lang="fr-FR" dirty="0"/>
              <a:t>Elimination itérative des derniers du </a:t>
            </a:r>
            <a:r>
              <a:rPr lang="fr-FR" dirty="0">
                <a:sym typeface="Wingdings" panose="05000000000000000000" pitchFamily="2" charset="2"/>
              </a:rPr>
              <a:t>peloton</a:t>
            </a:r>
            <a:r>
              <a:rPr lang="fr-FR" dirty="0"/>
              <a:t> de tête </a:t>
            </a:r>
          </a:p>
          <a:p>
            <a:pPr lvl="2"/>
            <a:r>
              <a:rPr lang="fr-FR" dirty="0"/>
              <a:t>robuste à la manipulation (électeurs raisonnables)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6645741-92A8-4E9F-829F-069FD64D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EBC284-9F02-408A-B630-75AF952E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786D460-45A1-44F3-907E-29B486AB90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75" y="4880374"/>
            <a:ext cx="2838138" cy="11939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5C4A9F6-6E9E-4E5C-A3B7-89FBB177B4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061" y="1746004"/>
            <a:ext cx="1447800" cy="1024942"/>
          </a:xfrm>
          <a:prstGeom prst="rect">
            <a:avLst/>
          </a:prstGeom>
        </p:spPr>
      </p:pic>
      <p:pic>
        <p:nvPicPr>
          <p:cNvPr id="8" name="Image 7" descr="Une image contenant texte, horloge, périphérique&#10;&#10;Description générée automatiquement">
            <a:extLst>
              <a:ext uri="{FF2B5EF4-FFF2-40B4-BE49-F238E27FC236}">
                <a16:creationId xmlns:a16="http://schemas.microsoft.com/office/drawing/2014/main" id="{48E95884-EC7C-49A0-BED9-577E515547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487" y="3896684"/>
            <a:ext cx="2516288" cy="43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87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CF54A-16C9-472A-94BA-48D72AB4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Procédures de votes connues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F2A3A2-BC06-4BFF-9670-2A28E3B597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97552"/>
          </a:xfrm>
        </p:spPr>
        <p:txBody>
          <a:bodyPr>
            <a:normAutofit fontScale="40000" lnSpcReduction="20000"/>
          </a:bodyPr>
          <a:lstStyle/>
          <a:p>
            <a:r>
              <a:rPr lang="fr-FR" b="1" dirty="0"/>
              <a:t>Référendum</a:t>
            </a:r>
            <a:r>
              <a:rPr lang="fr-FR" dirty="0"/>
              <a:t>:  </a:t>
            </a:r>
          </a:p>
          <a:p>
            <a:pPr lvl="1"/>
            <a:r>
              <a:rPr lang="fr-FR" dirty="0"/>
              <a:t>2 options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méthode de la majorité robuste à la manipulation et c’est la seule</a:t>
            </a:r>
          </a:p>
          <a:p>
            <a:r>
              <a:rPr lang="fr-FR" dirty="0"/>
              <a:t>Vote pluraliste uninominal (n candidats)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 critiqué (vote utile + pas de préférences)</a:t>
            </a:r>
          </a:p>
          <a:p>
            <a:r>
              <a:rPr lang="fr-FR" dirty="0">
                <a:sym typeface="Wingdings" panose="05000000000000000000" pitchFamily="2" charset="2"/>
              </a:rPr>
              <a:t>Vote à second-tour instantané: Préférences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Si pas de majorité, élimination du dernier et second tour  pas de critère de Condorcet </a:t>
            </a:r>
          </a:p>
          <a:p>
            <a:r>
              <a:rPr lang="fr-FR" dirty="0">
                <a:sym typeface="Wingdings" panose="05000000000000000000" pitchFamily="2" charset="2"/>
              </a:rPr>
              <a:t>Méthode de Condorcet: vote à règle de vrai majorité: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Préférences complètes, puis comparaisons paires à paires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 bons résultats mais ne marche pas tout le temps (paradoxe de Condorcet)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 Méthodes de Condorcet  </a:t>
            </a:r>
            <a:r>
              <a:rPr lang="fr-FR" dirty="0" err="1">
                <a:sym typeface="Wingdings" panose="05000000000000000000" pitchFamily="2" charset="2"/>
              </a:rPr>
              <a:t>Shulze</a:t>
            </a:r>
            <a:endParaRPr lang="fr-FR" dirty="0"/>
          </a:p>
          <a:p>
            <a:r>
              <a:rPr lang="fr-FR" dirty="0"/>
              <a:t>Méthodes utilitaristes:</a:t>
            </a:r>
          </a:p>
          <a:p>
            <a:pPr lvl="1"/>
            <a:r>
              <a:rPr lang="fr-FR" dirty="0"/>
              <a:t>Compte de Borda </a:t>
            </a:r>
            <a:r>
              <a:rPr lang="fr-FR" dirty="0">
                <a:sym typeface="Wingdings" panose="05000000000000000000" pitchFamily="2" charset="2"/>
              </a:rPr>
              <a:t> préférences, score = ordre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Manipulable</a:t>
            </a:r>
          </a:p>
          <a:p>
            <a:pPr lvl="1"/>
            <a:r>
              <a:rPr lang="fr-FR" b="1" dirty="0">
                <a:sym typeface="Wingdings" panose="05000000000000000000" pitchFamily="2" charset="2"/>
              </a:rPr>
              <a:t>Vote par assentiment</a:t>
            </a:r>
            <a:r>
              <a:rPr lang="fr-FR" dirty="0">
                <a:sym typeface="Wingdings" panose="05000000000000000000" pitchFamily="2" charset="2"/>
              </a:rPr>
              <a:t>  élimination, majorité d’approbation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Théorème de robustesse au mensonge: suffrage sincère stratégique</a:t>
            </a:r>
          </a:p>
          <a:p>
            <a:pPr lvl="1"/>
            <a:r>
              <a:rPr lang="fr-FR" b="1" dirty="0">
                <a:sym typeface="Wingdings" panose="05000000000000000000" pitchFamily="2" charset="2"/>
              </a:rPr>
              <a:t>Scrutin au jugement majoritaire</a:t>
            </a:r>
            <a:r>
              <a:rPr lang="fr-FR" dirty="0">
                <a:sym typeface="Wingdings" panose="05000000000000000000" pitchFamily="2" charset="2"/>
              </a:rPr>
              <a:t>: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Médiane des scores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Seule procédure vérifiant 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majorité d’une même note validée 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et monotonie au changement individuel</a:t>
            </a:r>
          </a:p>
          <a:p>
            <a:r>
              <a:rPr lang="fr-FR" dirty="0">
                <a:sym typeface="Wingdings" panose="05000000000000000000" pitchFamily="2" charset="2"/>
              </a:rPr>
              <a:t>Scrutins stochastiques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Scrutin </a:t>
            </a:r>
            <a:r>
              <a:rPr lang="fr-FR" dirty="0" err="1">
                <a:sym typeface="Wingdings" panose="05000000000000000000" pitchFamily="2" charset="2"/>
              </a:rPr>
              <a:t>Stochocratique</a:t>
            </a:r>
            <a:r>
              <a:rPr lang="fr-FR" dirty="0">
                <a:sym typeface="Wingdings" panose="05000000000000000000" pitchFamily="2" charset="2"/>
              </a:rPr>
              <a:t>: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Option préférée puis tirage au sort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Théorème d’</a:t>
            </a:r>
            <a:r>
              <a:rPr lang="fr-FR" dirty="0" err="1">
                <a:sym typeface="Wingdings" panose="05000000000000000000" pitchFamily="2" charset="2"/>
              </a:rPr>
              <a:t>Hylland</a:t>
            </a:r>
            <a:r>
              <a:rPr lang="fr-FR" dirty="0">
                <a:sym typeface="Wingdings" panose="05000000000000000000" pitchFamily="2" charset="2"/>
              </a:rPr>
              <a:t> de « la dictature aléatoire »: 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Seul méthode avec critère d’unanimité non stratégique</a:t>
            </a:r>
          </a:p>
          <a:p>
            <a:pPr lvl="1"/>
            <a:r>
              <a:rPr lang="fr-FR" b="1" dirty="0">
                <a:sym typeface="Wingdings" panose="05000000000000000000" pitchFamily="2" charset="2"/>
              </a:rPr>
              <a:t>Méthode de Condorcet randomisée</a:t>
            </a:r>
            <a:r>
              <a:rPr lang="fr-FR" dirty="0">
                <a:sym typeface="Wingdings" panose="05000000000000000000" pitchFamily="2" charset="2"/>
              </a:rPr>
              <a:t>: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Loterie pondérée dans le peloton de tête: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Pondération selon équilibre de Nash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Ex: Shifumi 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Critère de Condorcet et Non stratégique (seul)</a:t>
            </a:r>
          </a:p>
          <a:p>
            <a:r>
              <a:rPr lang="fr-FR" dirty="0">
                <a:sym typeface="Wingdings" panose="05000000000000000000" pitchFamily="2" charset="2"/>
                <a:hlinkClick r:id="rId2"/>
              </a:rPr>
              <a:t>Comparaison détaillée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  <a:hlinkClick r:id="rId3"/>
              </a:rPr>
              <a:t>Articles et démonstrations</a:t>
            </a:r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4DA5AC-8A48-43F7-91B9-6EDCC76F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22EB28-56C9-42D3-9EE7-573A70CA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8A1631-22E3-4D12-96B9-590FD9119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720" y="2982377"/>
            <a:ext cx="2066952" cy="1191696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4681276-0306-48C0-AA26-A394EEF0A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784" y="4330964"/>
            <a:ext cx="3125888" cy="1066054"/>
          </a:xfrm>
          <a:prstGeom prst="rect">
            <a:avLst/>
          </a:prstGeom>
        </p:spPr>
      </p:pic>
      <p:pic>
        <p:nvPicPr>
          <p:cNvPr id="9" name="Image 8" descr="Une image contenant texte, vert, équipement électronique&#10;&#10;Description générée automatiquement">
            <a:extLst>
              <a:ext uri="{FF2B5EF4-FFF2-40B4-BE49-F238E27FC236}">
                <a16:creationId xmlns:a16="http://schemas.microsoft.com/office/drawing/2014/main" id="{DEF6D285-9B8F-4B00-BEB6-8FFD93610A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5553909"/>
            <a:ext cx="4105275" cy="1231583"/>
          </a:xfrm>
          <a:prstGeom prst="rect">
            <a:avLst/>
          </a:prstGeom>
        </p:spPr>
      </p:pic>
      <p:pic>
        <p:nvPicPr>
          <p:cNvPr id="11" name="Image 10" descr="Une image contenant table&#10;&#10;Description générée automatiquement">
            <a:extLst>
              <a:ext uri="{FF2B5EF4-FFF2-40B4-BE49-F238E27FC236}">
                <a16:creationId xmlns:a16="http://schemas.microsoft.com/office/drawing/2014/main" id="{032DBEFA-CD14-4383-AF72-C16D5E8613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510" y="3105265"/>
            <a:ext cx="1144210" cy="1071562"/>
          </a:xfrm>
          <a:prstGeom prst="rect">
            <a:avLst/>
          </a:prstGeom>
        </p:spPr>
      </p:pic>
      <p:pic>
        <p:nvPicPr>
          <p:cNvPr id="13" name="Image 12" descr="Une image contenant table&#10;&#10;Description générée automatiquement">
            <a:extLst>
              <a:ext uri="{FF2B5EF4-FFF2-40B4-BE49-F238E27FC236}">
                <a16:creationId xmlns:a16="http://schemas.microsoft.com/office/drawing/2014/main" id="{205A43AF-9B51-4B83-993B-532812C6B3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504" y="4337436"/>
            <a:ext cx="984280" cy="1055864"/>
          </a:xfrm>
          <a:prstGeom prst="rect">
            <a:avLst/>
          </a:prstGeom>
        </p:spPr>
      </p:pic>
      <p:pic>
        <p:nvPicPr>
          <p:cNvPr id="15" name="Image 14" descr="Une image contenant table&#10;&#10;Description générée automatiquement">
            <a:extLst>
              <a:ext uri="{FF2B5EF4-FFF2-40B4-BE49-F238E27FC236}">
                <a16:creationId xmlns:a16="http://schemas.microsoft.com/office/drawing/2014/main" id="{85E83B13-D9E4-4AA1-9FD0-7F80205337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5816127"/>
            <a:ext cx="908081" cy="97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16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B8D70B-ACA7-4C53-B0CA-8B6BCA61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Allocation par la négociation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33AE35B-FFC7-41A4-8B10-DA4871AA5A1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fr-FR" dirty="0"/>
                  <a:t>Modèle des offres alternées</a:t>
                </a:r>
              </a:p>
              <a:p>
                <a:pPr lvl="1"/>
                <a:r>
                  <a:rPr lang="fr-FR" dirty="0"/>
                  <a:t>Protocole courant</a:t>
                </a:r>
              </a:p>
              <a:p>
                <a:pPr lvl="2"/>
                <a:r>
                  <a:rPr lang="fr-FR" dirty="0"/>
                  <a:t>Si pas d’accord: Accord de conflit</a:t>
                </a:r>
              </a:p>
              <a:p>
                <a:pPr lvl="3"/>
                <a:r>
                  <a:rPr lang="fr-FR" dirty="0">
                    <a:sym typeface="Wingdings" panose="05000000000000000000" pitchFamily="2" charset="2"/>
                  </a:rPr>
                  <a:t> Fenêtre de négociation (e.g. salaire)</a:t>
                </a:r>
                <a:endParaRPr lang="fr-FR" dirty="0"/>
              </a:p>
              <a:p>
                <a:pPr lvl="2"/>
                <a:r>
                  <a:rPr lang="fr-FR" dirty="0"/>
                  <a:t>Ex: division d’un part x;1-x</a:t>
                </a:r>
              </a:p>
              <a:p>
                <a:pPr lvl="1"/>
                <a:r>
                  <a:rPr lang="fr-FR" dirty="0"/>
                  <a:t>Nombre de manches ?</a:t>
                </a:r>
              </a:p>
              <a:p>
                <a:pPr lvl="2"/>
                <a:r>
                  <a:rPr lang="fr-FR" dirty="0"/>
                  <a:t>1 manche: Ultimatum: J1 a tout le pouvoir</a:t>
                </a:r>
              </a:p>
              <a:p>
                <a:pPr lvl="2"/>
                <a:r>
                  <a:rPr lang="fr-FR" dirty="0"/>
                  <a:t>2 manches: J2 a tout le pouvoir</a:t>
                </a:r>
              </a:p>
              <a:p>
                <a:pPr lvl="2"/>
                <a:r>
                  <a:rPr lang="fr-FR" dirty="0"/>
                  <a:t>N manches: JN a le pouvoir</a:t>
                </a:r>
              </a:p>
              <a:p>
                <a:pPr lvl="1"/>
                <a:r>
                  <a:rPr lang="fr-FR" dirty="0"/>
                  <a:t>Agents impatients</a:t>
                </a:r>
              </a:p>
              <a:p>
                <a:pPr lvl="2"/>
                <a:r>
                  <a:rPr lang="fr-FR" dirty="0"/>
                  <a:t>Hypothèse: J1 et J2 préfèrent x à t1&lt;t2 qu’à t2</a:t>
                </a:r>
              </a:p>
              <a:p>
                <a:pPr lvl="3"/>
                <a:r>
                  <a:rPr lang="fr-FR" dirty="0"/>
                  <a:t>Ex: Facteurs de discompte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endParaRPr lang="fr-FR" dirty="0"/>
              </a:p>
              <a:p>
                <a:pPr lvl="3"/>
                <a:r>
                  <a:rPr lang="fr-FR" dirty="0"/>
                  <a:t>Offre à l’équilibre de Nash: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fr-FR" b="0" dirty="0"/>
              </a:p>
              <a:p>
                <a:r>
                  <a:rPr lang="fr-FR" dirty="0"/>
                  <a:t>Domaines orientés taches</a:t>
                </a:r>
              </a:p>
              <a:p>
                <a:pPr lvl="1"/>
                <a:r>
                  <a:rPr lang="fr-FR" dirty="0"/>
                  <a:t>Offres (T1, T2) de répartitions de tâches parmi T</a:t>
                </a:r>
              </a:p>
              <a:p>
                <a:pPr lvl="2"/>
                <a:r>
                  <a:rPr lang="fr-FR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Protocole de concession monotone</a:t>
                </a:r>
              </a:p>
              <a:p>
                <a:pPr lvl="2"/>
                <a:r>
                  <a:rPr lang="fr-FR" dirty="0"/>
                  <a:t>1</a:t>
                </a:r>
                <a:r>
                  <a:rPr lang="fr-FR" baseline="30000" dirty="0"/>
                  <a:t>ère</a:t>
                </a:r>
                <a:r>
                  <a:rPr lang="fr-FR" dirty="0"/>
                  <a:t> manche, Offres simultanées Di = (T1, T2)</a:t>
                </a:r>
              </a:p>
              <a:p>
                <a:pPr lvl="2"/>
                <a:r>
                  <a:rPr lang="fr-FR" dirty="0"/>
                  <a:t>Accord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ou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fr-FR" dirty="0"/>
              </a:p>
              <a:p>
                <a:pPr lvl="3"/>
                <a:r>
                  <a:rPr lang="fr-FR" dirty="0"/>
                  <a:t>Si un seul </a:t>
                </a:r>
                <a:r>
                  <a:rPr lang="fr-FR" dirty="0">
                    <a:sym typeface="Wingdings" panose="05000000000000000000" pitchFamily="2" charset="2"/>
                  </a:rPr>
                  <a:t> deal, sinon tirage au sort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Sinon, nouvelle manche: maintient ou concession</a:t>
                </a:r>
              </a:p>
              <a:p>
                <a:pPr lvl="2"/>
                <a:r>
                  <a:rPr lang="fr-FR" dirty="0">
                    <a:sym typeface="Wingdings" panose="05000000000000000000" pitchFamily="2" charset="2"/>
                  </a:rPr>
                  <a:t>Si plus de Concession: accord de conflit</a:t>
                </a:r>
              </a:p>
              <a:p>
                <a:r>
                  <a:rPr lang="fr-FR" dirty="0">
                    <a:sym typeface="Wingdings" panose="05000000000000000000" pitchFamily="2" charset="2"/>
                  </a:rPr>
                  <a:t>Stratégie de </a:t>
                </a:r>
                <a:r>
                  <a:rPr lang="fr-FR" dirty="0" err="1">
                    <a:sym typeface="Wingdings" panose="05000000000000000000" pitchFamily="2" charset="2"/>
                  </a:rPr>
                  <a:t>Zeuthen</a:t>
                </a:r>
                <a:endParaRPr lang="fr-FR" dirty="0">
                  <a:sym typeface="Wingdings" panose="05000000000000000000" pitchFamily="2" charset="2"/>
                </a:endParaRP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Mesure de l’aversion au risque de conflit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𝑅𝑖𝑠𝑘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𝑈𝑡𝑖𝑙𝑖𝑡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é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𝑝𝑒𝑟𝑑𝑢𝑒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𝑝𝑎𝑟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𝑎𝑐𝑐𝑒𝑝𝑡𝑎𝑛𝑡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𝑜𝑓𝑓𝑟𝑒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𝑙𝑎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𝑚𝑎𝑛𝑐h𝑒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𝑈𝑡𝑖𝑙𝑖𝑡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é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𝑝𝑒𝑟𝑑𝑢𝑒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𝑝𝑎𝑟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𝑟𝑒𝑓𝑢𝑠𝑎𝑛𝑡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𝑎𝑣𝑒𝑐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𝑎𝑐𝑐𝑜𝑟𝑑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𝑐𝑜𝑛𝑓𝑙𝑖𝑡</m:t>
                        </m:r>
                      </m:den>
                    </m:f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1</a:t>
                </a:r>
                <a:r>
                  <a:rPr lang="fr-FR" baseline="30000" dirty="0"/>
                  <a:t>ère</a:t>
                </a:r>
                <a:r>
                  <a:rPr lang="fr-FR" dirty="0"/>
                  <a:t> manche maximisation de l’utilité individuelle</a:t>
                </a:r>
              </a:p>
              <a:p>
                <a:pPr lvl="1"/>
                <a:r>
                  <a:rPr lang="fr-FR" dirty="0"/>
                  <a:t>Puis  le risque plus faible concède, sinon tirage au sort</a:t>
                </a:r>
              </a:p>
              <a:p>
                <a:pPr lvl="1"/>
                <a:r>
                  <a:rPr lang="fr-FR" dirty="0"/>
                  <a:t>Valeur concédée = la plus faible pour inverser l’ordre des risques au tour suivant</a:t>
                </a:r>
              </a:p>
              <a:p>
                <a:pPr lvl="1"/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33AE35B-FFC7-41A4-8B10-DA4871AA5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1752" y="1527047"/>
                <a:ext cx="8503920" cy="4883277"/>
              </a:xfrm>
              <a:blipFill>
                <a:blip r:embed="rId2"/>
                <a:stretch>
                  <a:fillRect t="-7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4A3D50-3B63-422A-99FC-77D92F1B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688E58-348F-472B-BD56-CF0CBEC9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4CC1C0D-8C25-4F57-A158-7C14E267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374" y="1676400"/>
            <a:ext cx="2168226" cy="78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2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CF83C-1930-45FA-A7D5-104BDD49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Théorie de la négociation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B5A13-B188-4D6F-B510-93D777CF19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Démarche</a:t>
            </a:r>
          </a:p>
          <a:p>
            <a:pPr lvl="1"/>
            <a:r>
              <a:rPr lang="fr-FR" dirty="0"/>
              <a:t>Hypothèses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Modèles de jeux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 Equilibres et pouvoirs de négociation</a:t>
            </a:r>
          </a:p>
          <a:p>
            <a:r>
              <a:rPr lang="fr-FR" dirty="0">
                <a:sym typeface="Wingdings" panose="05000000000000000000" pitchFamily="2" charset="2"/>
              </a:rPr>
              <a:t>Sources du pouvoir de négociation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Pouvoir de proposition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Patience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Options alternatives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Connaissance de l’autre utilité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Monopole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Réputation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Engagement crédible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Signalement coûteux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993865-BD16-48CF-BF52-C9E29376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8AE7D5-41F7-4BC9-81CE-CACD3413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0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3380653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Jeux différentiels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5049" y="1508127"/>
                <a:ext cx="8534400" cy="4902198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fr-FR" dirty="0"/>
                  <a:t>= Théorie des jeux + théorie du contrôle</a:t>
                </a:r>
              </a:p>
              <a:p>
                <a:pPr lvl="1"/>
                <a:r>
                  <a:rPr lang="fr-FR" noProof="0" dirty="0"/>
                  <a:t>Interdépendance</a:t>
                </a:r>
              </a:p>
              <a:p>
                <a:pPr lvl="2"/>
                <a:r>
                  <a:rPr lang="fr-FR" dirty="0"/>
                  <a:t>Agents économiques, pollution, marchés etc.</a:t>
                </a:r>
                <a:endParaRPr lang="fr-FR" noProof="0" dirty="0"/>
              </a:p>
              <a:p>
                <a:pPr lvl="1"/>
                <a:r>
                  <a:rPr lang="fr-FR" dirty="0"/>
                  <a:t>Dynamique</a:t>
                </a:r>
              </a:p>
              <a:p>
                <a:pPr lvl="2"/>
                <a:r>
                  <a:rPr lang="fr-FR" dirty="0"/>
                  <a:t>Habitudes, technologies, accumulations, </a:t>
                </a:r>
                <a:r>
                  <a:rPr lang="fr-FR" dirty="0" err="1"/>
                  <a:t>traffic</a:t>
                </a:r>
                <a:r>
                  <a:rPr lang="fr-FR" dirty="0"/>
                  <a:t>, etc.</a:t>
                </a:r>
              </a:p>
              <a:p>
                <a:pPr lvl="1"/>
                <a:r>
                  <a:rPr lang="fr-FR" noProof="0" dirty="0"/>
                  <a:t>Comportement stratégique</a:t>
                </a:r>
              </a:p>
              <a:p>
                <a:pPr lvl="2"/>
                <a:r>
                  <a:rPr lang="fr-FR" dirty="0"/>
                  <a:t>Buts antagonistes, choix</a:t>
                </a:r>
              </a:p>
              <a:p>
                <a:r>
                  <a:rPr lang="fr-FR" dirty="0"/>
                  <a:t>Définitions</a:t>
                </a:r>
              </a:p>
              <a:p>
                <a:pPr lvl="1"/>
                <a:r>
                  <a:rPr lang="fr-FR" dirty="0"/>
                  <a:t>Joueurs M={1,…,m}, Vecteur de contrôle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(t discret ou continu)</a:t>
                </a:r>
              </a:p>
              <a:p>
                <a:pPr lvl="1"/>
                <a:r>
                  <a:rPr lang="fr-FR" dirty="0"/>
                  <a:t>Vecteur d’état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Equation d’état: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Fonction de gain du joueur j: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–L(u) (</a:t>
                </a:r>
                <a:r>
                  <a:rPr lang="fr-FR" dirty="0" err="1"/>
                  <a:t>Loss</a:t>
                </a:r>
                <a:r>
                  <a:rPr lang="fr-FR" dirty="0"/>
                  <a:t>) </a:t>
                </a:r>
                <a:r>
                  <a:rPr lang="fr-FR" dirty="0">
                    <a:sym typeface="Wingdings" panose="05000000000000000000" pitchFamily="2" charset="2"/>
                  </a:rPr>
                  <a:t> Minimisation de L</a:t>
                </a: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Hypothèses</a:t>
                </a:r>
              </a:p>
              <a:p>
                <a:pPr lvl="1"/>
                <a:r>
                  <a:rPr lang="fr-FR" dirty="0"/>
                  <a:t>Trajectoires dans l’espace admissible</a:t>
                </a:r>
              </a:p>
              <a:p>
                <a:pPr lvl="1"/>
                <a:r>
                  <a:rPr lang="fr-FR" dirty="0"/>
                  <a:t>Fonctions f, g, </a:t>
                </a:r>
                <a:r>
                  <a:rPr lang="fr-FR" dirty="0" err="1"/>
                  <a:t>S</a:t>
                </a:r>
                <a:r>
                  <a:rPr lang="fr-FR" baseline="-25000" dirty="0" err="1"/>
                  <a:t>j</a:t>
                </a:r>
                <a:r>
                  <a:rPr lang="fr-FR" dirty="0"/>
                  <a:t> continument différentiables en x, u et t.</a:t>
                </a:r>
              </a:p>
              <a:p>
                <a:pPr lvl="1"/>
                <a:r>
                  <a:rPr lang="fr-FR" dirty="0" err="1"/>
                  <a:t>u</a:t>
                </a:r>
                <a:r>
                  <a:rPr lang="fr-FR" baseline="-25000" dirty="0" err="1"/>
                  <a:t>j</a:t>
                </a:r>
                <a:r>
                  <a:rPr lang="fr-FR" dirty="0"/>
                  <a:t>(t) invariant ou dépendant de x(t) et des autres joueurs</a:t>
                </a:r>
              </a:p>
              <a:p>
                <a:pPr lvl="1"/>
                <a:r>
                  <a:rPr lang="fr-FR" dirty="0"/>
                  <a:t>Horizon T fini ou infini, prédéfini ou endogène (</a:t>
                </a:r>
                <a:r>
                  <a:rPr lang="fr-FR" dirty="0" err="1"/>
                  <a:t>e.g</a:t>
                </a:r>
                <a:r>
                  <a:rPr lang="fr-FR" dirty="0"/>
                  <a:t> poursuite/évasion)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dirty="0"/>
                  <a:t> admet une solution unique pour tout vecteur de stratégies fixé</a:t>
                </a:r>
              </a:p>
              <a:p>
                <a:r>
                  <a:rPr lang="fr-FR" dirty="0"/>
                  <a:t>Structure de l’information</a:t>
                </a:r>
              </a:p>
              <a:p>
                <a:pPr lvl="1"/>
                <a:r>
                  <a:rPr lang="fr-FR" dirty="0"/>
                  <a:t>Boucle ouverte: conditions initiales + temps: Stratégie de boucle ouverte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dirty="0"/>
                  <a:t>,t)</a:t>
                </a:r>
              </a:p>
              <a:p>
                <a:pPr lvl="1"/>
                <a:r>
                  <a:rPr lang="fr-FR" dirty="0"/>
                  <a:t>Markovienne du premier ordre: Stratégie markovienne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) linéaire, quadratique, seuil</a:t>
                </a:r>
              </a:p>
              <a:p>
                <a:pPr lvl="2"/>
                <a:r>
                  <a:rPr lang="fr-FR" dirty="0"/>
                  <a:t>Non Markovienne: Utilisation de l’historique</a:t>
                </a:r>
              </a:p>
              <a:p>
                <a:pPr lvl="1"/>
                <a:r>
                  <a:rPr lang="fr-FR" dirty="0"/>
                  <a:t>Hiérarchique: Le leader annonce sa stratégie</a:t>
                </a:r>
              </a:p>
              <a:p>
                <a:pPr lvl="1"/>
                <a:endParaRPr lang="fr-FR" dirty="0"/>
              </a:p>
              <a:p>
                <a:endParaRPr lang="fr-FR" dirty="0"/>
              </a:p>
              <a:p>
                <a:pPr lvl="2"/>
                <a:endParaRPr lang="fr-FR" dirty="0"/>
              </a:p>
              <a:p>
                <a:pPr lvl="2"/>
                <a:endParaRPr lang="fr-FR" noProof="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5049" y="1508127"/>
                <a:ext cx="8534400" cy="4902198"/>
              </a:xfrm>
              <a:blipFill>
                <a:blip r:embed="rId2"/>
                <a:stretch>
                  <a:fillRect l="-286" t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6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5EB261-66CD-4502-B9C0-5705E07B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Equilibres différentiels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D12249-2AE0-4A4A-8CBF-CD9E822E9C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Contexte</a:t>
            </a:r>
          </a:p>
          <a:p>
            <a:pPr lvl="1"/>
            <a:r>
              <a:rPr lang="fr-FR" dirty="0"/>
              <a:t>Equilibres de Nash pour jeux à somme nulle</a:t>
            </a:r>
          </a:p>
          <a:p>
            <a:pPr lvl="2"/>
            <a:r>
              <a:rPr lang="fr-FR" dirty="0"/>
              <a:t>J</a:t>
            </a:r>
            <a:r>
              <a:rPr lang="fr-FR" baseline="-25000" dirty="0"/>
              <a:t>1</a:t>
            </a:r>
            <a:r>
              <a:rPr lang="fr-FR" dirty="0"/>
              <a:t>(u</a:t>
            </a:r>
            <a:r>
              <a:rPr lang="fr-FR" baseline="-25000" dirty="0"/>
              <a:t>1</a:t>
            </a:r>
            <a:r>
              <a:rPr lang="fr-FR" dirty="0"/>
              <a:t>,u</a:t>
            </a:r>
            <a:r>
              <a:rPr lang="fr-FR" baseline="-25000" dirty="0"/>
              <a:t>2</a:t>
            </a:r>
            <a:r>
              <a:rPr lang="fr-FR" dirty="0"/>
              <a:t>) + J</a:t>
            </a:r>
            <a:r>
              <a:rPr lang="fr-FR" baseline="-25000" dirty="0"/>
              <a:t>2</a:t>
            </a:r>
            <a:r>
              <a:rPr lang="fr-FR" dirty="0"/>
              <a:t>(u</a:t>
            </a:r>
            <a:r>
              <a:rPr lang="fr-FR" baseline="-25000" dirty="0"/>
              <a:t>1</a:t>
            </a:r>
            <a:r>
              <a:rPr lang="fr-FR" dirty="0"/>
              <a:t>,u</a:t>
            </a:r>
            <a:r>
              <a:rPr lang="fr-FR" baseline="-25000" dirty="0"/>
              <a:t>2</a:t>
            </a:r>
            <a:r>
              <a:rPr lang="fr-FR" dirty="0"/>
              <a:t>) = 0</a:t>
            </a:r>
          </a:p>
          <a:p>
            <a:pPr lvl="2"/>
            <a:r>
              <a:rPr lang="fr-FR" dirty="0"/>
              <a:t>Equilibres de point de selle</a:t>
            </a:r>
          </a:p>
          <a:p>
            <a:pPr lvl="3"/>
            <a:r>
              <a:rPr lang="fr-FR" dirty="0"/>
              <a:t>P1 maximise, P2 minimise</a:t>
            </a:r>
          </a:p>
          <a:p>
            <a:pPr lvl="3"/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Equilibre </a:t>
            </a:r>
            <a:r>
              <a:rPr lang="fr-FR" dirty="0" err="1">
                <a:sym typeface="Wingdings" panose="05000000000000000000" pitchFamily="2" charset="2"/>
              </a:rPr>
              <a:t>ssi</a:t>
            </a:r>
            <a:r>
              <a:rPr lang="fr-FR" dirty="0">
                <a:sym typeface="Wingdings" panose="05000000000000000000" pitchFamily="2" charset="2"/>
              </a:rPr>
              <a:t> point de selle existe</a:t>
            </a:r>
            <a:endParaRPr lang="fr-FR" dirty="0"/>
          </a:p>
          <a:p>
            <a:pPr lvl="1"/>
            <a:r>
              <a:rPr lang="fr-FR" dirty="0"/>
              <a:t>Equilibres de Stackelberg</a:t>
            </a:r>
          </a:p>
          <a:p>
            <a:pPr lvl="2"/>
            <a:r>
              <a:rPr lang="fr-FR" dirty="0"/>
              <a:t>Le « leader » annonce</a:t>
            </a:r>
          </a:p>
          <a:p>
            <a:pPr lvl="3"/>
            <a:r>
              <a:rPr lang="fr-FR" dirty="0"/>
              <a:t>En tenant compte du fait que les autres maximisent leur réponse</a:t>
            </a:r>
          </a:p>
          <a:p>
            <a:pPr lvl="1"/>
            <a:r>
              <a:rPr lang="fr-FR" dirty="0"/>
              <a:t>Jeux Coopératifs/compétitifs</a:t>
            </a:r>
          </a:p>
          <a:p>
            <a:pPr lvl="2"/>
            <a:r>
              <a:rPr lang="fr-FR" dirty="0"/>
              <a:t>Possibilité de dialogue </a:t>
            </a:r>
            <a:r>
              <a:rPr lang="fr-FR" dirty="0">
                <a:sym typeface="Wingdings" panose="05000000000000000000" pitchFamily="2" charset="2"/>
              </a:rPr>
              <a:t>maximisation commune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Division en partie coopérative et partie compétitive: valeur </a:t>
            </a:r>
            <a:r>
              <a:rPr lang="fr-FR" dirty="0" err="1">
                <a:sym typeface="Wingdings" panose="05000000000000000000" pitchFamily="2" charset="2"/>
              </a:rPr>
              <a:t>co-co</a:t>
            </a:r>
            <a:endParaRPr lang="en-US" dirty="0"/>
          </a:p>
          <a:p>
            <a:r>
              <a:rPr lang="fr-FR" dirty="0"/>
              <a:t>Equilibres en boucle ouverte</a:t>
            </a:r>
          </a:p>
          <a:p>
            <a:pPr lvl="1"/>
            <a:r>
              <a:rPr lang="fr-FR" dirty="0"/>
              <a:t>Equilibre de Nash</a:t>
            </a:r>
          </a:p>
          <a:p>
            <a:pPr lvl="2"/>
            <a:r>
              <a:rPr lang="fr-FR" dirty="0"/>
              <a:t>u* est un équilibre </a:t>
            </a:r>
            <a:r>
              <a:rPr lang="fr-FR" dirty="0" err="1"/>
              <a:t>ssi</a:t>
            </a:r>
            <a:endParaRPr lang="fr-FR" dirty="0"/>
          </a:p>
          <a:p>
            <a:pPr lvl="2"/>
            <a:r>
              <a:rPr lang="fr-FR" dirty="0"/>
              <a:t>J1, J2 </a:t>
            </a:r>
            <a:r>
              <a:rPr lang="fr-FR" dirty="0">
                <a:sym typeface="Wingdings" panose="05000000000000000000" pitchFamily="2" charset="2"/>
              </a:rPr>
              <a:t> 2 optimisations conditions d’existence et de calcul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+ Equilibre de Stackelberg: conditions d’existence et de calcul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Ex: croissance économique                                         avec u</a:t>
            </a:r>
            <a:r>
              <a:rPr lang="fr-FR" baseline="-25000" dirty="0">
                <a:sym typeface="Wingdings" panose="05000000000000000000" pitchFamily="2" charset="2"/>
              </a:rPr>
              <a:t>1</a:t>
            </a:r>
            <a:r>
              <a:rPr lang="fr-FR" dirty="0">
                <a:sym typeface="Wingdings" panose="05000000000000000000" pitchFamily="2" charset="2"/>
              </a:rPr>
              <a:t> taxe sur le capital et u</a:t>
            </a:r>
            <a:r>
              <a:rPr lang="fr-FR" baseline="-25000" dirty="0">
                <a:sym typeface="Wingdings" panose="05000000000000000000" pitchFamily="2" charset="2"/>
              </a:rPr>
              <a:t>2</a:t>
            </a:r>
            <a:r>
              <a:rPr lang="fr-FR" dirty="0">
                <a:sym typeface="Wingdings" panose="05000000000000000000" pitchFamily="2" charset="2"/>
              </a:rPr>
              <a:t> consommation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Equilibre de S avec gouvernement leader.</a:t>
            </a:r>
            <a:endParaRPr lang="fr-FR" dirty="0"/>
          </a:p>
          <a:p>
            <a:r>
              <a:rPr lang="fr-FR" dirty="0"/>
              <a:t>Equilibres Markovien</a:t>
            </a:r>
          </a:p>
          <a:p>
            <a:pPr lvl="1"/>
            <a:r>
              <a:rPr lang="fr-FR" dirty="0"/>
              <a:t>Equilibre de Nash</a:t>
            </a:r>
          </a:p>
          <a:p>
            <a:pPr lvl="2"/>
            <a:r>
              <a:rPr lang="el-GR" dirty="0"/>
              <a:t>σ</a:t>
            </a:r>
            <a:r>
              <a:rPr lang="fr-FR" dirty="0"/>
              <a:t>* est un équilibre </a:t>
            </a:r>
            <a:r>
              <a:rPr lang="fr-FR" dirty="0" err="1"/>
              <a:t>ssi</a:t>
            </a:r>
            <a:endParaRPr lang="fr-FR" dirty="0"/>
          </a:p>
          <a:p>
            <a:pPr lvl="2"/>
            <a:r>
              <a:rPr lang="fr-FR" dirty="0"/>
              <a:t>Résolution d’équations différentielles partielles</a:t>
            </a:r>
          </a:p>
          <a:p>
            <a:pPr lvl="3"/>
            <a:r>
              <a:rPr lang="fr-FR" dirty="0"/>
              <a:t>Cas général </a:t>
            </a:r>
            <a:r>
              <a:rPr lang="fr-FR" dirty="0">
                <a:sym typeface="Wingdings" panose="05000000000000000000" pitchFamily="2" charset="2"/>
              </a:rPr>
              <a:t> Solutions non hyperboliques</a:t>
            </a:r>
          </a:p>
          <a:p>
            <a:pPr lvl="3"/>
            <a:r>
              <a:rPr lang="fr-FR" dirty="0"/>
              <a:t>Jeux à somme nul ou dimension 1 </a:t>
            </a:r>
            <a:r>
              <a:rPr lang="fr-FR" dirty="0">
                <a:sym typeface="Wingdings" panose="05000000000000000000" pitchFamily="2" charset="2"/>
              </a:rPr>
              <a:t> système hyperbolique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Jeux linéaires quadratiques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Dynamique linéaire, récompense quadratique  solution</a:t>
            </a:r>
            <a:endParaRPr lang="fr-FR" dirty="0"/>
          </a:p>
          <a:p>
            <a:pPr lvl="2"/>
            <a:endParaRPr lang="en-US" dirty="0"/>
          </a:p>
          <a:p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A16F37-F218-4CD1-B2C3-82A4CDC55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611FC0-6FA4-4BFA-8E54-1EF8CAE6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22D1B48-72B3-44B4-BF3D-4E3748C7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3886200"/>
            <a:ext cx="4400550" cy="304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39F659B-CA76-4128-9E35-871F4926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136469"/>
            <a:ext cx="4552950" cy="3048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9DBE77A-771B-4044-BCD8-B2E3C2EA5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1485900"/>
            <a:ext cx="1638300" cy="12954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DA3DC8E-A240-497C-926B-BBBF2BC24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239" y="4547918"/>
            <a:ext cx="1296761" cy="17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4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036D66-2142-4F48-8163-7D7C0869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calculatoires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C4B2FB-7543-4192-BA5B-B0C58836956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83277"/>
          </a:xfrm>
        </p:spPr>
        <p:txBody>
          <a:bodyPr>
            <a:normAutofit lnSpcReduction="10000"/>
          </a:bodyPr>
          <a:lstStyle/>
          <a:p>
            <a:r>
              <a:rPr lang="fr-FR" dirty="0"/>
              <a:t>Méthodes directes</a:t>
            </a:r>
          </a:p>
          <a:p>
            <a:pPr lvl="1"/>
            <a:r>
              <a:rPr lang="fr-FR" dirty="0"/>
              <a:t>Formulation du programme mathématique et résolution</a:t>
            </a:r>
          </a:p>
          <a:p>
            <a:r>
              <a:rPr lang="fr-FR" dirty="0"/>
              <a:t>Méthodes indirectes</a:t>
            </a:r>
          </a:p>
          <a:p>
            <a:pPr lvl="1"/>
            <a:r>
              <a:rPr lang="fr-FR" dirty="0"/>
              <a:t>Utilisation d’équations différentielles partielles</a:t>
            </a:r>
          </a:p>
          <a:p>
            <a:r>
              <a:rPr lang="fr-FR" dirty="0"/>
              <a:t>Méthode d’échantillonnage incrémental</a:t>
            </a:r>
          </a:p>
          <a:p>
            <a:pPr lvl="1"/>
            <a:r>
              <a:rPr lang="fr-FR" dirty="0"/>
              <a:t>Ex: poursuite évasion: </a:t>
            </a:r>
          </a:p>
          <a:p>
            <a:pPr lvl="2"/>
            <a:r>
              <a:rPr lang="fr-FR" dirty="0"/>
              <a:t>Temps terminal T, récompense L(</a:t>
            </a:r>
            <a:r>
              <a:rPr lang="fr-FR" dirty="0" err="1"/>
              <a:t>Ue,Up</a:t>
            </a:r>
            <a:r>
              <a:rPr lang="fr-FR" dirty="0"/>
              <a:t>) –T</a:t>
            </a:r>
          </a:p>
          <a:p>
            <a:pPr lvl="1"/>
            <a:r>
              <a:rPr lang="fr-FR" dirty="0">
                <a:hlinkClick r:id="rId2"/>
              </a:rPr>
              <a:t>RRT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exploration d’arbre </a:t>
            </a:r>
          </a:p>
          <a:p>
            <a:pPr lvl="2"/>
            <a:r>
              <a:rPr lang="fr-FR" dirty="0"/>
              <a:t>convergence avec nombre d’échantillons suffisant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similaire au filtrage particulaire</a:t>
            </a:r>
          </a:p>
          <a:p>
            <a:r>
              <a:rPr lang="fr-FR" dirty="0"/>
              <a:t>Pour aller plus loin</a:t>
            </a:r>
          </a:p>
          <a:p>
            <a:pPr lvl="1"/>
            <a:r>
              <a:rPr lang="fr-FR" dirty="0">
                <a:hlinkClick r:id="rId3"/>
              </a:rPr>
              <a:t>Détails mathématiques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1C8559-0EA6-4FAC-BA4D-237218C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 405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76BE94-1454-40B2-AD98-3F46B6F6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26BDF-2056-494C-B9F5-D80B600916B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BB5F804-A833-4377-B282-E6BFE39C1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150" y="3654360"/>
            <a:ext cx="2533650" cy="3143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F886770-5F3E-42D9-8F53-E3CF8004F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819" y="4013753"/>
            <a:ext cx="1943100" cy="200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77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Questions?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96943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Plan du cours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0B7BF-8379-44F7-AF5B-6228F8D518DA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Résolution de problèmes</a:t>
            </a:r>
          </a:p>
          <a:p>
            <a:pPr marL="571500" indent="-571500">
              <a:buFont typeface="+mj-lt"/>
              <a:buAutoNum type="romanUcPeriod"/>
            </a:pPr>
            <a:r>
              <a:rPr lang="fr-FR" noProof="0" dirty="0">
                <a:solidFill>
                  <a:schemeClr val="tx1">
                    <a:alpha val="23000"/>
                  </a:schemeClr>
                </a:solidFill>
              </a:rPr>
              <a:t>Bases de connaissances et logique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Incertitude et modèles probabilistes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>
                <a:solidFill>
                  <a:schemeClr val="tx1">
                    <a:alpha val="23000"/>
                  </a:schemeClr>
                </a:solidFill>
              </a:rPr>
              <a:t>Théorie des jeux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Apprentissage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Traitement du langage naturel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Présentation projets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</p:spTree>
    <p:extLst>
      <p:ext uri="{BB962C8B-B14F-4D97-AF65-F5344CB8AC3E}">
        <p14:creationId xmlns:p14="http://schemas.microsoft.com/office/powerpoint/2010/main" val="2103579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>
                <a:solidFill>
                  <a:srgbClr val="7B9899"/>
                </a:solidFill>
              </a:rPr>
              <a:t>Projets de groupe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5B01F-2079-4428-897D-278E5C9D0E54}" type="slidenum">
              <a:rPr lang="fr-FR" smtClean="0"/>
              <a:pPr>
                <a:defRPr/>
              </a:pPr>
              <a:t>28</a:t>
            </a:fld>
            <a:endParaRPr lang="fr-FR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249990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fr-FR" noProof="0" dirty="0"/>
              <a:t>Moteur de recherche augmenté par le raisonnement et le langage naturel</a:t>
            </a:r>
          </a:p>
          <a:p>
            <a:pPr lvl="1"/>
            <a:r>
              <a:rPr lang="fr-FR" noProof="0" dirty="0"/>
              <a:t>Grammaire et sémantique des contenus et des requêtes. </a:t>
            </a:r>
            <a:r>
              <a:rPr lang="fr-FR" noProof="0" dirty="0" err="1"/>
              <a:t>Lucene.Net</a:t>
            </a:r>
            <a:r>
              <a:rPr lang="fr-FR" noProof="0" dirty="0"/>
              <a:t>, </a:t>
            </a:r>
            <a:r>
              <a:rPr lang="fr-FR" noProof="0" dirty="0" err="1"/>
              <a:t>OpenNLP</a:t>
            </a:r>
            <a:r>
              <a:rPr lang="fr-FR" noProof="0" dirty="0"/>
              <a:t>, </a:t>
            </a:r>
            <a:r>
              <a:rPr lang="fr-FR" noProof="0" dirty="0" err="1"/>
              <a:t>SharpRDF</a:t>
            </a:r>
            <a:r>
              <a:rPr lang="fr-FR" noProof="0" dirty="0"/>
              <a:t>, FOL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Conception de bots de services sur réseaux sociaux</a:t>
            </a:r>
          </a:p>
          <a:p>
            <a:pPr lvl="1"/>
            <a:r>
              <a:rPr lang="fr-FR" noProof="0" dirty="0"/>
              <a:t>Chat Bots, AIML, </a:t>
            </a:r>
            <a:r>
              <a:rPr lang="fr-FR" noProof="0" dirty="0" err="1"/>
              <a:t>Reddit</a:t>
            </a:r>
            <a:r>
              <a:rPr lang="fr-FR" noProof="0" dirty="0"/>
              <a:t> et agents de service, NLP, RDF, APIs 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Conception d'un modèle d'inférence pour l’analyse de sentiment</a:t>
            </a:r>
          </a:p>
          <a:p>
            <a:pPr lvl="1"/>
            <a:r>
              <a:rPr lang="fr-FR" noProof="0" dirty="0"/>
              <a:t>Conception d’un modèle probabiliste, </a:t>
            </a:r>
            <a:r>
              <a:rPr lang="fr-FR" noProof="0" dirty="0" err="1"/>
              <a:t>Infer.Net</a:t>
            </a:r>
            <a:r>
              <a:rPr lang="fr-FR" noProof="0" dirty="0"/>
              <a:t>, démarche expérimentale, </a:t>
            </a:r>
            <a:r>
              <a:rPr lang="fr-FR" noProof="0" dirty="0" err="1"/>
              <a:t>Reddit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Création d'une plateforme sémantique LDP à partir d'un index structuré.</a:t>
            </a:r>
          </a:p>
          <a:p>
            <a:pPr lvl="1"/>
            <a:r>
              <a:rPr lang="fr-FR" noProof="0" dirty="0"/>
              <a:t>Structuration et ouverture des données = </a:t>
            </a:r>
            <a:r>
              <a:rPr lang="fr-FR" noProof="0" dirty="0" err="1"/>
              <a:t>Linked</a:t>
            </a:r>
            <a:r>
              <a:rPr lang="fr-FR" noProof="0" dirty="0"/>
              <a:t> Data. </a:t>
            </a:r>
            <a:r>
              <a:rPr lang="fr-FR" noProof="0" dirty="0" err="1"/>
              <a:t>Lucene.Net</a:t>
            </a:r>
            <a:r>
              <a:rPr lang="fr-FR" noProof="0" dirty="0"/>
              <a:t>, </a:t>
            </a:r>
            <a:r>
              <a:rPr lang="fr-FR" noProof="0" dirty="0" err="1"/>
              <a:t>SharpRDF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Résolution de Captchas par </a:t>
            </a:r>
            <a:r>
              <a:rPr lang="fr-FR" noProof="0" dirty="0" err="1"/>
              <a:t>deep</a:t>
            </a:r>
            <a:r>
              <a:rPr lang="fr-FR" noProof="0" dirty="0"/>
              <a:t> </a:t>
            </a:r>
            <a:r>
              <a:rPr lang="fr-FR" noProof="0" dirty="0" err="1"/>
              <a:t>learning</a:t>
            </a:r>
            <a:endParaRPr lang="fr-FR" noProof="0" dirty="0"/>
          </a:p>
          <a:p>
            <a:pPr lvl="1"/>
            <a:r>
              <a:rPr lang="fr-FR" noProof="0" dirty="0"/>
              <a:t>Apprentissage via un Adapteur DNN, Réseaux de dernières génération. </a:t>
            </a:r>
            <a:r>
              <a:rPr lang="fr-FR" noProof="0" dirty="0" err="1"/>
              <a:t>TensorFlow</a:t>
            </a:r>
            <a:r>
              <a:rPr lang="fr-FR" noProof="0" dirty="0"/>
              <a:t>, CNTK, </a:t>
            </a:r>
            <a:r>
              <a:rPr lang="fr-FR" noProof="0" dirty="0" err="1"/>
              <a:t>Encog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Entrainement de stratégies de trading algorithmiques sur crypto monnaies.</a:t>
            </a:r>
          </a:p>
          <a:p>
            <a:pPr lvl="1"/>
            <a:r>
              <a:rPr lang="fr-FR" noProof="0" dirty="0"/>
              <a:t>Expérience DNN Bitcoin, </a:t>
            </a:r>
            <a:r>
              <a:rPr lang="fr-FR" noProof="0" dirty="0" err="1"/>
              <a:t>Encog</a:t>
            </a:r>
            <a:r>
              <a:rPr lang="fr-FR" noProof="0" dirty="0"/>
              <a:t> et machine </a:t>
            </a:r>
            <a:r>
              <a:rPr lang="fr-FR" noProof="0" dirty="0" err="1"/>
              <a:t>learning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Amélioration par l'apprentissage d'un agent joueur de Go simple</a:t>
            </a:r>
          </a:p>
          <a:p>
            <a:pPr lvl="1"/>
            <a:r>
              <a:rPr lang="fr-FR" noProof="0" dirty="0"/>
              <a:t>Le Go et l’IA, Récentes avancées. Go </a:t>
            </a:r>
            <a:r>
              <a:rPr lang="fr-FR" noProof="0" dirty="0" err="1"/>
              <a:t>Traxx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Evolution de vaisseaux spatiaux par algorithmes génétiques dans le jeu de la vie.</a:t>
            </a:r>
          </a:p>
          <a:p>
            <a:pPr lvl="1"/>
            <a:r>
              <a:rPr lang="fr-FR" noProof="0" dirty="0"/>
              <a:t>Approches évolutionnistes, automates cellulaires, Bac a sable. </a:t>
            </a:r>
            <a:r>
              <a:rPr lang="fr-FR" noProof="0" dirty="0" err="1"/>
              <a:t>Golly</a:t>
            </a:r>
            <a:r>
              <a:rPr lang="fr-FR" noProof="0" dirty="0"/>
              <a:t>, </a:t>
            </a:r>
            <a:r>
              <a:rPr lang="fr-FR" noProof="0" dirty="0" err="1"/>
              <a:t>Encog</a:t>
            </a:r>
            <a:br>
              <a:rPr lang="fr-FR" noProof="0" dirty="0"/>
            </a:br>
            <a:endParaRPr lang="fr-FR" noProof="0" dirty="0"/>
          </a:p>
          <a:p>
            <a:pPr lvl="0"/>
            <a:r>
              <a:rPr lang="fr-FR" noProof="0" dirty="0"/>
              <a:t>Pilotage d'un cluster de cache distribué pour le portage d’applications  dans le Cloud</a:t>
            </a:r>
          </a:p>
          <a:p>
            <a:pPr lvl="1"/>
            <a:r>
              <a:rPr lang="fr-FR" noProof="0" dirty="0"/>
              <a:t>Caches distribués, </a:t>
            </a:r>
            <a:r>
              <a:rPr lang="fr-FR" noProof="0" dirty="0" err="1"/>
              <a:t>scaling</a:t>
            </a:r>
            <a:r>
              <a:rPr lang="fr-FR" noProof="0" dirty="0"/>
              <a:t>, stratégies et clustering. Redis</a:t>
            </a:r>
          </a:p>
        </p:txBody>
      </p:sp>
    </p:spTree>
    <p:extLst>
      <p:ext uri="{BB962C8B-B14F-4D97-AF65-F5344CB8AC3E}">
        <p14:creationId xmlns:p14="http://schemas.microsoft.com/office/powerpoint/2010/main" val="1019768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C3615-D0C3-46A0-81CF-C682F549116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21508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Merci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410325"/>
            <a:ext cx="3581400" cy="36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FF"/>
                </a:solidFill>
              </a:rPr>
              <a:t>IA 101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noProof="0" dirty="0"/>
              <a:t>Jean-Sylvain Boige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fr-FR" noProof="0" dirty="0">
                <a:hlinkClick r:id="rId3"/>
              </a:rPr>
              <a:t>jsboige@myia.org</a:t>
            </a:r>
            <a:r>
              <a:rPr lang="fr-FR" noProof="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05184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96625</TotalTime>
  <Words>4038</Words>
  <Application>Microsoft Office PowerPoint</Application>
  <PresentationFormat>Affichage à l'écran (4:3)</PresentationFormat>
  <Paragraphs>602</Paragraphs>
  <Slides>29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 Math</vt:lpstr>
      <vt:lpstr>Georgia</vt:lpstr>
      <vt:lpstr>Wingdings</vt:lpstr>
      <vt:lpstr>Wingdings 2</vt:lpstr>
      <vt:lpstr>Civic</vt:lpstr>
      <vt:lpstr>Théorie des jeux </vt:lpstr>
      <vt:lpstr>Plan du cours</vt:lpstr>
      <vt:lpstr>Théorie des jeux</vt:lpstr>
      <vt:lpstr>Analyse stratégique</vt:lpstr>
      <vt:lpstr>Stratégies mixtes</vt:lpstr>
      <vt:lpstr>Equilibres de stratégie mixte</vt:lpstr>
      <vt:lpstr>Jeux séquentiels</vt:lpstr>
      <vt:lpstr>Jeux à étapes</vt:lpstr>
      <vt:lpstr>Formes stratégiques avancées</vt:lpstr>
      <vt:lpstr>Espaces de stratégies infinis</vt:lpstr>
      <vt:lpstr>Jeux Bayésiens</vt:lpstr>
      <vt:lpstr>Equilibres Bayésiens parfaits (PBE)</vt:lpstr>
      <vt:lpstr>Questions?</vt:lpstr>
      <vt:lpstr>Jeux coopératifs</vt:lpstr>
      <vt:lpstr>Conception de mécanismes</vt:lpstr>
      <vt:lpstr>Allocation de ressources par les enchères</vt:lpstr>
      <vt:lpstr>Allocation par les votes</vt:lpstr>
      <vt:lpstr>Critère de Condorcet</vt:lpstr>
      <vt:lpstr>Procédures de votes connues</vt:lpstr>
      <vt:lpstr>Allocation par la négociation</vt:lpstr>
      <vt:lpstr>Théorie de la négociation</vt:lpstr>
      <vt:lpstr>Questions?</vt:lpstr>
      <vt:lpstr>Jeux différentiels</vt:lpstr>
      <vt:lpstr>Equilibres différentiels</vt:lpstr>
      <vt:lpstr>Méthodes calculatoires</vt:lpstr>
      <vt:lpstr>Questions?</vt:lpstr>
      <vt:lpstr>Plan du cours</vt:lpstr>
      <vt:lpstr>Projets de groupe</vt:lpstr>
      <vt:lpstr>Merci</vt:lpstr>
    </vt:vector>
  </TitlesOfParts>
  <Company>Aricie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Artificielle - 4 - Incertitude et modèles probabilistes</dc:title>
  <dc:creator>jsboige@aricie.fr</dc:creator>
  <cp:lastModifiedBy>Jean-Sylvain BOIGE</cp:lastModifiedBy>
  <cp:revision>1154</cp:revision>
  <cp:lastPrinted>2017-11-23T14:32:16Z</cp:lastPrinted>
  <dcterms:created xsi:type="dcterms:W3CDTF">2003-12-17T02:04:52Z</dcterms:created>
  <dcterms:modified xsi:type="dcterms:W3CDTF">2022-12-14T09:27:55Z</dcterms:modified>
</cp:coreProperties>
</file>